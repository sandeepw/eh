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Default Extension="svg" ContentType="image/svg+xml"/>
  <Override PartName="/ppt/slides/slide108.xml" ContentType="application/vnd.openxmlformats-officedocument.presentationml.slide+xml"/>
  <Override PartName="/ppt/slideLayouts/slideLayout10.xml" ContentType="application/vnd.openxmlformats-officedocument.presentationml.slideLayout+xml"/>
  <Override PartName="/ppt/slides/slide98.xml" ContentType="application/vnd.openxmlformats-officedocument.presentationml.slide+xml"/>
  <Override PartName="/ppt/presentation.xml" ContentType="application/vnd.openxmlformats-officedocument.presentationml.presentation.main+xml"/>
  <Override PartName="/ppt/notesSlides/notesSlide63.xml" ContentType="application/vnd.openxmlformats-officedocument.presentationml.notesSlide+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slides/slide15.xml" ContentType="application/vnd.openxmlformats-officedocument.presentationml.slide+xml"/>
  <Override PartName="/ppt/notesSlides/notesSlide48.xml" ContentType="application/vnd.openxmlformats-officedocument.presentationml.notesSlide+xml"/>
  <Override PartName="/docProps/app.xml" ContentType="application/vnd.openxmlformats-officedocument.extended-properties+xml"/>
  <Override PartName="/ppt/viewProps.xml" ContentType="application/vnd.openxmlformats-officedocument.presentationml.viewProps+xml"/>
  <Override PartName="/ppt/slides/slide35.xml" ContentType="application/vnd.openxmlformats-officedocument.presentationml.slide+xml"/>
  <Override PartName="/ppt/notesSlides/notesSlide68.xml" ContentType="application/vnd.openxmlformats-officedocument.presentationml.notesSlide+xml"/>
  <Override PartName="/docProps/custom.xml" ContentType="application/vnd.openxmlformats-officedocument.custom-properties+xml"/>
  <Override PartName="/ppt/notesSlides/notesSlide60.xml" ContentType="application/vnd.openxmlformats-officedocument.presentationml.notesSlide+xml"/>
  <Override PartName="/ppt/slideLayouts/slideLayout6.xml" ContentType="application/vnd.openxmlformats-officedocument.presentationml.slideLayout+xml"/>
  <Override PartName="/docProps/core.xml" ContentType="application/vnd.openxmlformats-package.core-properties+xml"/>
  <Override PartName="/ppt/notesSlides/notesSlide82.xml" ContentType="application/vnd.openxmlformats-officedocument.presentationml.notesSlide+xml"/>
  <Override PartName="/ppt/theme/theme1.xml" ContentType="application/vnd.openxmlformats-officedocument.theme+xml"/>
  <Override PartName="/ppt/notesSlides/notesSlide81.xml" ContentType="application/vnd.openxmlformats-officedocument.presentationml.notesSlide+xml"/>
  <Override PartName="/ppt/theme/theme2.xml" ContentType="application/vnd.openxmlformats-officedocument.theme+xml"/>
  <Override PartName="/ppt/slides/slide100.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67.xml" ContentType="application/vnd.openxmlformats-officedocument.presentationml.notes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39.xml" ContentType="application/vnd.openxmlformats-officedocument.presentationml.slide+xml"/>
  <Override PartName="/ppt/notesSlides/notesSlide64.xml" ContentType="application/vnd.openxmlformats-officedocument.presentationml.notesSlide+xml"/>
  <Override PartName="/ppt/slideLayouts/slideLayout2.xml" ContentType="application/vnd.openxmlformats-officedocument.presentationml.slideLayout+xml"/>
  <Override PartName="/ppt/slides/slide38.xml" ContentType="application/vnd.openxmlformats-officedocument.presentationml.slide+xml"/>
  <Override PartName="/ppt/notesSlides/notesSlide65.xml" ContentType="application/vnd.openxmlformats-officedocument.presentationml.notesSlide+xml"/>
  <Override PartName="/ppt/slideLayouts/slideLayout3.xml" ContentType="application/vnd.openxmlformats-officedocument.presentationml.slideLayout+xml"/>
  <Override PartName="/ppt/notesSlides/notesSlide62.xml" ContentType="application/vnd.openxmlformats-officedocument.presentationml.notesSlide+xml"/>
  <Override PartName="/ppt/slideLayouts/slideLayout4.xml" ContentType="application/vnd.openxmlformats-officedocument.presentationml.slideLayout+xml"/>
  <Override PartName="/ppt/notesSlides/notesSlide61.xml" ContentType="application/vnd.openxmlformats-officedocument.presentationml.notesSlide+xml"/>
  <Override PartName="/ppt/slideLayouts/slideLayout7.xml" ContentType="application/vnd.openxmlformats-officedocument.presentationml.slideLayout+xml"/>
  <Override PartName="/ppt/slides/slide33.xml" ContentType="application/vnd.openxmlformats-officedocument.presentationml.slide+xml"/>
  <Override PartName="/ppt/slideLayouts/slideLayout8.xml" ContentType="application/vnd.openxmlformats-officedocument.presentationml.slideLayout+xml"/>
  <Override PartName="/ppt/slides/slide32.xml" ContentType="application/vnd.openxmlformats-officedocument.presentationml.slide+xml"/>
  <Override PartName="/ppt/slideLayouts/slideLayout9.xml" ContentType="application/vnd.openxmlformats-officedocument.presentationml.slideLayout+xml"/>
  <Override PartName="/ppt/slides/slide109.xml" ContentType="application/vnd.openxmlformats-officedocument.presentationml.slid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29.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103.xml" ContentType="application/vnd.openxmlformats-officedocument.presentationml.slide+xml"/>
  <Override PartName="/ppt/slides/slide20.xml" ContentType="application/vnd.openxmlformats-officedocument.presentationml.slide+xml"/>
  <Override PartName="/ppt/slides/slide102.xml" ContentType="application/vnd.openxmlformats-officedocument.presentationml.slide+xml"/>
  <Override PartName="/ppt/slides/slide21.xml" ContentType="application/vnd.openxmlformats-officedocument.presentationml.slide+xml"/>
  <Override PartName="/ppt/slides/slide101.xml" ContentType="application/vnd.openxmlformats-officedocument.presentationml.slide+xml"/>
  <Override PartName="/ppt/slides/slide22.xml" ContentType="application/vnd.openxmlformats-officedocument.presentationml.slide+xml"/>
  <Override PartName="/ppt/slides/slide107.xml" ContentType="application/vnd.openxmlformats-officedocument.presentationml.slide+xml"/>
  <Override PartName="/ppt/slides/slide24.xml" ContentType="application/vnd.openxmlformats-officedocument.presentationml.slide+xml"/>
  <Override PartName="/ppt/slides/slide106.xml" ContentType="application/vnd.openxmlformats-officedocument.presentationml.slide+xml"/>
  <Override PartName="/ppt/slides/slide25.xml" ContentType="application/vnd.openxmlformats-officedocument.presentationml.slide+xml"/>
  <Override PartName="/ppt/slides/slide105.xml" ContentType="application/vnd.openxmlformats-officedocument.presentationml.slide+xml"/>
  <Override PartName="/ppt/slides/slide26.xml" ContentType="application/vnd.openxmlformats-officedocument.presentationml.slide+xml"/>
  <Override PartName="/ppt/slides/slide104.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Slides/notesSlide19.xml" ContentType="application/vnd.openxmlformats-officedocument.presentationml.notesSlide+xml"/>
  <Override PartName="/ppt/slides/slide44.xml" ContentType="application/vnd.openxmlformats-officedocument.presentationml.slide+xml"/>
  <Override PartName="/ppt/notesSlides/notesSlide18.xml" ContentType="application/vnd.openxmlformats-officedocument.presentationml.notes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Slides/notesSlide15.xml" ContentType="application/vnd.openxmlformats-officedocument.presentationml.notesSlide+xml"/>
  <Override PartName="/ppt/slides/slide48.xml" ContentType="application/vnd.openxmlformats-officedocument.presentationml.slide+xml"/>
  <Override PartName="/ppt/notesSlides/notesSlide14.xml" ContentType="application/vnd.openxmlformats-officedocument.presentationml.notes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Slides/notesSlide39.xml" ContentType="application/vnd.openxmlformats-officedocument.presentationml.notesSlide+xml"/>
  <Override PartName="/ppt/slides/slide64.xml" ContentType="application/vnd.openxmlformats-officedocument.presentationml.slide+xml"/>
  <Override PartName="/ppt/notesSlides/notesSlide38.xml" ContentType="application/vnd.openxmlformats-officedocument.presentationml.notes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Slides/notesSlide35.xml" ContentType="application/vnd.openxmlformats-officedocument.presentationml.notesSlide+xml"/>
  <Override PartName="/ppt/slides/slide68.xml" ContentType="application/vnd.openxmlformats-officedocument.presentationml.slide+xml"/>
  <Override PartName="/ppt/notesSlides/notesSlide34.xml" ContentType="application/vnd.openxmlformats-officedocument.presentationml.notes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Slides/notesSlide55.xml" ContentType="application/vnd.openxmlformats-officedocument.presentationml.notesSlide+xml"/>
  <Override PartName="/ppt/slides/slide80.xml" ContentType="application/vnd.openxmlformats-officedocument.presentationml.slide+xml"/>
  <Override PartName="/ppt/notesSlides/notesSlide54.xml" ContentType="application/vnd.openxmlformats-officedocument.presentationml.notesSlide+xml"/>
  <Override PartName="/ppt/slides/slide81.xml" ContentType="application/vnd.openxmlformats-officedocument.presentationml.slide+xml"/>
  <Override PartName="/ppt/notesSlides/notesSlide57.xml" ContentType="application/vnd.openxmlformats-officedocument.presentationml.notesSlide+xml"/>
  <Override PartName="/ppt/slides/slide82.xml" ContentType="application/vnd.openxmlformats-officedocument.presentationml.slide+xml"/>
  <Override PartName="/ppt/notesSlides/notesSlide56.xml" ContentType="application/vnd.openxmlformats-officedocument.presentationml.notesSlide+xml"/>
  <Override PartName="/ppt/slides/slide83.xml" ContentType="application/vnd.openxmlformats-officedocument.presentationml.slide+xml"/>
  <Override PartName="/ppt/notesSlides/notesSlide51.xml" ContentType="application/vnd.openxmlformats-officedocument.presentationml.notesSlide+xml"/>
  <Override PartName="/ppt/slides/slide84.xml" ContentType="application/vnd.openxmlformats-officedocument.presentationml.slide+xml"/>
  <Override PartName="/ppt/notesSlides/notesSlide50.xml" ContentType="application/vnd.openxmlformats-officedocument.presentationml.notesSlide+xml"/>
  <Override PartName="/ppt/slides/slide85.xml" ContentType="application/vnd.openxmlformats-officedocument.presentationml.slide+xml"/>
  <Override PartName="/ppt/notesSlides/notesSlide53.xml" ContentType="application/vnd.openxmlformats-officedocument.presentationml.notesSlide+xml"/>
  <Override PartName="/ppt/slides/slide86.xml" ContentType="application/vnd.openxmlformats-officedocument.presentationml.slide+xml"/>
  <Override PartName="/ppt/notesSlides/notesSlide52.xml" ContentType="application/vnd.openxmlformats-officedocument.presentationml.notes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Slides/notesSlide3.xml" ContentType="application/vnd.openxmlformats-officedocument.presentationml.notesSlide+xml"/>
  <Override PartName="/ppt/slides/slide120.xml" ContentType="application/vnd.openxmlformats-officedocument.presentationml.slide+xml"/>
  <Override PartName="/ppt/notesSlides/notesSlide2.xml" ContentType="application/vnd.openxmlformats-officedocument.presentationml.notesSlide+xml"/>
  <Override PartName="/ppt/slides/slide121.xml" ContentType="application/vnd.openxmlformats-officedocument.presentationml.slide+xml"/>
  <Override PartName="/ppt/notesSlides/notesSlide1.xml" ContentType="application/vnd.openxmlformats-officedocument.presentationml.notesSlide+xml"/>
  <Override PartName="/ppt/slides/slide122.xml" ContentType="application/vnd.openxmlformats-officedocument.presentationml.slide+xml"/>
  <Override PartName="/ppt/slides/slide123.xml" ContentType="application/vnd.openxmlformats-officedocument.presentationml.slide+xml"/>
  <Override PartName="/ppt/notesSlides/notesSlide7.xml" ContentType="application/vnd.openxmlformats-officedocument.presentationml.notesSlide+xml"/>
  <Override PartName="/ppt/slides/slide124.xml" ContentType="application/vnd.openxmlformats-officedocument.presentationml.slide+xml"/>
  <Override PartName="/ppt/notesSlides/notesSlide6.xml" ContentType="application/vnd.openxmlformats-officedocument.presentationml.notesSlide+xml"/>
  <Override PartName="/ppt/slides/slide125.xml" ContentType="application/vnd.openxmlformats-officedocument.presentationml.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03.xml" ContentType="application/vnd.openxmlformats-officedocument.presentationml.notesSlide+xml"/>
  <Override PartName="/ppt/notesSlides/notesSlide20.xml" ContentType="application/vnd.openxmlformats-officedocument.presentationml.notesSlide+xml"/>
  <Override PartName="/ppt/notesSlides/notesSlide102.xml" ContentType="application/vnd.openxmlformats-officedocument.presentationml.notesSlide+xml"/>
  <Override PartName="/ppt/notesSlides/notesSlide21.xml" ContentType="application/vnd.openxmlformats-officedocument.presentationml.notesSlide+xml"/>
  <Override PartName="/ppt/notesSlides/notesSlide101.xml" ContentType="application/vnd.openxmlformats-officedocument.presentationml.notesSlide+xml"/>
  <Override PartName="/ppt/notesSlides/notesSlide22.xml" ContentType="application/vnd.openxmlformats-officedocument.presentationml.notesSlide+xml"/>
  <Override PartName="/ppt/notesSlides/notesSlide100.xml" ContentType="application/vnd.openxmlformats-officedocument.presentationml.notesSlide+xml"/>
  <Override PartName="/ppt/notesSlides/notesSlide23.xml" ContentType="application/vnd.openxmlformats-officedocument.presentationml.notesSlide+xml"/>
  <Override PartName="/ppt/notesSlides/notesSlide107.xml" ContentType="application/vnd.openxmlformats-officedocument.presentationml.notesSlide+xml"/>
  <Override PartName="/ppt/notesSlides/notesSlide24.xml" ContentType="application/vnd.openxmlformats-officedocument.presentationml.notesSlide+xml"/>
  <Override PartName="/ppt/notesSlides/notesSlide106.xml" ContentType="application/vnd.openxmlformats-officedocument.presentationml.notesSlide+xml"/>
  <Override PartName="/ppt/notesSlides/notesSlide25.xml" ContentType="application/vnd.openxmlformats-officedocument.presentationml.notesSlide+xml"/>
  <Override PartName="/ppt/notesSlides/notesSlide105.xml" ContentType="application/vnd.openxmlformats-officedocument.presentationml.notesSlide+xml"/>
  <Override PartName="/ppt/notesSlides/notesSlide26.xml" ContentType="application/vnd.openxmlformats-officedocument.presentationml.notesSlide+xml"/>
  <Override PartName="/ppt/notesSlides/notesSlide10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6.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2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Lst>
  <p:sldSz cx="9144000" cy="6858000" type="screen4x3"/>
  <p:notesSz cx="6858000" cy="9144000"/>
  <p:defaultTextStyle>
    <a:defPPr>
      <a:defRPr lang="zh-CN"/>
    </a:defPPr>
    <a:lvl1pPr marL="0" lvl="0" indent="0" algn="l" defTabSz="914400">
      <a:lnSpc>
        <a:spcPct val="100000"/>
      </a:lnSpc>
      <a:spcBef>
        <a:spcPts val="0"/>
      </a:spcBef>
      <a:spcAft>
        <a:spcPts val="0"/>
      </a:spcAft>
      <a:buNone/>
      <a:defRPr b="0" i="0" u="none">
        <a:solidFill>
          <a:schemeClr val="tx1"/>
        </a:solidFill>
        <a:latin typeface="Arial"/>
        <a:ea typeface="SimSun"/>
        <a:cs typeface="+mn-cs"/>
      </a:defRPr>
    </a:lvl1pPr>
    <a:lvl2pPr marL="457200" lvl="1" indent="0" algn="l" defTabSz="914400">
      <a:lnSpc>
        <a:spcPct val="100000"/>
      </a:lnSpc>
      <a:spcBef>
        <a:spcPts val="0"/>
      </a:spcBef>
      <a:spcAft>
        <a:spcPts val="0"/>
      </a:spcAft>
      <a:buNone/>
      <a:defRPr b="0" i="0" u="none">
        <a:solidFill>
          <a:schemeClr val="tx1"/>
        </a:solidFill>
        <a:latin typeface="Arial"/>
        <a:ea typeface="SimSun"/>
        <a:cs typeface="+mn-cs"/>
      </a:defRPr>
    </a:lvl2pPr>
    <a:lvl3pPr marL="914400" lvl="2" indent="0" algn="l" defTabSz="914400">
      <a:lnSpc>
        <a:spcPct val="100000"/>
      </a:lnSpc>
      <a:spcBef>
        <a:spcPts val="0"/>
      </a:spcBef>
      <a:spcAft>
        <a:spcPts val="0"/>
      </a:spcAft>
      <a:buNone/>
      <a:defRPr b="0" i="0" u="none">
        <a:solidFill>
          <a:schemeClr val="tx1"/>
        </a:solidFill>
        <a:latin typeface="Arial"/>
        <a:ea typeface="SimSun"/>
        <a:cs typeface="+mn-cs"/>
      </a:defRPr>
    </a:lvl3pPr>
    <a:lvl4pPr marL="1371600" lvl="3" indent="0" algn="l" defTabSz="914400">
      <a:lnSpc>
        <a:spcPct val="100000"/>
      </a:lnSpc>
      <a:spcBef>
        <a:spcPts val="0"/>
      </a:spcBef>
      <a:spcAft>
        <a:spcPts val="0"/>
      </a:spcAft>
      <a:buNone/>
      <a:defRPr b="0" i="0" u="none">
        <a:solidFill>
          <a:schemeClr val="tx1"/>
        </a:solidFill>
        <a:latin typeface="Arial"/>
        <a:ea typeface="SimSun"/>
        <a:cs typeface="+mn-cs"/>
      </a:defRPr>
    </a:lvl4pPr>
    <a:lvl5pPr marL="1828800" lvl="4" indent="0" algn="l" defTabSz="914400">
      <a:lnSpc>
        <a:spcPct val="100000"/>
      </a:lnSpc>
      <a:spcBef>
        <a:spcPts val="0"/>
      </a:spcBef>
      <a:spcAft>
        <a:spcPts val="0"/>
      </a:spcAft>
      <a:buNone/>
      <a:defRPr b="0" i="0" u="none">
        <a:solidFill>
          <a:schemeClr val="tx1"/>
        </a:solidFill>
        <a:latin typeface="Arial"/>
        <a:ea typeface="SimSun"/>
        <a:cs typeface="+mn-cs"/>
      </a:defRPr>
    </a:lvl5pPr>
    <a:lvl6pPr marL="2286000" lvl="5" indent="0" algn="l" defTabSz="914400">
      <a:lnSpc>
        <a:spcPct val="100000"/>
      </a:lnSpc>
      <a:spcBef>
        <a:spcPts val="0"/>
      </a:spcBef>
      <a:spcAft>
        <a:spcPts val="0"/>
      </a:spcAft>
      <a:buNone/>
      <a:defRPr b="0" i="0" u="none">
        <a:solidFill>
          <a:schemeClr val="tx1"/>
        </a:solidFill>
        <a:latin typeface="Arial"/>
        <a:ea typeface="SimSun"/>
        <a:cs typeface="+mn-cs"/>
      </a:defRPr>
    </a:lvl6pPr>
    <a:lvl7pPr marL="2743200" lvl="6" indent="0" algn="l" defTabSz="914400">
      <a:lnSpc>
        <a:spcPct val="100000"/>
      </a:lnSpc>
      <a:spcBef>
        <a:spcPts val="0"/>
      </a:spcBef>
      <a:spcAft>
        <a:spcPts val="0"/>
      </a:spcAft>
      <a:buNone/>
      <a:defRPr b="0" i="0" u="none">
        <a:solidFill>
          <a:schemeClr val="tx1"/>
        </a:solidFill>
        <a:latin typeface="Arial"/>
        <a:ea typeface="SimSun"/>
        <a:cs typeface="+mn-cs"/>
      </a:defRPr>
    </a:lvl7pPr>
    <a:lvl8pPr marL="3200400" lvl="7" indent="0" algn="l" defTabSz="914400">
      <a:lnSpc>
        <a:spcPct val="100000"/>
      </a:lnSpc>
      <a:spcBef>
        <a:spcPts val="0"/>
      </a:spcBef>
      <a:spcAft>
        <a:spcPts val="0"/>
      </a:spcAft>
      <a:buNone/>
      <a:defRPr b="0" i="0" u="none">
        <a:solidFill>
          <a:schemeClr val="tx1"/>
        </a:solidFill>
        <a:latin typeface="Arial"/>
        <a:ea typeface="SimSun"/>
        <a:cs typeface="+mn-cs"/>
      </a:defRPr>
    </a:lvl8pPr>
    <a:lvl9pPr marL="3657600" lvl="8" indent="0" algn="l" defTabSz="914400">
      <a:lnSpc>
        <a:spcPct val="100000"/>
      </a:lnSpc>
      <a:spcBef>
        <a:spcPts val="0"/>
      </a:spcBef>
      <a:spcAft>
        <a:spcPts val="0"/>
      </a:spcAft>
      <a:buNone/>
      <a:defRPr b="0" i="0" u="none">
        <a:solidFill>
          <a:schemeClr val="tx1"/>
        </a:solidFill>
        <a:latin typeface="Arial"/>
        <a:ea typeface="SimSun"/>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howGuides="1">
      <p:cViewPr varScale="1">
        <p:scale>
          <a:sx n="69" d="100"/>
          <a:sy n="69" d="100"/>
        </p:scale>
        <p:origin x="-138" y="-102"/>
      </p:cViewPr>
      <p:guideLst>
        <p:guide pos="2229" orient="horz"/>
        <p:guide pos="288"/>
        <p:guide pos="5374"/>
        <p:guide pos="746" orient="horz"/>
        <p:guide pos="2851"/>
      </p:guideLst>
    </p:cSldViewPr>
  </p:slideViewPr>
  <p:gridSpacing cx="71999" cy="71999"/>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slide" Target="slides/slide110.xml"/><Relationship Id="rId114" Type="http://schemas.openxmlformats.org/officeDocument/2006/relationships/slide" Target="slides/slide111.xml"/><Relationship Id="rId115" Type="http://schemas.openxmlformats.org/officeDocument/2006/relationships/slide" Target="slides/slide112.xml"/><Relationship Id="rId116" Type="http://schemas.openxmlformats.org/officeDocument/2006/relationships/slide" Target="slides/slide113.xml"/><Relationship Id="rId117" Type="http://schemas.openxmlformats.org/officeDocument/2006/relationships/slide" Target="slides/slide114.xml"/><Relationship Id="rId118" Type="http://schemas.openxmlformats.org/officeDocument/2006/relationships/slide" Target="slides/slide115.xml"/><Relationship Id="rId119" Type="http://schemas.openxmlformats.org/officeDocument/2006/relationships/slide" Target="slides/slide116.xml"/><Relationship Id="rId120" Type="http://schemas.openxmlformats.org/officeDocument/2006/relationships/slide" Target="slides/slide117.xml"/><Relationship Id="rId121" Type="http://schemas.openxmlformats.org/officeDocument/2006/relationships/slide" Target="slides/slide118.xml"/><Relationship Id="rId122" Type="http://schemas.openxmlformats.org/officeDocument/2006/relationships/slide" Target="slides/slide119.xml"/><Relationship Id="rId123" Type="http://schemas.openxmlformats.org/officeDocument/2006/relationships/slide" Target="slides/slide120.xml"/><Relationship Id="rId124" Type="http://schemas.openxmlformats.org/officeDocument/2006/relationships/slide" Target="slides/slide121.xml"/><Relationship Id="rId125" Type="http://schemas.openxmlformats.org/officeDocument/2006/relationships/slide" Target="slides/slide122.xml"/><Relationship Id="rId126" Type="http://schemas.openxmlformats.org/officeDocument/2006/relationships/slide" Target="slides/slide123.xml"/><Relationship Id="rId127" Type="http://schemas.openxmlformats.org/officeDocument/2006/relationships/slide" Target="slides/slide124.xml"/><Relationship Id="rId128" Type="http://schemas.openxmlformats.org/officeDocument/2006/relationships/slide" Target="slides/slide125.xml"/><Relationship Id="rId129" Type="http://schemas.openxmlformats.org/officeDocument/2006/relationships/notesMaster" Target="notesMasters/notesMaster1.xml"/><Relationship Id="rId130" Type="http://schemas.openxmlformats.org/officeDocument/2006/relationships/presProps" Target="presProps.xml" /><Relationship Id="rId131" Type="http://schemas.openxmlformats.org/officeDocument/2006/relationships/tableStyles" Target="tableStyles.xml" /><Relationship Id="rId13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85150B4-865F-657D-21E1-979C8883CEB5}"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F306CDA-3F0A-A252-BCB5-32DDB0C978E1}"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E40D973-3073-C974-0201-D51F77DE997F}"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F6F7757-D583-A091-F891-B149BEC571B1}"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FC737F-BC7D-5E66-FAC6-D1C877DA768D}"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7FF7575-FCA1-818D-D7EC-786B904B4BD0}"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19D2378-460F-16ED-6050-6EDCB82211CD}"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99013BE-8302-3425-25E2-B11104A7B59A}"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EBEAB27-0FE8-A0A3-5892-C51D6EE94AA8}"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56BC08C-F47A-EC06-696E-0C6A36DA1B37}"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47659CE-5FC7-90F7-ABE7-FC90FDBB4F49}"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96C28F9-F4F4-C2E0-9BFB-2B4395A5F951}"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64E1F79-76B4-B3E2-7853-2DD7987DC208}"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8C97BFB-801D-7895-9219-A29EA66DCD64}"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ADB23E-3478-2395-1D52-4C0A82960FEF}"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3E7EFAC-EE19-C44E-A0DF-B728AABABF23}"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037BAE8-8904-1F2B-6A1A-71E6E1A67568}"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CAF45E2-2B42-2103-E710-85F0E93356CD}"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AEBB591-70D0-1E6D-FACD-569A0DEC9615}"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DB7F711-FA08-263D-BAED-4BAAE22578D8}"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EBC14E5-FF17-CD54-41AA-2FDB1AC89B40}"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ABF2D1C-0DC7-C1B9-754B-746FE20A334C}"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E038257-EF5F-9FEA-8536-0977BA998267}"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D7F69A3-A0D2-5BFB-6FB4-F3375C3558F4}"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A694FAD-A814-64F0-E6DA-2D22D275BA2D}"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30C14C2-014C-5DB4-8174-B7E873967485}"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C412C36-A037-B6FC-FEB4-8E7971134362}"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A4E159-8542-2DA3-E152-2CEFAC2DE04B}"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58AB4CE-8D76-3EC0-0FEF-678D22D1E12D}"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5516D65-6607-6A0C-65CC-0E18887BF7B6}"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B372F69-7B89-757E-845F-935BA2A4D16B}"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2EC2DFC-3BB7-CB7C-1B39-406854EAF2D2}"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A8FFCB-A00C-E75D-53F6-D6946C79D8B2}"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9DDBE91-F647-B39F-79F2-338908139526}"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9E4DB5B-89A2-7FF4-1BD5-8BAD369BE139}"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E0720F0-1DF7-EB3C-DEB1-65FD75FE4C09}"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BCEB943-C816-0967-FBB1-4EF5A659B15D}"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28C6C8-93CB-DC84-AF50-A66F5DDB54AA}"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FD28892-DB5D-C3E7-577E-A662FDCE7A1A}"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BF1118-59F4-A449-5AAF-81C511D9CBF4}"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D49CABC-83EC-A014-846B-7C09E2828343}"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49AF0DA-AB3D-0EC2-54AE-AA5E386018AE}"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5AE8FE-A261-1B86-C808-E278ED9C43E8}"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09EE421-535A-B348-F057-87ABB9CB9F09}"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AA4E85C-985E-A909-7A82-70219191154E}"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2A6EAA7-32D6-8FF3-2A8F-E27856C9E413}"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6F1B3D1-325D-1AF7-00BA-781591EE038A}"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2053119-488C-6675-95BF-1EEEB9A4B936}"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812E30A-E761-E7C6-627C-06552D565672}"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36E37F9-94FD-6999-C129-D56BD3B2168C}"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9AFE786-0504-A215-53A7-54D7D5C29A21}"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5C1755-B958-4AA5-B662-27CC5AAD822F}"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129CDC0-36A2-8B2C-952D-5DC1FEB9835A}"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0A71470-75B9-8714-6FCE-CD24F01FE996}"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3F15224-04E3-9307-74BE-2ACE8E143A1A}"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E2331B-8E87-74D1-ACA2-8C91BF72C3D9}"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211895D-E86A-FAD9-554B-E3738A1E7C7D}"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7E30E3A-1773-4FA1-53CA-E8ECD384486F}"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87DC4C7-4C92-AD07-2B12-8D131908AA4D}"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399D9CD-64B5-D431-C3C4-45F3330E61A0}"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4042462-7162-345E-96C5-FEFD0BB7DDFA}" type="slidenum">
              <a:rPr/>
              <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F731F28-0A04-72F7-7CBB-B2BA667FCD69}"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44A037F-2D81-20C2-4A06-62A773E6128E}"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24A9F6F-5B1D-02D8-3BE1-E89A52C63009}"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5F2AADB-41DF-BE8B-4C3C-72E90FD4C9DB}"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9F2ACA4-27AD-FF8F-BDF9-B8559CDABEF7}"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B60B26F-7E45-DE1B-6373-573ACC9956C2}"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5EDD4E-4A54-54E1-8B8D-0922070C41E2}"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256ED57-89F9-8B40-E742-8AAE095FFCB0}"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E41FB77-ECD9-63D9-04DD-4AC249550B37}" type="slidenum">
              <a:rPr/>
              <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B62C39B-2E03-AD49-5C1B-05EFAB83BE89}" type="slidenum">
              <a:rPr/>
              <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D3CEEA0-4F36-A859-373F-BB6595278C27}" type="slidenum">
              <a:rPr/>
              <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6A25D1B-8B76-BFBB-792C-B3CFB79F8C22}" type="slidenum">
              <a:rPr/>
              <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280158A-DE56-D707-99E0-80D55C5580ED}" type="slidenum">
              <a:rPr/>
              <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8C141B5-271A-7738-3566-DEB10AEB842A}" type="slidenum">
              <a:rPr/>
              <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E7E05B4-42BB-E7CE-2C84-3D2E7E3AEBC5}" type="slidenum">
              <a:rPr/>
              <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6222849-4399-7D5F-A413-527B65843919}" type="slidenum">
              <a:rPr/>
              <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5586469-D1A4-CB03-D5B1-1F574E6D5748}" type="slidenum">
              <a:rPr/>
              <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846748D-F7C9-E678-8231-99A39B1C7A31}" type="slidenum">
              <a:rPr/>
              <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97335B0-B7C1-813D-D96D-66A9B96DA2FF}" type="slidenum">
              <a:rPr/>
              <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32F38D1-43D0-E7C9-3614-320318402B19}" type="slidenum">
              <a:rPr/>
              <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9EDC41E-2C5C-7A48-46F0-3F034A81B01C}" type="slidenum">
              <a:rPr/>
              <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7C22198-200E-5D2A-D927-A70F48C813AC}" type="slidenum">
              <a:rPr/>
              <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640F02C-BF02-C37A-6725-635C0D51B570}" type="slidenum">
              <a:rPr/>
              <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CD26D76-D6B9-C8DA-B4C2-83146D19BA84}" type="slidenum">
              <a:rPr/>
              <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BEE71DC-81B2-D75E-0ED1-C63A41347872}" type="slidenum">
              <a:rPr/>
              <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508442E-3E91-3E86-BD46-20B4792DCD10}" type="slidenum">
              <a:rPr/>
              <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A35B4C0-2E2F-4C47-966A-29C4349F4885}" type="slidenum">
              <a:rPr/>
              <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BB9770C-E6C1-49B4-035C-FECB8EA7E03A}" type="slidenum">
              <a:rPr/>
              <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BEE9E75-82DF-F109-11EF-0346CDA75031}" type="slidenum">
              <a:rPr/>
              <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095A6F-1059-77EA-F0EC-13B8DD95D219}" type="slidenum">
              <a:rPr/>
              <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CEF5C1B-63CD-9FA5-E40F-C58EBF769E06}" type="slidenum">
              <a:rPr/>
              <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332983F-7A2F-CBDE-52B3-B72FBC2B23C6}" type="slidenum">
              <a:rPr/>
              <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2FEA87D-B889-310F-5BF7-73E44ED498D3}" type="slidenum">
              <a:rPr/>
              <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DD4E185-BCFB-03ED-7E24-88F39F7DA1E5}" type="slidenum">
              <a:rPr/>
              <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7E5480-BD48-B177-D740-1629768F3D4F}" type="slidenum">
              <a:rPr/>
              <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61062F9-BC26-8CCB-511C-9F5E2B427AB0}" type="slidenum">
              <a:rPr/>
              <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56A3404-51E1-3203-6544-537C71A278CF}" type="slidenum">
              <a:rPr/>
              <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32190D0-BCA4-7E5D-2A2E-AB79CB008C62}" type="slidenum">
              <a:rPr/>
              <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90C2B2A-71CA-D525-8EEE-9B8162DB2AEE}" type="slidenum">
              <a:rPr/>
              <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25AD6B2-D43F-75C9-D66C-1EE36CBD5C68}" type="slidenum">
              <a:rPr/>
              <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4E6434D-0AEF-AD66-B1FA-B8B78FB7A69E}" type="slidenum">
              <a:rPr/>
              <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9D788DA-0D01-8F49-E075-EDFAEE9CBF06}" type="slidenum">
              <a:rPr/>
              <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56B2053-86FC-BCB3-3E71-C37F5C34187E}" type="slidenum">
              <a:rPr/>
              <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2306485-4305-8521-BB5B-CA575FCE05C6}" type="slidenum">
              <a:rPr/>
              <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B6704CF-7172-75B4-4686-446DFF8E485E}" type="slidenum">
              <a:rPr/>
              <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9E78A0D-5CDF-E2BB-E9C9-9619A9CC8744}" type="slidenum">
              <a:rPr/>
              <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67EA376-CA24-C71C-1D2C-98FB36819786}" type="slidenum">
              <a:rPr/>
              <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396278-0742-3CBE-C1F5-12C4F17CB548}" type="slidenum">
              <a:rPr/>
              <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F75F075-F700-22A8-476B-1DF5F0D99223}" type="slidenum">
              <a:rPr/>
              <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538F8D-C3F1-119C-A745-A18310426196}" type="slidenum">
              <a:rPr/>
              <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EE13F5F-2118-F902-86CB-9024825FF696}" type="slidenum">
              <a:rPr/>
              <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6707E9F-4CE6-53AA-616A-6F1866E9B099}" type="slidenum">
              <a:rPr/>
              <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2681F23-2B43-68F2-D7C9-175A61EDF497}" type="slidenum">
              <a:rPr/>
              <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7A1874E-854A-8875-8BF0-3AD9F5671823}" type="slidenum">
              <a:rPr/>
              <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F7833DA-3087-8E6E-15A6-E0E435C17435}" type="slidenum">
              <a:rPr/>
              <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04677FE-DD39-C756-980F-93146F89FD82}" type="slidenum">
              <a:rPr/>
              <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7DFB74B-063D-8CD0-8131-860C1086E503}" type="slidenum">
              <a:rPr/>
              <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59EFDFF-798B-E52D-B727-1CB942DB01DC}" type="slidenum">
              <a:rPr/>
              <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ED9066D-27BC-16F9-D79D-45D8041C3653}" type="slidenum">
              <a:rPr/>
              <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6D1E4C9-D6AC-0278-DB37-946E31E2531B}" type="slidenum">
              <a:rPr/>
              <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73AEF26-8495-7830-7E38-BC88CEED1C66}" type="slidenum">
              <a:rPr/>
              <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9C51B8E-23FF-32BF-AF8A-A2E87D668A26}" type="slidenum">
              <a:rPr/>
              <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02907C5-90DD-CF57-46CD-29D701D73AA5}" type="slidenum">
              <a:rPr/>
              <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14B1CE1-CCAF-BA65-CDB9-72C7EBAC7DCD}"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media1.sv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0" type="title" userDrawn="1">
  <p:cSld name="Title Slide">
    <p:bg>
      <p:bgPr shadeToTitle="0">
        <a:solidFill>
          <a:schemeClr val="bg1"/>
        </a:solidFill>
      </p:bgPr>
    </p:bg>
    <p:spTree>
      <p:nvGrpSpPr>
        <p:cNvPr id="1" name=""/>
        <p:cNvGrpSpPr/>
        <p:nvPr/>
      </p:nvGrpSpPr>
      <p:grpSpPr bwMode="auto">
        <a:xfrm>
          <a:off x="0" y="0"/>
          <a:ext cx="0" cy="0"/>
          <a:chOff x="0" y="0"/>
          <a:chExt cx="0" cy="0"/>
        </a:xfrm>
      </p:grpSpPr>
      <p:pic>
        <p:nvPicPr>
          <p:cNvPr id="893851486" name="Picture 2049"/>
          <p:cNvPicPr>
            <a:picLocks noChangeAspect="1"/>
          </p:cNvPicPr>
          <p:nvPr/>
        </p:nvPicPr>
        <p:blipFill rotWithShape="1">
          <a:blip r:embed="rId2">
            <a:extLst>
              <a:ext uri="{96DAC541-7B7A-43D3-8B79-37D633B846F1}">
                <asvg:svgBlip xmlns:asvg="http://schemas.microsoft.com/office/drawing/2016/SVG/main" r:embed="rId3"/>
              </a:ext>
            </a:extLst>
          </a:blip>
          <a:stretch/>
        </p:blipFill>
        <p:spPr bwMode="auto">
          <a:xfrm>
            <a:off x="0" y="0"/>
            <a:ext cx="9144000" cy="6858000"/>
          </a:xfrm>
          <a:prstGeom prst="rect">
            <a:avLst/>
          </a:prstGeom>
          <a:noFill/>
          <a:ln w="9525">
            <a:noFill/>
          </a:ln>
        </p:spPr>
      </p:pic>
      <p:sp>
        <p:nvSpPr>
          <p:cNvPr id="1881097225" name="Title 2050"/>
          <p:cNvSpPr>
            <a:spLocks noGrp="1"/>
          </p:cNvSpPr>
          <p:nvPr>
            <p:ph type="ctrTitle"/>
          </p:nvPr>
        </p:nvSpPr>
        <p:spPr bwMode="auto">
          <a:xfrm>
            <a:off x="684213" y="1701800"/>
            <a:ext cx="7772400" cy="1082675"/>
          </a:xfrm>
          <a:prstGeom prst="rect">
            <a:avLst/>
          </a:prstGeom>
          <a:noFill/>
          <a:ln w="9525">
            <a:noFill/>
            <a:miter/>
          </a:ln>
        </p:spPr>
        <p:txBody>
          <a:bodyPr anchor="ctr"/>
          <a:lstStyle>
            <a:lvl1pPr lvl="0" algn="l">
              <a:defRPr/>
            </a:lvl1pPr>
          </a:lstStyle>
          <a:p>
            <a:pPr lvl="0">
              <a:defRPr/>
            </a:pPr>
            <a:r>
              <a:rPr/>
              <a:t>Click to edit Master title style</a:t>
            </a:r>
            <a:endParaRPr/>
          </a:p>
        </p:txBody>
      </p:sp>
      <p:sp>
        <p:nvSpPr>
          <p:cNvPr id="495182703" name="Subtitle 2051"/>
          <p:cNvSpPr>
            <a:spLocks noGrp="1"/>
          </p:cNvSpPr>
          <p:nvPr>
            <p:ph type="subTitle" idx="1"/>
          </p:nvPr>
        </p:nvSpPr>
        <p:spPr bwMode="auto">
          <a:xfrm>
            <a:off x="682625" y="2927350"/>
            <a:ext cx="7777163" cy="1752599"/>
          </a:xfrm>
          <a:prstGeom prst="rect">
            <a:avLst/>
          </a:prstGeom>
          <a:noFill/>
          <a:ln w="9525">
            <a:noFill/>
            <a:miter/>
          </a:ln>
        </p:spPr>
        <p:txBody>
          <a:bodyPr anchor="t"/>
          <a:lstStyle>
            <a:lvl1pPr marL="0" lvl="0" indent="0" algn="l">
              <a:buNone/>
              <a:defRPr/>
            </a:lvl1pPr>
            <a:lvl2pPr marL="457200" lvl="1" indent="-457200" algn="ctr">
              <a:buNone/>
              <a:defRPr/>
            </a:lvl2pPr>
            <a:lvl3pPr marL="914400" lvl="2" indent="-914400" algn="ctr">
              <a:buNone/>
              <a:defRPr/>
            </a:lvl3pPr>
            <a:lvl4pPr marL="1371600" lvl="3" indent="-1371600" algn="ctr">
              <a:buNone/>
              <a:defRPr/>
            </a:lvl4pPr>
            <a:lvl5pPr marL="1828800" lvl="4" indent="-1828800" algn="ctr">
              <a:buNone/>
              <a:defRPr/>
            </a:lvl5pPr>
          </a:lstStyle>
          <a:p>
            <a:pPr lvl="0">
              <a:defRPr/>
            </a:pPr>
            <a:r>
              <a:rPr/>
              <a:t>Click to edit Master subtitle style</a:t>
            </a:r>
            <a:endParaRPr/>
          </a:p>
        </p:txBody>
      </p:sp>
      <p:sp>
        <p:nvSpPr>
          <p:cNvPr id="935875795" name="Date Placeholder 2052"/>
          <p:cNvSpPr>
            <a:spLocks noGrp="1"/>
          </p:cNvSpPr>
          <p:nvPr>
            <p:ph type="dt" sz="half" idx="2"/>
          </p:nvPr>
        </p:nvSpPr>
        <p:spPr bwMode="auto">
          <a:xfrm>
            <a:off x="457200" y="6245225"/>
            <a:ext cx="2133600" cy="476250"/>
          </a:xfrm>
          <a:prstGeom prst="rect">
            <a:avLst/>
          </a:prstGeom>
          <a:noFill/>
          <a:ln w="9525">
            <a:noFill/>
            <a:miter/>
          </a:ln>
        </p:spPr>
        <p:txBody>
          <a:bodyPr anchor="t"/>
          <a:p>
            <a:pPr>
              <a:defRPr/>
            </a:pPr>
            <a:endParaRPr lang="zh-CN" strike="noStrike"/>
          </a:p>
        </p:txBody>
      </p:sp>
      <p:sp>
        <p:nvSpPr>
          <p:cNvPr id="207213772" name="Footer Placeholder 2053"/>
          <p:cNvSpPr>
            <a:spLocks noGrp="1"/>
          </p:cNvSpPr>
          <p:nvPr>
            <p:ph type="ftr" sz="quarter" idx="3"/>
          </p:nvPr>
        </p:nvSpPr>
        <p:spPr bwMode="auto">
          <a:xfrm>
            <a:off x="3124200" y="6245225"/>
            <a:ext cx="2895600" cy="476250"/>
          </a:xfrm>
          <a:prstGeom prst="rect">
            <a:avLst/>
          </a:prstGeom>
          <a:noFill/>
          <a:ln w="9525">
            <a:noFill/>
            <a:miter/>
          </a:ln>
        </p:spPr>
        <p:txBody>
          <a:bodyPr anchor="t"/>
          <a:p>
            <a:pPr>
              <a:defRPr/>
            </a:pPr>
            <a:endParaRPr lang="zh-CN" strike="noStrike"/>
          </a:p>
        </p:txBody>
      </p:sp>
      <p:sp>
        <p:nvSpPr>
          <p:cNvPr id="2091214342" name="Slide Number Placeholder 2054"/>
          <p:cNvSpPr>
            <a:spLocks noGrp="1"/>
          </p:cNvSpPr>
          <p:nvPr>
            <p:ph type="sldNum" sz="quarter" idx="4"/>
          </p:nvPr>
        </p:nvSpPr>
        <p:spPr bwMode="auto">
          <a:xfrm>
            <a:off x="6553200" y="6245225"/>
            <a:ext cx="2133600" cy="476250"/>
          </a:xfrm>
          <a:prstGeom prst="rect">
            <a:avLst/>
          </a:prstGeom>
          <a:noFill/>
          <a:ln w="9525">
            <a:noFill/>
            <a:miter/>
          </a:ln>
        </p:spPr>
        <p:txBody>
          <a:bodyPr anchor="t"/>
          <a:p>
            <a:pPr>
              <a:defRPr/>
            </a:pPr>
            <a:fld id="{9A0DB2DC-4C9A-4742-B13C-FB6460FD3503}" type="slidenum">
              <a:rPr lang="zh-CN" strike="noStrike">
                <a:latin typeface="Arial"/>
                <a:ea typeface="SimSun"/>
                <a:cs typeface="+mn-ea"/>
              </a:rPr>
              <a:t/>
            </a:fld>
            <a:endParaRPr lang="zh-CN" strike="noStrik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012200096" name="Title 1"/>
          <p:cNvSpPr>
            <a:spLocks noGrp="1"/>
          </p:cNvSpPr>
          <p:nvPr>
            <p:ph type="title"/>
          </p:nvPr>
        </p:nvSpPr>
        <p:spPr bwMode="auto"/>
        <p:txBody>
          <a:bodyPr/>
          <a:lstStyle/>
          <a:p>
            <a:pPr>
              <a:defRPr/>
            </a:pPr>
            <a:r>
              <a:rPr lang="en-US" strike="noStrike"/>
              <a:t>Click to edit Master title style</a:t>
            </a:r>
            <a:endParaRPr lang="en-US" strike="noStrike"/>
          </a:p>
        </p:txBody>
      </p:sp>
      <p:sp>
        <p:nvSpPr>
          <p:cNvPr id="1016775709" name="Content Placeholder 2"/>
          <p:cNvSpPr>
            <a:spLocks noGrp="1"/>
          </p:cNvSpPr>
          <p:nvPr>
            <p:ph idx="1"/>
          </p:nvPr>
        </p:nvSpPr>
        <p:spPr bwMode="auto"/>
        <p:txBody>
          <a:bodyPr/>
          <a:lstStyle/>
          <a:p>
            <a:pPr lvl="0">
              <a:defRPr/>
            </a:pPr>
            <a:r>
              <a:rPr lang="en-US" strike="noStrike"/>
              <a:t>Click to edit Master text styles</a:t>
            </a:r>
            <a:endParaRPr lang="en-US" strike="noStrike"/>
          </a:p>
          <a:p>
            <a:pPr lvl="1">
              <a:defRPr/>
            </a:pPr>
            <a:r>
              <a:rPr lang="en-US" strike="noStrike"/>
              <a:t>Second level</a:t>
            </a:r>
            <a:endParaRPr lang="en-US" strike="noStrike"/>
          </a:p>
          <a:p>
            <a:pPr lvl="2">
              <a:defRPr/>
            </a:pPr>
            <a:r>
              <a:rPr lang="en-US" strike="noStrike"/>
              <a:t>Third level</a:t>
            </a:r>
            <a:endParaRPr lang="en-US" strike="noStrike"/>
          </a:p>
          <a:p>
            <a:pPr lvl="3">
              <a:defRPr/>
            </a:pPr>
            <a:r>
              <a:rPr lang="en-US" strike="noStrike"/>
              <a:t>Fourth level</a:t>
            </a:r>
            <a:endParaRPr lang="en-US" strike="noStrike"/>
          </a:p>
          <a:p>
            <a:pPr lvl="4">
              <a:defRPr/>
            </a:pPr>
            <a:r>
              <a:rPr lang="en-US" strike="noStrike"/>
              <a:t>Fifth level</a:t>
            </a:r>
            <a:endParaRPr lang="en-US" strike="noStrike"/>
          </a:p>
        </p:txBody>
      </p:sp>
      <p:sp>
        <p:nvSpPr>
          <p:cNvPr id="963597061" name="Date Placeholder 3"/>
          <p:cNvSpPr>
            <a:spLocks noGrp="1"/>
          </p:cNvSpPr>
          <p:nvPr>
            <p:ph type="dt" sz="half" idx="10"/>
          </p:nvPr>
        </p:nvSpPr>
        <p:spPr bwMode="auto"/>
        <p:txBody>
          <a:bodyPr/>
          <a:p>
            <a:pPr lvl="0">
              <a:defRPr/>
            </a:pPr>
            <a:endParaRPr lang="zh-CN" strike="noStrike"/>
          </a:p>
        </p:txBody>
      </p:sp>
      <p:sp>
        <p:nvSpPr>
          <p:cNvPr id="1744522826" name="Footer Placeholder 4"/>
          <p:cNvSpPr>
            <a:spLocks noGrp="1"/>
          </p:cNvSpPr>
          <p:nvPr>
            <p:ph type="ftr" sz="quarter" idx="11"/>
          </p:nvPr>
        </p:nvSpPr>
        <p:spPr bwMode="auto"/>
        <p:txBody>
          <a:bodyPr/>
          <a:p>
            <a:pPr lvl="0">
              <a:defRPr/>
            </a:pPr>
            <a:endParaRPr lang="zh-CN" strike="noStrike"/>
          </a:p>
        </p:txBody>
      </p:sp>
      <p:sp>
        <p:nvSpPr>
          <p:cNvPr id="1271485574" name="Slide Number Placeholder 5"/>
          <p:cNvSpPr>
            <a:spLocks noGrp="1"/>
          </p:cNvSpPr>
          <p:nvPr>
            <p:ph type="sldNum" sz="quarter" idx="12"/>
          </p:nvPr>
        </p:nvSpPr>
        <p:spPr bwMode="auto"/>
        <p:txBody>
          <a:bodyPr/>
          <a:p>
            <a:pPr lvl="0">
              <a:defRPr/>
            </a:pPr>
            <a:fld id="{9A0DB2DC-4C9A-4742-B13C-FB6460FD3503}" type="slidenum">
              <a:rPr lang="zh-CN" strike="noStrike">
                <a:latin typeface="Arial"/>
                <a:ea typeface="SimSun"/>
                <a:cs typeface="+mn-ea"/>
              </a:rPr>
              <a:t/>
            </a:fld>
            <a:endParaRPr lang="zh-CN" strike="noStrik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541718135" name="Title 1"/>
          <p:cNvSpPr>
            <a:spLocks noGrp="1"/>
          </p:cNvSpPr>
          <p:nvPr>
            <p:ph type="title"/>
          </p:nvPr>
        </p:nvSpPr>
        <p:spPr bwMode="auto">
          <a:xfrm>
            <a:off x="623888" y="1709738"/>
            <a:ext cx="7886700" cy="2852737"/>
          </a:xfrm>
        </p:spPr>
        <p:txBody>
          <a:bodyPr anchor="b"/>
          <a:lstStyle>
            <a:lvl1pPr>
              <a:defRPr sz="4500"/>
            </a:lvl1pPr>
          </a:lstStyle>
          <a:p>
            <a:pPr>
              <a:defRPr/>
            </a:pPr>
            <a:r>
              <a:rPr lang="en-US" strike="noStrike"/>
              <a:t>Click to edit Master title style</a:t>
            </a:r>
            <a:endParaRPr lang="en-US" strike="noStrike"/>
          </a:p>
        </p:txBody>
      </p:sp>
      <p:sp>
        <p:nvSpPr>
          <p:cNvPr id="422538168" name="Text Placeholder 2"/>
          <p:cNvSpPr>
            <a:spLocks noGrp="1"/>
          </p:cNvSpPr>
          <p:nvPr>
            <p:ph type="body" idx="1"/>
          </p:nvPr>
        </p:nvSpPr>
        <p:spPr bwMode="auto">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defRPr/>
            </a:pPr>
            <a:r>
              <a:rPr lang="en-US" strike="noStrike"/>
              <a:t>Click to edit Master text styles</a:t>
            </a:r>
            <a:endParaRPr lang="en-US" strike="noStrike"/>
          </a:p>
        </p:txBody>
      </p:sp>
      <p:sp>
        <p:nvSpPr>
          <p:cNvPr id="1472301745" name="Date Placeholder 3"/>
          <p:cNvSpPr>
            <a:spLocks noGrp="1"/>
          </p:cNvSpPr>
          <p:nvPr>
            <p:ph type="dt" sz="half" idx="10"/>
          </p:nvPr>
        </p:nvSpPr>
        <p:spPr bwMode="auto"/>
        <p:txBody>
          <a:bodyPr/>
          <a:p>
            <a:pPr lvl="0">
              <a:defRPr/>
            </a:pPr>
            <a:endParaRPr lang="zh-CN" strike="noStrike"/>
          </a:p>
        </p:txBody>
      </p:sp>
      <p:sp>
        <p:nvSpPr>
          <p:cNvPr id="437744724" name="Footer Placeholder 4"/>
          <p:cNvSpPr>
            <a:spLocks noGrp="1"/>
          </p:cNvSpPr>
          <p:nvPr>
            <p:ph type="ftr" sz="quarter" idx="11"/>
          </p:nvPr>
        </p:nvSpPr>
        <p:spPr bwMode="auto"/>
        <p:txBody>
          <a:bodyPr/>
          <a:p>
            <a:pPr lvl="0">
              <a:defRPr/>
            </a:pPr>
            <a:endParaRPr lang="zh-CN" strike="noStrike"/>
          </a:p>
        </p:txBody>
      </p:sp>
      <p:sp>
        <p:nvSpPr>
          <p:cNvPr id="489196153" name="Slide Number Placeholder 5"/>
          <p:cNvSpPr>
            <a:spLocks noGrp="1"/>
          </p:cNvSpPr>
          <p:nvPr>
            <p:ph type="sldNum" sz="quarter" idx="12"/>
          </p:nvPr>
        </p:nvSpPr>
        <p:spPr bwMode="auto"/>
        <p:txBody>
          <a:bodyPr/>
          <a:p>
            <a:pPr lvl="0">
              <a:defRPr/>
            </a:pPr>
            <a:fld id="{9A0DB2DC-4C9A-4742-B13C-FB6460FD3503}" type="slidenum">
              <a:rPr lang="zh-CN" strike="noStrike">
                <a:latin typeface="Arial"/>
                <a:ea typeface="SimSun"/>
                <a:cs typeface="+mn-ea"/>
              </a:rPr>
              <a:t/>
            </a:fld>
            <a:endParaRPr lang="zh-CN" strike="noStrik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908782033" name="Title 1"/>
          <p:cNvSpPr>
            <a:spLocks noGrp="1"/>
          </p:cNvSpPr>
          <p:nvPr>
            <p:ph type="title"/>
          </p:nvPr>
        </p:nvSpPr>
        <p:spPr bwMode="auto"/>
        <p:txBody>
          <a:bodyPr/>
          <a:lstStyle/>
          <a:p>
            <a:pPr>
              <a:defRPr/>
            </a:pPr>
            <a:r>
              <a:rPr lang="en-US" strike="noStrike"/>
              <a:t>Click to edit Master title style</a:t>
            </a:r>
            <a:endParaRPr lang="en-US" strike="noStrike"/>
          </a:p>
        </p:txBody>
      </p:sp>
      <p:sp>
        <p:nvSpPr>
          <p:cNvPr id="648615753" name="Content Placeholder 2"/>
          <p:cNvSpPr>
            <a:spLocks noGrp="1"/>
          </p:cNvSpPr>
          <p:nvPr>
            <p:ph sz="half" idx="1"/>
          </p:nvPr>
        </p:nvSpPr>
        <p:spPr bwMode="auto">
          <a:xfrm>
            <a:off x="457200" y="1174750"/>
            <a:ext cx="4032504" cy="4953000"/>
          </a:xfrm>
        </p:spPr>
        <p:txBody>
          <a:bodyPr/>
          <a:lstStyle/>
          <a:p>
            <a:pPr lvl="0">
              <a:defRPr/>
            </a:pPr>
            <a:r>
              <a:rPr lang="en-US" strike="noStrike"/>
              <a:t>Click to edit Master text styles</a:t>
            </a:r>
            <a:endParaRPr lang="en-US" strike="noStrike"/>
          </a:p>
          <a:p>
            <a:pPr lvl="1">
              <a:defRPr/>
            </a:pPr>
            <a:r>
              <a:rPr lang="en-US" strike="noStrike"/>
              <a:t>Second level</a:t>
            </a:r>
            <a:endParaRPr lang="en-US" strike="noStrike"/>
          </a:p>
          <a:p>
            <a:pPr lvl="2">
              <a:defRPr/>
            </a:pPr>
            <a:r>
              <a:rPr lang="en-US" strike="noStrike"/>
              <a:t>Third level</a:t>
            </a:r>
            <a:endParaRPr lang="en-US" strike="noStrike"/>
          </a:p>
          <a:p>
            <a:pPr lvl="3">
              <a:defRPr/>
            </a:pPr>
            <a:r>
              <a:rPr lang="en-US" strike="noStrike"/>
              <a:t>Fourth level</a:t>
            </a:r>
            <a:endParaRPr lang="en-US" strike="noStrike"/>
          </a:p>
          <a:p>
            <a:pPr lvl="4">
              <a:defRPr/>
            </a:pPr>
            <a:r>
              <a:rPr lang="en-US" strike="noStrike"/>
              <a:t>Fifth level</a:t>
            </a:r>
            <a:endParaRPr lang="en-US" strike="noStrike"/>
          </a:p>
        </p:txBody>
      </p:sp>
      <p:sp>
        <p:nvSpPr>
          <p:cNvPr id="963498100" name="Content Placeholder 3"/>
          <p:cNvSpPr>
            <a:spLocks noGrp="1"/>
          </p:cNvSpPr>
          <p:nvPr>
            <p:ph sz="half" idx="2"/>
          </p:nvPr>
        </p:nvSpPr>
        <p:spPr bwMode="auto">
          <a:xfrm>
            <a:off x="4654296" y="1174750"/>
            <a:ext cx="4032504" cy="4953000"/>
          </a:xfrm>
        </p:spPr>
        <p:txBody>
          <a:bodyPr/>
          <a:lstStyle/>
          <a:p>
            <a:pPr lvl="0">
              <a:defRPr/>
            </a:pPr>
            <a:r>
              <a:rPr lang="en-US" strike="noStrike"/>
              <a:t>Click to edit Master text styles</a:t>
            </a:r>
            <a:endParaRPr lang="en-US" strike="noStrike"/>
          </a:p>
          <a:p>
            <a:pPr lvl="1">
              <a:defRPr/>
            </a:pPr>
            <a:r>
              <a:rPr lang="en-US" strike="noStrike"/>
              <a:t>Second level</a:t>
            </a:r>
            <a:endParaRPr lang="en-US" strike="noStrike"/>
          </a:p>
          <a:p>
            <a:pPr lvl="2">
              <a:defRPr/>
            </a:pPr>
            <a:r>
              <a:rPr lang="en-US" strike="noStrike"/>
              <a:t>Third level</a:t>
            </a:r>
            <a:endParaRPr lang="en-US" strike="noStrike"/>
          </a:p>
          <a:p>
            <a:pPr lvl="3">
              <a:defRPr/>
            </a:pPr>
            <a:r>
              <a:rPr lang="en-US" strike="noStrike"/>
              <a:t>Fourth level</a:t>
            </a:r>
            <a:endParaRPr lang="en-US" strike="noStrike"/>
          </a:p>
          <a:p>
            <a:pPr lvl="4">
              <a:defRPr/>
            </a:pPr>
            <a:r>
              <a:rPr lang="en-US" strike="noStrike"/>
              <a:t>Fifth level</a:t>
            </a:r>
            <a:endParaRPr lang="en-US" strike="noStrike"/>
          </a:p>
        </p:txBody>
      </p:sp>
      <p:sp>
        <p:nvSpPr>
          <p:cNvPr id="1493165935" name="Date Placeholder 4"/>
          <p:cNvSpPr>
            <a:spLocks noGrp="1"/>
          </p:cNvSpPr>
          <p:nvPr>
            <p:ph type="dt" sz="half" idx="10"/>
          </p:nvPr>
        </p:nvSpPr>
        <p:spPr bwMode="auto"/>
        <p:txBody>
          <a:bodyPr/>
          <a:p>
            <a:pPr lvl="0">
              <a:defRPr/>
            </a:pPr>
            <a:endParaRPr lang="zh-CN" strike="noStrike"/>
          </a:p>
        </p:txBody>
      </p:sp>
      <p:sp>
        <p:nvSpPr>
          <p:cNvPr id="1446138755" name="Footer Placeholder 5"/>
          <p:cNvSpPr>
            <a:spLocks noGrp="1"/>
          </p:cNvSpPr>
          <p:nvPr>
            <p:ph type="ftr" sz="quarter" idx="11"/>
          </p:nvPr>
        </p:nvSpPr>
        <p:spPr bwMode="auto"/>
        <p:txBody>
          <a:bodyPr/>
          <a:p>
            <a:pPr lvl="0">
              <a:defRPr/>
            </a:pPr>
            <a:endParaRPr lang="zh-CN" strike="noStrike"/>
          </a:p>
        </p:txBody>
      </p:sp>
      <p:sp>
        <p:nvSpPr>
          <p:cNvPr id="1565710734" name="Slide Number Placeholder 6"/>
          <p:cNvSpPr>
            <a:spLocks noGrp="1"/>
          </p:cNvSpPr>
          <p:nvPr>
            <p:ph type="sldNum" sz="quarter" idx="12"/>
          </p:nvPr>
        </p:nvSpPr>
        <p:spPr bwMode="auto"/>
        <p:txBody>
          <a:bodyPr/>
          <a:p>
            <a:pPr lvl="0">
              <a:defRPr/>
            </a:pPr>
            <a:fld id="{9A0DB2DC-4C9A-4742-B13C-FB6460FD3503}" type="slidenum">
              <a:rPr lang="zh-CN" strike="noStrike">
                <a:latin typeface="Arial"/>
                <a:ea typeface="SimSun"/>
                <a:cs typeface="+mn-ea"/>
              </a:rPr>
              <a:t/>
            </a:fld>
            <a:endParaRPr lang="zh-CN" strike="noStrik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791115844" name="Title 1"/>
          <p:cNvSpPr>
            <a:spLocks noGrp="1"/>
          </p:cNvSpPr>
          <p:nvPr>
            <p:ph type="title"/>
          </p:nvPr>
        </p:nvSpPr>
        <p:spPr bwMode="auto">
          <a:xfrm>
            <a:off x="629841" y="365125"/>
            <a:ext cx="7886700" cy="1325563"/>
          </a:xfrm>
        </p:spPr>
        <p:txBody>
          <a:bodyPr/>
          <a:lstStyle/>
          <a:p>
            <a:pPr>
              <a:defRPr/>
            </a:pPr>
            <a:r>
              <a:rPr lang="en-US" strike="noStrike"/>
              <a:t>Click to edit Master title style</a:t>
            </a:r>
            <a:endParaRPr lang="en-US" strike="noStrike"/>
          </a:p>
        </p:txBody>
      </p:sp>
      <p:sp>
        <p:nvSpPr>
          <p:cNvPr id="1595569779" name="Text Placeholder 2"/>
          <p:cNvSpPr>
            <a:spLocks noGrp="1"/>
          </p:cNvSpPr>
          <p:nvPr>
            <p:ph type="body" idx="1"/>
          </p:nvPr>
        </p:nvSpPr>
        <p:spPr bwMode="auto">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strike="noStrike"/>
              <a:t>Click to edit Master text styles</a:t>
            </a:r>
            <a:endParaRPr lang="en-US" strike="noStrike"/>
          </a:p>
        </p:txBody>
      </p:sp>
      <p:sp>
        <p:nvSpPr>
          <p:cNvPr id="1830852562" name="Content Placeholder 3"/>
          <p:cNvSpPr>
            <a:spLocks noGrp="1"/>
          </p:cNvSpPr>
          <p:nvPr>
            <p:ph sz="half" idx="2"/>
          </p:nvPr>
        </p:nvSpPr>
        <p:spPr bwMode="auto">
          <a:xfrm>
            <a:off x="629841" y="2505074"/>
            <a:ext cx="3868340" cy="3684588"/>
          </a:xfrm>
        </p:spPr>
        <p:txBody>
          <a:bodyPr/>
          <a:lstStyle/>
          <a:p>
            <a:pPr lvl="0">
              <a:defRPr/>
            </a:pPr>
            <a:r>
              <a:rPr lang="en-US" strike="noStrike"/>
              <a:t>Click to edit Master text styles</a:t>
            </a:r>
            <a:endParaRPr lang="en-US" strike="noStrike"/>
          </a:p>
          <a:p>
            <a:pPr lvl="1">
              <a:defRPr/>
            </a:pPr>
            <a:r>
              <a:rPr lang="en-US" strike="noStrike"/>
              <a:t>Second level</a:t>
            </a:r>
            <a:endParaRPr lang="en-US" strike="noStrike"/>
          </a:p>
          <a:p>
            <a:pPr lvl="2">
              <a:defRPr/>
            </a:pPr>
            <a:r>
              <a:rPr lang="en-US" strike="noStrike"/>
              <a:t>Third level</a:t>
            </a:r>
            <a:endParaRPr lang="en-US" strike="noStrike"/>
          </a:p>
          <a:p>
            <a:pPr lvl="3">
              <a:defRPr/>
            </a:pPr>
            <a:r>
              <a:rPr lang="en-US" strike="noStrike"/>
              <a:t>Fourth level</a:t>
            </a:r>
            <a:endParaRPr lang="en-US" strike="noStrike"/>
          </a:p>
          <a:p>
            <a:pPr lvl="4">
              <a:defRPr/>
            </a:pPr>
            <a:r>
              <a:rPr lang="en-US" strike="noStrike"/>
              <a:t>Fifth level</a:t>
            </a:r>
            <a:endParaRPr lang="en-US" strike="noStrike"/>
          </a:p>
        </p:txBody>
      </p:sp>
      <p:sp>
        <p:nvSpPr>
          <p:cNvPr id="494604134" name="Text Placeholder 4"/>
          <p:cNvSpPr>
            <a:spLocks noGrp="1"/>
          </p:cNvSpPr>
          <p:nvPr>
            <p:ph type="body" sz="quarter" idx="3"/>
          </p:nvPr>
        </p:nvSpPr>
        <p:spPr bwMode="auto">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strike="noStrike"/>
              <a:t>Click to edit Master text styles</a:t>
            </a:r>
            <a:endParaRPr lang="en-US" strike="noStrike"/>
          </a:p>
        </p:txBody>
      </p:sp>
      <p:sp>
        <p:nvSpPr>
          <p:cNvPr id="615817457" name="Content Placeholder 5"/>
          <p:cNvSpPr>
            <a:spLocks noGrp="1"/>
          </p:cNvSpPr>
          <p:nvPr>
            <p:ph sz="quarter" idx="4"/>
          </p:nvPr>
        </p:nvSpPr>
        <p:spPr bwMode="auto">
          <a:xfrm>
            <a:off x="4629150" y="2505074"/>
            <a:ext cx="3887391" cy="3684588"/>
          </a:xfrm>
        </p:spPr>
        <p:txBody>
          <a:bodyPr/>
          <a:lstStyle/>
          <a:p>
            <a:pPr lvl="0">
              <a:defRPr/>
            </a:pPr>
            <a:r>
              <a:rPr lang="en-US" strike="noStrike"/>
              <a:t>Click to edit Master text styles</a:t>
            </a:r>
            <a:endParaRPr lang="en-US" strike="noStrike"/>
          </a:p>
          <a:p>
            <a:pPr lvl="1">
              <a:defRPr/>
            </a:pPr>
            <a:r>
              <a:rPr lang="en-US" strike="noStrike"/>
              <a:t>Second level</a:t>
            </a:r>
            <a:endParaRPr lang="en-US" strike="noStrike"/>
          </a:p>
          <a:p>
            <a:pPr lvl="2">
              <a:defRPr/>
            </a:pPr>
            <a:r>
              <a:rPr lang="en-US" strike="noStrike"/>
              <a:t>Third level</a:t>
            </a:r>
            <a:endParaRPr lang="en-US" strike="noStrike"/>
          </a:p>
          <a:p>
            <a:pPr lvl="3">
              <a:defRPr/>
            </a:pPr>
            <a:r>
              <a:rPr lang="en-US" strike="noStrike"/>
              <a:t>Fourth level</a:t>
            </a:r>
            <a:endParaRPr lang="en-US" strike="noStrike"/>
          </a:p>
          <a:p>
            <a:pPr lvl="4">
              <a:defRPr/>
            </a:pPr>
            <a:r>
              <a:rPr lang="en-US" strike="noStrike"/>
              <a:t>Fifth level</a:t>
            </a:r>
            <a:endParaRPr lang="en-US" strike="noStrike"/>
          </a:p>
        </p:txBody>
      </p:sp>
      <p:sp>
        <p:nvSpPr>
          <p:cNvPr id="605408423" name="Date Placeholder 6"/>
          <p:cNvSpPr>
            <a:spLocks noGrp="1"/>
          </p:cNvSpPr>
          <p:nvPr>
            <p:ph type="dt" sz="half" idx="10"/>
          </p:nvPr>
        </p:nvSpPr>
        <p:spPr bwMode="auto"/>
        <p:txBody>
          <a:bodyPr/>
          <a:p>
            <a:pPr lvl="0">
              <a:defRPr/>
            </a:pPr>
            <a:endParaRPr lang="zh-CN" strike="noStrike"/>
          </a:p>
        </p:txBody>
      </p:sp>
      <p:sp>
        <p:nvSpPr>
          <p:cNvPr id="1797305682" name="Footer Placeholder 7"/>
          <p:cNvSpPr>
            <a:spLocks noGrp="1"/>
          </p:cNvSpPr>
          <p:nvPr>
            <p:ph type="ftr" sz="quarter" idx="11"/>
          </p:nvPr>
        </p:nvSpPr>
        <p:spPr bwMode="auto"/>
        <p:txBody>
          <a:bodyPr/>
          <a:p>
            <a:pPr lvl="0">
              <a:defRPr/>
            </a:pPr>
            <a:endParaRPr lang="zh-CN" strike="noStrike"/>
          </a:p>
        </p:txBody>
      </p:sp>
      <p:sp>
        <p:nvSpPr>
          <p:cNvPr id="1564338132" name="Slide Number Placeholder 8"/>
          <p:cNvSpPr>
            <a:spLocks noGrp="1"/>
          </p:cNvSpPr>
          <p:nvPr>
            <p:ph type="sldNum" sz="quarter" idx="12"/>
          </p:nvPr>
        </p:nvSpPr>
        <p:spPr bwMode="auto"/>
        <p:txBody>
          <a:bodyPr/>
          <a:p>
            <a:pPr lvl="0">
              <a:defRPr/>
            </a:pPr>
            <a:fld id="{9A0DB2DC-4C9A-4742-B13C-FB6460FD3503}" type="slidenum">
              <a:rPr lang="zh-CN" strike="noStrike">
                <a:latin typeface="Arial"/>
                <a:ea typeface="SimSun"/>
                <a:cs typeface="+mn-ea"/>
              </a:rPr>
              <a:t/>
            </a:fld>
            <a:endParaRPr lang="zh-CN" strike="noStrik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67215653" name="Title 1"/>
          <p:cNvSpPr>
            <a:spLocks noGrp="1"/>
          </p:cNvSpPr>
          <p:nvPr>
            <p:ph type="title"/>
          </p:nvPr>
        </p:nvSpPr>
        <p:spPr bwMode="auto"/>
        <p:txBody>
          <a:bodyPr/>
          <a:lstStyle/>
          <a:p>
            <a:pPr>
              <a:defRPr/>
            </a:pPr>
            <a:r>
              <a:rPr lang="en-US" strike="noStrike"/>
              <a:t>Click to edit Master title style</a:t>
            </a:r>
            <a:endParaRPr lang="en-US" strike="noStrike"/>
          </a:p>
        </p:txBody>
      </p:sp>
      <p:sp>
        <p:nvSpPr>
          <p:cNvPr id="1146032827" name="Date Placeholder 2"/>
          <p:cNvSpPr>
            <a:spLocks noGrp="1"/>
          </p:cNvSpPr>
          <p:nvPr>
            <p:ph type="dt" sz="half" idx="10"/>
          </p:nvPr>
        </p:nvSpPr>
        <p:spPr bwMode="auto"/>
        <p:txBody>
          <a:bodyPr/>
          <a:p>
            <a:pPr lvl="0">
              <a:defRPr/>
            </a:pPr>
            <a:endParaRPr lang="zh-CN" strike="noStrike"/>
          </a:p>
        </p:txBody>
      </p:sp>
      <p:sp>
        <p:nvSpPr>
          <p:cNvPr id="856485358" name="Footer Placeholder 3"/>
          <p:cNvSpPr>
            <a:spLocks noGrp="1"/>
          </p:cNvSpPr>
          <p:nvPr>
            <p:ph type="ftr" sz="quarter" idx="11"/>
          </p:nvPr>
        </p:nvSpPr>
        <p:spPr bwMode="auto"/>
        <p:txBody>
          <a:bodyPr/>
          <a:p>
            <a:pPr lvl="0">
              <a:defRPr/>
            </a:pPr>
            <a:endParaRPr lang="zh-CN" strike="noStrike"/>
          </a:p>
        </p:txBody>
      </p:sp>
      <p:sp>
        <p:nvSpPr>
          <p:cNvPr id="1620699297" name="Slide Number Placeholder 4"/>
          <p:cNvSpPr>
            <a:spLocks noGrp="1"/>
          </p:cNvSpPr>
          <p:nvPr>
            <p:ph type="sldNum" sz="quarter" idx="12"/>
          </p:nvPr>
        </p:nvSpPr>
        <p:spPr bwMode="auto"/>
        <p:txBody>
          <a:bodyPr/>
          <a:p>
            <a:pPr lvl="0">
              <a:defRPr/>
            </a:pPr>
            <a:fld id="{9A0DB2DC-4C9A-4742-B13C-FB6460FD3503}" type="slidenum">
              <a:rPr lang="zh-CN" strike="noStrike">
                <a:latin typeface="Arial"/>
                <a:ea typeface="SimSun"/>
                <a:cs typeface="+mn-ea"/>
              </a:rPr>
              <a:t/>
            </a:fld>
            <a:endParaRPr lang="zh-CN" strike="noStrik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010300246" name="Date Placeholder 1"/>
          <p:cNvSpPr>
            <a:spLocks noGrp="1"/>
          </p:cNvSpPr>
          <p:nvPr>
            <p:ph type="dt" sz="half" idx="10"/>
          </p:nvPr>
        </p:nvSpPr>
        <p:spPr bwMode="auto"/>
        <p:txBody>
          <a:bodyPr/>
          <a:p>
            <a:pPr lvl="0">
              <a:defRPr/>
            </a:pPr>
            <a:endParaRPr lang="zh-CN" strike="noStrike"/>
          </a:p>
        </p:txBody>
      </p:sp>
      <p:sp>
        <p:nvSpPr>
          <p:cNvPr id="1464670656" name="Footer Placeholder 2"/>
          <p:cNvSpPr>
            <a:spLocks noGrp="1"/>
          </p:cNvSpPr>
          <p:nvPr>
            <p:ph type="ftr" sz="quarter" idx="11"/>
          </p:nvPr>
        </p:nvSpPr>
        <p:spPr bwMode="auto"/>
        <p:txBody>
          <a:bodyPr/>
          <a:p>
            <a:pPr lvl="0">
              <a:defRPr/>
            </a:pPr>
            <a:endParaRPr lang="zh-CN" strike="noStrike"/>
          </a:p>
        </p:txBody>
      </p:sp>
      <p:sp>
        <p:nvSpPr>
          <p:cNvPr id="502459816" name="Slide Number Placeholder 3"/>
          <p:cNvSpPr>
            <a:spLocks noGrp="1"/>
          </p:cNvSpPr>
          <p:nvPr>
            <p:ph type="sldNum" sz="quarter" idx="12"/>
          </p:nvPr>
        </p:nvSpPr>
        <p:spPr bwMode="auto"/>
        <p:txBody>
          <a:bodyPr/>
          <a:p>
            <a:pPr lvl="0">
              <a:defRPr/>
            </a:pPr>
            <a:fld id="{9A0DB2DC-4C9A-4742-B13C-FB6460FD3503}" type="slidenum">
              <a:rPr lang="zh-CN" strike="noStrike">
                <a:latin typeface="Arial"/>
                <a:ea typeface="SimSun"/>
                <a:cs typeface="+mn-ea"/>
              </a:rPr>
              <a:t/>
            </a:fld>
            <a:endParaRPr lang="zh-CN" strike="noStrik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168948552" name="Title 1"/>
          <p:cNvSpPr>
            <a:spLocks noGrp="1"/>
          </p:cNvSpPr>
          <p:nvPr>
            <p:ph type="title"/>
          </p:nvPr>
        </p:nvSpPr>
        <p:spPr bwMode="auto">
          <a:xfrm>
            <a:off x="629841" y="457200"/>
            <a:ext cx="2949178" cy="1600200"/>
          </a:xfrm>
        </p:spPr>
        <p:txBody>
          <a:bodyPr anchor="b"/>
          <a:lstStyle>
            <a:lvl1pPr>
              <a:defRPr sz="2400"/>
            </a:lvl1pPr>
          </a:lstStyle>
          <a:p>
            <a:pPr>
              <a:defRPr/>
            </a:pPr>
            <a:r>
              <a:rPr lang="en-US" strike="noStrike"/>
              <a:t>Click to edit Master title style</a:t>
            </a:r>
            <a:endParaRPr lang="en-US" strike="noStrike"/>
          </a:p>
        </p:txBody>
      </p:sp>
      <p:sp>
        <p:nvSpPr>
          <p:cNvPr id="402551887" name="Content Placeholder 2"/>
          <p:cNvSpPr>
            <a:spLocks noGrp="1"/>
          </p:cNvSpPr>
          <p:nvPr>
            <p:ph idx="1"/>
          </p:nvPr>
        </p:nvSpPr>
        <p:spPr bwMode="auto">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defRPr/>
            </a:pPr>
            <a:r>
              <a:rPr lang="en-US" strike="noStrike"/>
              <a:t>Click to edit Master text styles</a:t>
            </a:r>
            <a:endParaRPr lang="en-US" strike="noStrike"/>
          </a:p>
          <a:p>
            <a:pPr lvl="1">
              <a:defRPr/>
            </a:pPr>
            <a:r>
              <a:rPr lang="en-US" strike="noStrike"/>
              <a:t>Second level</a:t>
            </a:r>
            <a:endParaRPr lang="en-US" strike="noStrike"/>
          </a:p>
          <a:p>
            <a:pPr lvl="2">
              <a:defRPr/>
            </a:pPr>
            <a:r>
              <a:rPr lang="en-US" strike="noStrike"/>
              <a:t>Third level</a:t>
            </a:r>
            <a:endParaRPr lang="en-US" strike="noStrike"/>
          </a:p>
          <a:p>
            <a:pPr lvl="3">
              <a:defRPr/>
            </a:pPr>
            <a:r>
              <a:rPr lang="en-US" strike="noStrike"/>
              <a:t>Fourth level</a:t>
            </a:r>
            <a:endParaRPr lang="en-US" strike="noStrike"/>
          </a:p>
          <a:p>
            <a:pPr lvl="4">
              <a:defRPr/>
            </a:pPr>
            <a:r>
              <a:rPr lang="en-US" strike="noStrike"/>
              <a:t>Fifth level</a:t>
            </a:r>
            <a:endParaRPr lang="en-US" strike="noStrike"/>
          </a:p>
        </p:txBody>
      </p:sp>
      <p:sp>
        <p:nvSpPr>
          <p:cNvPr id="1872366218" name="Text Placeholder 3"/>
          <p:cNvSpPr>
            <a:spLocks noGrp="1"/>
          </p:cNvSpPr>
          <p:nvPr>
            <p:ph type="body" sz="half" idx="2"/>
          </p:nvPr>
        </p:nvSpPr>
        <p:spPr bwMode="auto">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lang="en-US" strike="noStrike"/>
              <a:t>Click to edit Master text styles</a:t>
            </a:r>
            <a:endParaRPr lang="en-US" strike="noStrike"/>
          </a:p>
        </p:txBody>
      </p:sp>
      <p:sp>
        <p:nvSpPr>
          <p:cNvPr id="692919663" name="Date Placeholder 4"/>
          <p:cNvSpPr>
            <a:spLocks noGrp="1"/>
          </p:cNvSpPr>
          <p:nvPr>
            <p:ph type="dt" sz="half" idx="10"/>
          </p:nvPr>
        </p:nvSpPr>
        <p:spPr bwMode="auto"/>
        <p:txBody>
          <a:bodyPr/>
          <a:p>
            <a:pPr lvl="0">
              <a:defRPr/>
            </a:pPr>
            <a:endParaRPr lang="zh-CN" strike="noStrike"/>
          </a:p>
        </p:txBody>
      </p:sp>
      <p:sp>
        <p:nvSpPr>
          <p:cNvPr id="116955669" name="Footer Placeholder 5"/>
          <p:cNvSpPr>
            <a:spLocks noGrp="1"/>
          </p:cNvSpPr>
          <p:nvPr>
            <p:ph type="ftr" sz="quarter" idx="11"/>
          </p:nvPr>
        </p:nvSpPr>
        <p:spPr bwMode="auto"/>
        <p:txBody>
          <a:bodyPr/>
          <a:p>
            <a:pPr lvl="0">
              <a:defRPr/>
            </a:pPr>
            <a:endParaRPr lang="zh-CN" strike="noStrike"/>
          </a:p>
        </p:txBody>
      </p:sp>
      <p:sp>
        <p:nvSpPr>
          <p:cNvPr id="1963146915" name="Slide Number Placeholder 6"/>
          <p:cNvSpPr>
            <a:spLocks noGrp="1"/>
          </p:cNvSpPr>
          <p:nvPr>
            <p:ph type="sldNum" sz="quarter" idx="12"/>
          </p:nvPr>
        </p:nvSpPr>
        <p:spPr bwMode="auto"/>
        <p:txBody>
          <a:bodyPr/>
          <a:p>
            <a:pPr lvl="0">
              <a:defRPr/>
            </a:pPr>
            <a:fld id="{9A0DB2DC-4C9A-4742-B13C-FB6460FD3503}" type="slidenum">
              <a:rPr lang="zh-CN" strike="noStrike">
                <a:latin typeface="Arial"/>
                <a:ea typeface="SimSun"/>
                <a:cs typeface="+mn-ea"/>
              </a:rPr>
              <a:t/>
            </a:fld>
            <a:endParaRPr lang="zh-CN" strike="noStrik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129787301" name="Title 1"/>
          <p:cNvSpPr>
            <a:spLocks noGrp="1"/>
          </p:cNvSpPr>
          <p:nvPr>
            <p:ph type="title"/>
          </p:nvPr>
        </p:nvSpPr>
        <p:spPr bwMode="auto">
          <a:xfrm>
            <a:off x="629841" y="457200"/>
            <a:ext cx="2949178" cy="1600200"/>
          </a:xfrm>
        </p:spPr>
        <p:txBody>
          <a:bodyPr anchor="b"/>
          <a:lstStyle>
            <a:lvl1pPr>
              <a:defRPr sz="2400"/>
            </a:lvl1pPr>
          </a:lstStyle>
          <a:p>
            <a:pPr>
              <a:defRPr/>
            </a:pPr>
            <a:r>
              <a:rPr lang="en-US" strike="noStrike"/>
              <a:t>Click to edit Master title style</a:t>
            </a:r>
            <a:endParaRPr lang="en-US" strike="noStrike"/>
          </a:p>
        </p:txBody>
      </p:sp>
      <p:sp>
        <p:nvSpPr>
          <p:cNvPr id="752332499" name="Picture Placeholder 2"/>
          <p:cNvSpPr>
            <a:spLocks noGrp="1"/>
          </p:cNvSpPr>
          <p:nvPr>
            <p:ph type="pic" idx="1"/>
          </p:nvPr>
        </p:nvSpPr>
        <p:spPr bwMode="auto">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a:defRPr/>
            </a:pPr>
            <a:endParaRPr lang="en-US" strike="noStrike"/>
          </a:p>
        </p:txBody>
      </p:sp>
      <p:sp>
        <p:nvSpPr>
          <p:cNvPr id="617257992" name="Text Placeholder 3"/>
          <p:cNvSpPr>
            <a:spLocks noGrp="1"/>
          </p:cNvSpPr>
          <p:nvPr>
            <p:ph type="body" sz="half" idx="2"/>
          </p:nvPr>
        </p:nvSpPr>
        <p:spPr bwMode="auto">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lang="en-US" strike="noStrike"/>
              <a:t>Click to edit Master text styles</a:t>
            </a:r>
            <a:endParaRPr lang="en-US" strike="noStrike"/>
          </a:p>
        </p:txBody>
      </p:sp>
      <p:sp>
        <p:nvSpPr>
          <p:cNvPr id="462637951" name="Date Placeholder 4"/>
          <p:cNvSpPr>
            <a:spLocks noGrp="1"/>
          </p:cNvSpPr>
          <p:nvPr>
            <p:ph type="dt" sz="half" idx="10"/>
          </p:nvPr>
        </p:nvSpPr>
        <p:spPr bwMode="auto"/>
        <p:txBody>
          <a:bodyPr/>
          <a:p>
            <a:pPr lvl="0">
              <a:defRPr/>
            </a:pPr>
            <a:endParaRPr lang="zh-CN" strike="noStrike"/>
          </a:p>
        </p:txBody>
      </p:sp>
      <p:sp>
        <p:nvSpPr>
          <p:cNvPr id="1700423542" name="Footer Placeholder 5"/>
          <p:cNvSpPr>
            <a:spLocks noGrp="1"/>
          </p:cNvSpPr>
          <p:nvPr>
            <p:ph type="ftr" sz="quarter" idx="11"/>
          </p:nvPr>
        </p:nvSpPr>
        <p:spPr bwMode="auto"/>
        <p:txBody>
          <a:bodyPr/>
          <a:p>
            <a:pPr lvl="0">
              <a:defRPr/>
            </a:pPr>
            <a:endParaRPr lang="zh-CN" strike="noStrike"/>
          </a:p>
        </p:txBody>
      </p:sp>
      <p:sp>
        <p:nvSpPr>
          <p:cNvPr id="1406616617" name="Slide Number Placeholder 6"/>
          <p:cNvSpPr>
            <a:spLocks noGrp="1"/>
          </p:cNvSpPr>
          <p:nvPr>
            <p:ph type="sldNum" sz="quarter" idx="12"/>
          </p:nvPr>
        </p:nvSpPr>
        <p:spPr bwMode="auto"/>
        <p:txBody>
          <a:bodyPr/>
          <a:p>
            <a:pPr lvl="0">
              <a:defRPr/>
            </a:pPr>
            <a:fld id="{9A0DB2DC-4C9A-4742-B13C-FB6460FD3503}" type="slidenum">
              <a:rPr lang="zh-CN" strike="noStrike">
                <a:latin typeface="Arial"/>
                <a:ea typeface="SimSun"/>
                <a:cs typeface="+mn-ea"/>
              </a:rPr>
              <a:t/>
            </a:fld>
            <a:endParaRPr lang="zh-CN" strike="noStrik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11546787" name="Title 1"/>
          <p:cNvSpPr>
            <a:spLocks noGrp="1"/>
          </p:cNvSpPr>
          <p:nvPr>
            <p:ph type="title"/>
          </p:nvPr>
        </p:nvSpPr>
        <p:spPr bwMode="auto"/>
        <p:txBody>
          <a:bodyPr/>
          <a:lstStyle/>
          <a:p>
            <a:pPr>
              <a:defRPr/>
            </a:pPr>
            <a:r>
              <a:rPr lang="en-US" strike="noStrike"/>
              <a:t>Click to edit Master title style</a:t>
            </a:r>
            <a:endParaRPr lang="en-US" strike="noStrike"/>
          </a:p>
        </p:txBody>
      </p:sp>
      <p:sp>
        <p:nvSpPr>
          <p:cNvPr id="2082607975" name="Vertical Text Placeholder 2"/>
          <p:cNvSpPr>
            <a:spLocks noGrp="1"/>
          </p:cNvSpPr>
          <p:nvPr>
            <p:ph type="body" orient="vert" idx="1"/>
          </p:nvPr>
        </p:nvSpPr>
        <p:spPr bwMode="auto"/>
        <p:txBody>
          <a:bodyPr vert="eaVert"/>
          <a:lstStyle/>
          <a:p>
            <a:pPr lvl="0">
              <a:defRPr/>
            </a:pPr>
            <a:r>
              <a:rPr lang="en-US" strike="noStrike"/>
              <a:t>Click to edit Master text styles</a:t>
            </a:r>
            <a:endParaRPr lang="en-US" strike="noStrike"/>
          </a:p>
          <a:p>
            <a:pPr lvl="1">
              <a:defRPr/>
            </a:pPr>
            <a:r>
              <a:rPr lang="en-US" strike="noStrike"/>
              <a:t>Second level</a:t>
            </a:r>
            <a:endParaRPr lang="en-US" strike="noStrike"/>
          </a:p>
          <a:p>
            <a:pPr lvl="2">
              <a:defRPr/>
            </a:pPr>
            <a:r>
              <a:rPr lang="en-US" strike="noStrike"/>
              <a:t>Third level</a:t>
            </a:r>
            <a:endParaRPr lang="en-US" strike="noStrike"/>
          </a:p>
          <a:p>
            <a:pPr lvl="3">
              <a:defRPr/>
            </a:pPr>
            <a:r>
              <a:rPr lang="en-US" strike="noStrike"/>
              <a:t>Fourth level</a:t>
            </a:r>
            <a:endParaRPr lang="en-US" strike="noStrike"/>
          </a:p>
          <a:p>
            <a:pPr lvl="4">
              <a:defRPr/>
            </a:pPr>
            <a:r>
              <a:rPr lang="en-US" strike="noStrike"/>
              <a:t>Fifth level</a:t>
            </a:r>
            <a:endParaRPr lang="en-US" strike="noStrike"/>
          </a:p>
        </p:txBody>
      </p:sp>
      <p:sp>
        <p:nvSpPr>
          <p:cNvPr id="186055051" name="Date Placeholder 3"/>
          <p:cNvSpPr>
            <a:spLocks noGrp="1"/>
          </p:cNvSpPr>
          <p:nvPr>
            <p:ph type="dt" sz="half" idx="10"/>
          </p:nvPr>
        </p:nvSpPr>
        <p:spPr bwMode="auto"/>
        <p:txBody>
          <a:bodyPr/>
          <a:p>
            <a:pPr lvl="0">
              <a:defRPr/>
            </a:pPr>
            <a:endParaRPr lang="zh-CN" strike="noStrike"/>
          </a:p>
        </p:txBody>
      </p:sp>
      <p:sp>
        <p:nvSpPr>
          <p:cNvPr id="711976352" name="Footer Placeholder 4"/>
          <p:cNvSpPr>
            <a:spLocks noGrp="1"/>
          </p:cNvSpPr>
          <p:nvPr>
            <p:ph type="ftr" sz="quarter" idx="11"/>
          </p:nvPr>
        </p:nvSpPr>
        <p:spPr bwMode="auto"/>
        <p:txBody>
          <a:bodyPr/>
          <a:p>
            <a:pPr lvl="0">
              <a:defRPr/>
            </a:pPr>
            <a:endParaRPr lang="zh-CN" strike="noStrike"/>
          </a:p>
        </p:txBody>
      </p:sp>
      <p:sp>
        <p:nvSpPr>
          <p:cNvPr id="232335353" name="Slide Number Placeholder 5"/>
          <p:cNvSpPr>
            <a:spLocks noGrp="1"/>
          </p:cNvSpPr>
          <p:nvPr>
            <p:ph type="sldNum" sz="quarter" idx="12"/>
          </p:nvPr>
        </p:nvSpPr>
        <p:spPr bwMode="auto"/>
        <p:txBody>
          <a:bodyPr/>
          <a:p>
            <a:pPr lvl="0">
              <a:defRPr/>
            </a:pPr>
            <a:fld id="{9A0DB2DC-4C9A-4742-B13C-FB6460FD3503}" type="slidenum">
              <a:rPr lang="zh-CN" strike="noStrike">
                <a:latin typeface="Arial"/>
                <a:ea typeface="SimSun"/>
                <a:cs typeface="+mn-ea"/>
              </a:rPr>
              <a:t/>
            </a:fld>
            <a:endParaRPr lang="zh-CN" strike="noStrik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833817302" name="Vertical Title 1"/>
          <p:cNvSpPr>
            <a:spLocks noGrp="1"/>
          </p:cNvSpPr>
          <p:nvPr>
            <p:ph type="title" orient="vert"/>
          </p:nvPr>
        </p:nvSpPr>
        <p:spPr bwMode="auto">
          <a:xfrm>
            <a:off x="6629400" y="274638"/>
            <a:ext cx="2057400" cy="5853112"/>
          </a:xfrm>
        </p:spPr>
        <p:txBody>
          <a:bodyPr vert="eaVert"/>
          <a:lstStyle/>
          <a:p>
            <a:pPr>
              <a:defRPr/>
            </a:pPr>
            <a:r>
              <a:rPr lang="en-US" strike="noStrike"/>
              <a:t>Click to edit Master title style</a:t>
            </a:r>
            <a:endParaRPr lang="en-US" strike="noStrike"/>
          </a:p>
        </p:txBody>
      </p:sp>
      <p:sp>
        <p:nvSpPr>
          <p:cNvPr id="234510407" name="Vertical Text Placeholder 2"/>
          <p:cNvSpPr>
            <a:spLocks noGrp="1"/>
          </p:cNvSpPr>
          <p:nvPr>
            <p:ph type="body" orient="vert" idx="1"/>
          </p:nvPr>
        </p:nvSpPr>
        <p:spPr bwMode="auto">
          <a:xfrm>
            <a:off x="457200" y="274638"/>
            <a:ext cx="6052930" cy="5853112"/>
          </a:xfrm>
        </p:spPr>
        <p:txBody>
          <a:bodyPr vert="eaVert"/>
          <a:lstStyle/>
          <a:p>
            <a:pPr lvl="0">
              <a:defRPr/>
            </a:pPr>
            <a:r>
              <a:rPr lang="en-US" strike="noStrike"/>
              <a:t>Click to edit Master text styles</a:t>
            </a:r>
            <a:endParaRPr lang="en-US" strike="noStrike"/>
          </a:p>
          <a:p>
            <a:pPr lvl="1">
              <a:defRPr/>
            </a:pPr>
            <a:r>
              <a:rPr lang="en-US" strike="noStrike"/>
              <a:t>Second level</a:t>
            </a:r>
            <a:endParaRPr lang="en-US" strike="noStrike"/>
          </a:p>
          <a:p>
            <a:pPr lvl="2">
              <a:defRPr/>
            </a:pPr>
            <a:r>
              <a:rPr lang="en-US" strike="noStrike"/>
              <a:t>Third level</a:t>
            </a:r>
            <a:endParaRPr lang="en-US" strike="noStrike"/>
          </a:p>
          <a:p>
            <a:pPr lvl="3">
              <a:defRPr/>
            </a:pPr>
            <a:r>
              <a:rPr lang="en-US" strike="noStrike"/>
              <a:t>Fourth level</a:t>
            </a:r>
            <a:endParaRPr lang="en-US" strike="noStrike"/>
          </a:p>
          <a:p>
            <a:pPr lvl="4">
              <a:defRPr/>
            </a:pPr>
            <a:r>
              <a:rPr lang="en-US" strike="noStrike"/>
              <a:t>Fifth level</a:t>
            </a:r>
            <a:endParaRPr lang="en-US" strike="noStrike"/>
          </a:p>
        </p:txBody>
      </p:sp>
      <p:sp>
        <p:nvSpPr>
          <p:cNvPr id="584610760" name="Date Placeholder 3"/>
          <p:cNvSpPr>
            <a:spLocks noGrp="1"/>
          </p:cNvSpPr>
          <p:nvPr>
            <p:ph type="dt" sz="half" idx="10"/>
          </p:nvPr>
        </p:nvSpPr>
        <p:spPr bwMode="auto"/>
        <p:txBody>
          <a:bodyPr/>
          <a:p>
            <a:pPr lvl="0">
              <a:defRPr/>
            </a:pPr>
            <a:endParaRPr lang="zh-CN" strike="noStrike"/>
          </a:p>
        </p:txBody>
      </p:sp>
      <p:sp>
        <p:nvSpPr>
          <p:cNvPr id="1547765027" name="Footer Placeholder 4"/>
          <p:cNvSpPr>
            <a:spLocks noGrp="1"/>
          </p:cNvSpPr>
          <p:nvPr>
            <p:ph type="ftr" sz="quarter" idx="11"/>
          </p:nvPr>
        </p:nvSpPr>
        <p:spPr bwMode="auto"/>
        <p:txBody>
          <a:bodyPr/>
          <a:p>
            <a:pPr lvl="0">
              <a:defRPr/>
            </a:pPr>
            <a:endParaRPr lang="zh-CN" strike="noStrike"/>
          </a:p>
        </p:txBody>
      </p:sp>
      <p:sp>
        <p:nvSpPr>
          <p:cNvPr id="882042469" name="Slide Number Placeholder 5"/>
          <p:cNvSpPr>
            <a:spLocks noGrp="1"/>
          </p:cNvSpPr>
          <p:nvPr>
            <p:ph type="sldNum" sz="quarter" idx="12"/>
          </p:nvPr>
        </p:nvSpPr>
        <p:spPr bwMode="auto"/>
        <p:txBody>
          <a:bodyPr/>
          <a:p>
            <a:pPr lvl="0">
              <a:defRPr/>
            </a:pPr>
            <a:fld id="{9A0DB2DC-4C9A-4742-B13C-FB6460FD3503}" type="slidenum">
              <a:rPr lang="zh-CN" strike="noStrike">
                <a:latin typeface="Arial"/>
                <a:ea typeface="SimSun"/>
                <a:cs typeface="+mn-ea"/>
              </a:rPr>
              <a:t/>
            </a:fld>
            <a:endParaRPr lang="zh-CN" strike="noStrik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xAndClipArt" userDrawn="1">
  <p:cSld name="Title, Text and Clip Art">
    <p:spTree>
      <p:nvGrpSpPr>
        <p:cNvPr id="1" name=""/>
        <p:cNvGrpSpPr/>
        <p:nvPr/>
      </p:nvGrpSpPr>
      <p:grpSpPr bwMode="auto">
        <a:xfrm>
          <a:off x="0" y="0"/>
          <a:ext cx="0" cy="0"/>
          <a:chOff x="0" y="0"/>
          <a:chExt cx="0" cy="0"/>
        </a:xfrm>
      </p:grpSpPr>
      <p:sp>
        <p:nvSpPr>
          <p:cNvPr id="66601603" name="Title 1"/>
          <p:cNvSpPr>
            <a:spLocks noGrp="1"/>
          </p:cNvSpPr>
          <p:nvPr>
            <p:ph type="title"/>
          </p:nvPr>
        </p:nvSpPr>
        <p:spPr bwMode="auto">
          <a:xfrm>
            <a:off x="685800" y="609600"/>
            <a:ext cx="7772400" cy="1143000"/>
          </a:xfrm>
        </p:spPr>
        <p:txBody>
          <a:bodyPr/>
          <a:lstStyle/>
          <a:p>
            <a:pPr>
              <a:defRPr/>
            </a:pPr>
            <a:r>
              <a:rPr lang="en-US"/>
              <a:t>Click to edit Master title style</a:t>
            </a:r>
            <a:endParaRPr lang="en-US"/>
          </a:p>
        </p:txBody>
      </p:sp>
      <p:sp>
        <p:nvSpPr>
          <p:cNvPr id="1414933825" name="Text Placeholder 2"/>
          <p:cNvSpPr>
            <a:spLocks noGrp="1"/>
          </p:cNvSpPr>
          <p:nvPr>
            <p:ph type="body" sz="half" idx="1"/>
          </p:nvPr>
        </p:nvSpPr>
        <p:spPr bwMode="auto">
          <a:xfrm>
            <a:off x="685800" y="1981200"/>
            <a:ext cx="3810000" cy="4114800"/>
          </a:xfrm>
        </p:spPr>
        <p:txBody>
          <a:bodyPr/>
          <a:lstStyle/>
          <a:p>
            <a:pPr lvl="0">
              <a:defRPr/>
            </a:pPr>
            <a:r>
              <a:rPr lang="en-US"/>
              <a:t>Click to edit Master text styles</a:t>
            </a:r>
            <a:endParaRPr lang="en-US"/>
          </a:p>
          <a:p>
            <a:pPr lvl="1">
              <a:defRPr/>
            </a:pPr>
            <a:r>
              <a:rPr lang="en-US"/>
              <a:t>Second level</a:t>
            </a:r>
            <a:endParaRPr lang="en-US"/>
          </a:p>
          <a:p>
            <a:pPr lvl="2">
              <a:defRPr/>
            </a:pPr>
            <a:r>
              <a:rPr lang="en-US"/>
              <a:t>Third level</a:t>
            </a:r>
            <a:endParaRPr lang="en-US"/>
          </a:p>
          <a:p>
            <a:pPr lvl="3">
              <a:defRPr/>
            </a:pPr>
            <a:r>
              <a:rPr lang="en-US"/>
              <a:t>Fourth level</a:t>
            </a:r>
            <a:endParaRPr lang="en-US"/>
          </a:p>
          <a:p>
            <a:pPr lvl="4">
              <a:defRPr/>
            </a:pPr>
            <a:r>
              <a:rPr lang="en-US"/>
              <a:t>Fifth level</a:t>
            </a:r>
            <a:endParaRPr lang="en-US"/>
          </a:p>
        </p:txBody>
      </p:sp>
      <p:sp>
        <p:nvSpPr>
          <p:cNvPr id="1042947580" name="ClipArt Placeholder 3"/>
          <p:cNvSpPr>
            <a:spLocks noGrp="1"/>
          </p:cNvSpPr>
          <p:nvPr>
            <p:ph type="clipArt" sz="half" idx="2"/>
          </p:nvPr>
        </p:nvSpPr>
        <p:spPr bwMode="auto">
          <a:xfrm>
            <a:off x="4648200" y="1981200"/>
            <a:ext cx="3810000" cy="4114800"/>
          </a:xfrm>
        </p:spPr>
        <p:txBody>
          <a:bodyPr vert="horz" wrap="square" lIns="91440" tIns="45720" rIns="91440" bIns="45720" numCol="1" anchor="t" anchorCtr="0" compatLnSpc="1"/>
          <a:lstStyle/>
          <a:p>
            <a:pPr marL="419100" marR="0" lvl="0" indent="-382905" algn="l" defTabSz="914400" rtl="0">
              <a:lnSpc>
                <a:spcPct val="100000"/>
              </a:lnSpc>
              <a:spcBef>
                <a:spcPts val="0"/>
              </a:spcBef>
              <a:spcAft>
                <a:spcPts val="0"/>
              </a:spcAft>
              <a:buClr>
                <a:schemeClr val="accent1"/>
              </a:buClr>
              <a:buSzPct val="80000"/>
              <a:buFont typeface="Wingdings 2"/>
              <a:buChar char=""/>
              <a:defRPr/>
            </a:pPr>
            <a:endParaRPr lang="en-US" sz="3000" b="0" i="0" u="none" strike="noStrike" cap="none" spc="0">
              <a:ln>
                <a:noFill/>
              </a:ln>
              <a:solidFill>
                <a:schemeClr val="tx1"/>
              </a:solidFill>
              <a:latin typeface="+mn-lt"/>
              <a:ea typeface="+mn-ea"/>
              <a:cs typeface="+mn-cs"/>
            </a:endParaRPr>
          </a:p>
        </p:txBody>
      </p:sp>
      <p:sp>
        <p:nvSpPr>
          <p:cNvPr id="1822411085" name="Date Placeholder 4"/>
          <p:cNvSpPr>
            <a:spLocks noGrp="1"/>
          </p:cNvSpPr>
          <p:nvPr>
            <p:ph type="dt" sz="half" idx="12"/>
          </p:nvPr>
        </p:nvSpPr>
        <p:spPr bwMode="auto">
          <a:xfrm>
            <a:off x="685800" y="6248400"/>
            <a:ext cx="1905000" cy="457200"/>
          </a:xfrm>
          <a:prstGeom prst="rect">
            <a:avLst/>
          </a:prstGeom>
        </p:spPr>
        <p:txBody>
          <a:bodyPr vert="horz" bIns="0" anchor="b"/>
          <a:lstStyle>
            <a:lvl1pPr>
              <a:defRPr/>
            </a:lvl1pPr>
          </a:lstStyle>
          <a:p>
            <a:pPr marL="0" marR="0" lvl="0" indent="0" algn="l" defTabSz="914400" rtl="0">
              <a:lnSpc>
                <a:spcPct val="100000"/>
              </a:lnSpc>
              <a:spcBef>
                <a:spcPts val="0"/>
              </a:spcBef>
              <a:spcAft>
                <a:spcPts val="0"/>
              </a:spcAft>
              <a:buClrTx/>
              <a:buSzTx/>
              <a:buFontTx/>
              <a:buNone/>
              <a:defRPr/>
            </a:pPr>
            <a:endParaRPr lang="en-US" sz="1000" b="0" i="0" u="none" strike="noStrike" cap="none" spc="0">
              <a:ln>
                <a:noFill/>
              </a:ln>
              <a:solidFill>
                <a:schemeClr val="tx2">
                  <a:shade val="50000"/>
                </a:schemeClr>
              </a:solidFill>
              <a:latin typeface="Arial"/>
              <a:ea typeface="+mn-ea"/>
              <a:cs typeface="+mn-cs"/>
            </a:endParaRPr>
          </a:p>
        </p:txBody>
      </p:sp>
      <p:sp>
        <p:nvSpPr>
          <p:cNvPr id="2023526662" name="Footer Placeholder 5"/>
          <p:cNvSpPr>
            <a:spLocks noGrp="1"/>
          </p:cNvSpPr>
          <p:nvPr>
            <p:ph type="ftr" sz="quarter" idx="3"/>
          </p:nvPr>
        </p:nvSpPr>
        <p:spPr bwMode="auto">
          <a:xfrm>
            <a:off x="3124200" y="6248400"/>
            <a:ext cx="2895600" cy="457200"/>
          </a:xfrm>
          <a:prstGeom prst="rect">
            <a:avLst/>
          </a:prstGeom>
        </p:spPr>
        <p:txBody>
          <a:bodyPr vert="horz" lIns="0" rIns="0" bIns="0" anchor="b"/>
          <a:lstStyle>
            <a:lvl1pPr>
              <a:defRPr/>
            </a:lvl1pPr>
          </a:lstStyle>
          <a:p>
            <a:pPr marL="0" marR="0" lvl="0" indent="0" algn="ctr" defTabSz="914400" rtl="0">
              <a:lnSpc>
                <a:spcPct val="100000"/>
              </a:lnSpc>
              <a:spcBef>
                <a:spcPts val="0"/>
              </a:spcBef>
              <a:spcAft>
                <a:spcPts val="0"/>
              </a:spcAft>
              <a:buClrTx/>
              <a:buSzTx/>
              <a:buFontTx/>
              <a:buNone/>
              <a:defRPr/>
            </a:pPr>
            <a:endParaRPr lang="en-US" sz="1000" b="0" i="0" u="none" strike="noStrike" cap="none" spc="0">
              <a:ln>
                <a:noFill/>
              </a:ln>
              <a:solidFill>
                <a:schemeClr val="tx2">
                  <a:shade val="50000"/>
                </a:schemeClr>
              </a:solidFill>
              <a:latin typeface="Arial"/>
              <a:ea typeface="+mn-ea"/>
              <a:cs typeface="+mn-cs"/>
            </a:endParaRPr>
          </a:p>
        </p:txBody>
      </p:sp>
      <p:sp>
        <p:nvSpPr>
          <p:cNvPr id="315287169" name="Slide Number Placeholder 6"/>
          <p:cNvSpPr>
            <a:spLocks noGrp="1"/>
          </p:cNvSpPr>
          <p:nvPr>
            <p:ph type="sldNum" sz="quarter" idx="4"/>
          </p:nvPr>
        </p:nvSpPr>
        <p:spPr bwMode="auto">
          <a:xfrm>
            <a:off x="6553200" y="6248400"/>
            <a:ext cx="1905000" cy="457200"/>
          </a:xfrm>
          <a:prstGeom prst="rect">
            <a:avLst/>
          </a:prstGeom>
        </p:spPr>
        <p:txBody>
          <a:bodyPr vert="horz" lIns="0" tIns="0" rIns="0" bIns="0" anchor="b"/>
          <a:p>
            <a:pPr algn="r">
              <a:defRPr/>
            </a:pPr>
            <a:fld id="{9A0DB2DC-4C9A-4742-B13C-FB6460FD3503}" type="slidenum">
              <a:rPr lang="en-US"/>
              <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Pr shadeToTitle="0">
        <a:solidFill>
          <a:schemeClr val="bg1"/>
        </a:solidFill>
      </p:bgPr>
    </p:bg>
    <p:spTree>
      <p:nvGrpSpPr>
        <p:cNvPr id="1" name=""/>
        <p:cNvGrpSpPr/>
        <p:nvPr/>
      </p:nvGrpSpPr>
      <p:grpSpPr bwMode="auto">
        <a:xfrm>
          <a:off x="0" y="0"/>
          <a:ext cx="0" cy="0"/>
          <a:chOff x="0" y="0"/>
          <a:chExt cx="0" cy="0"/>
        </a:xfrm>
      </p:grpSpPr>
      <p:pic>
        <p:nvPicPr>
          <p:cNvPr id="1494752792" name="Picture 2"/>
          <p:cNvPicPr>
            <a:picLocks noChangeAspect="1"/>
          </p:cNvPicPr>
          <p:nvPr/>
        </p:nvPicPr>
        <p:blipFill rotWithShape="1">
          <a:blip r:embed="rId14"/>
          <a:stretch/>
        </p:blipFill>
        <p:spPr bwMode="auto">
          <a:xfrm>
            <a:off x="0" y="0"/>
            <a:ext cx="9159875" cy="6870700"/>
          </a:xfrm>
          <a:prstGeom prst="rect">
            <a:avLst/>
          </a:prstGeom>
          <a:noFill/>
          <a:ln w="9525">
            <a:noFill/>
          </a:ln>
        </p:spPr>
      </p:pic>
      <p:sp>
        <p:nvSpPr>
          <p:cNvPr id="1743176511" name="Title 1026"/>
          <p:cNvSpPr>
            <a:spLocks noGrp="1"/>
          </p:cNvSpPr>
          <p:nvPr>
            <p:ph type="title"/>
          </p:nvPr>
        </p:nvSpPr>
        <p:spPr bwMode="auto">
          <a:xfrm>
            <a:off x="457200" y="274638"/>
            <a:ext cx="8229600" cy="806450"/>
          </a:xfrm>
          <a:prstGeom prst="rect">
            <a:avLst/>
          </a:prstGeom>
          <a:noFill/>
          <a:ln w="9525">
            <a:noFill/>
          </a:ln>
        </p:spPr>
        <p:txBody>
          <a:bodyPr anchor="ctr"/>
          <a:p>
            <a:pPr lvl="0">
              <a:defRPr/>
            </a:pPr>
            <a:r>
              <a:rPr lang="en-US"/>
              <a:t>Click to edit Master title style</a:t>
            </a:r>
            <a:endParaRPr lang="en-US"/>
          </a:p>
        </p:txBody>
      </p:sp>
      <p:sp>
        <p:nvSpPr>
          <p:cNvPr id="602548137" name="Text Placeholder 1027"/>
          <p:cNvSpPr>
            <a:spLocks noGrp="1"/>
          </p:cNvSpPr>
          <p:nvPr>
            <p:ph type="body"/>
          </p:nvPr>
        </p:nvSpPr>
        <p:spPr bwMode="auto">
          <a:xfrm>
            <a:off x="457200" y="1174750"/>
            <a:ext cx="8229600" cy="4953000"/>
          </a:xfrm>
          <a:prstGeom prst="rect">
            <a:avLst/>
          </a:prstGeom>
          <a:noFill/>
          <a:ln w="9525">
            <a:noFill/>
          </a:ln>
        </p:spPr>
        <p:txBody>
          <a:bodyPr anchor="t"/>
          <a:p>
            <a:pPr lvl="0">
              <a:defRPr/>
            </a:pPr>
            <a:r>
              <a:rPr lang="en-US"/>
              <a:t>Click to edit Master text styles</a:t>
            </a:r>
            <a:endParaRPr lang="en-US"/>
          </a:p>
          <a:p>
            <a:pPr lvl="1" indent="-285750">
              <a:defRPr/>
            </a:pPr>
            <a:r>
              <a:rPr lang="en-US"/>
              <a:t>Second level</a:t>
            </a:r>
            <a:endParaRPr lang="en-US"/>
          </a:p>
          <a:p>
            <a:pPr lvl="2" indent="-228600">
              <a:defRPr/>
            </a:pPr>
            <a:r>
              <a:rPr lang="en-US"/>
              <a:t>Third level</a:t>
            </a:r>
            <a:endParaRPr lang="en-US"/>
          </a:p>
          <a:p>
            <a:pPr lvl="3" indent="-228600">
              <a:defRPr/>
            </a:pPr>
            <a:r>
              <a:rPr lang="en-US"/>
              <a:t>Fourth level</a:t>
            </a:r>
            <a:endParaRPr lang="en-US"/>
          </a:p>
          <a:p>
            <a:pPr lvl="4" indent="-228600">
              <a:defRPr/>
            </a:pPr>
            <a:r>
              <a:rPr lang="en-US"/>
              <a:t>Fifth level</a:t>
            </a:r>
            <a:endParaRPr lang="en-US"/>
          </a:p>
        </p:txBody>
      </p:sp>
      <p:sp>
        <p:nvSpPr>
          <p:cNvPr id="906270438" name="Date Placeholder 1028"/>
          <p:cNvSpPr>
            <a:spLocks noGrp="1"/>
          </p:cNvSpPr>
          <p:nvPr>
            <p:ph type="dt" sz="half" idx="2"/>
          </p:nvPr>
        </p:nvSpPr>
        <p:spPr bwMode="auto">
          <a:xfrm>
            <a:off x="457200" y="6245225"/>
            <a:ext cx="2133600" cy="476250"/>
          </a:xfrm>
          <a:prstGeom prst="rect">
            <a:avLst/>
          </a:prstGeom>
          <a:noFill/>
          <a:ln w="9525">
            <a:noFill/>
            <a:miter/>
          </a:ln>
        </p:spPr>
        <p:txBody>
          <a:bodyPr/>
          <a:lstStyle>
            <a:lvl1pPr>
              <a:defRPr sz="1400"/>
            </a:lvl1pPr>
          </a:lstStyle>
          <a:p>
            <a:pPr lvl="0">
              <a:defRPr/>
            </a:pPr>
            <a:endParaRPr lang="zh-CN" strike="noStrike"/>
          </a:p>
        </p:txBody>
      </p:sp>
      <p:sp>
        <p:nvSpPr>
          <p:cNvPr id="442409553" name="Footer Placeholder 1029"/>
          <p:cNvSpPr>
            <a:spLocks noGrp="1"/>
          </p:cNvSpPr>
          <p:nvPr>
            <p:ph type="ftr" sz="quarter" idx="3"/>
          </p:nvPr>
        </p:nvSpPr>
        <p:spPr bwMode="auto">
          <a:xfrm>
            <a:off x="3124200" y="6245225"/>
            <a:ext cx="2895600" cy="476250"/>
          </a:xfrm>
          <a:prstGeom prst="rect">
            <a:avLst/>
          </a:prstGeom>
          <a:noFill/>
          <a:ln w="9525">
            <a:noFill/>
            <a:miter/>
          </a:ln>
        </p:spPr>
        <p:txBody>
          <a:bodyPr/>
          <a:lstStyle>
            <a:lvl1pPr algn="ctr">
              <a:defRPr sz="1400"/>
            </a:lvl1pPr>
          </a:lstStyle>
          <a:p>
            <a:pPr lvl="0">
              <a:defRPr/>
            </a:pPr>
            <a:endParaRPr lang="zh-CN" strike="noStrike"/>
          </a:p>
        </p:txBody>
      </p:sp>
      <p:sp>
        <p:nvSpPr>
          <p:cNvPr id="1233323693" name="Slide Number Placeholder 1030"/>
          <p:cNvSpPr>
            <a:spLocks noGrp="1"/>
          </p:cNvSpPr>
          <p:nvPr>
            <p:ph type="sldNum" sz="quarter" idx="4"/>
          </p:nvPr>
        </p:nvSpPr>
        <p:spPr bwMode="auto">
          <a:xfrm>
            <a:off x="6553200" y="6245225"/>
            <a:ext cx="2133600" cy="476250"/>
          </a:xfrm>
          <a:prstGeom prst="rect">
            <a:avLst/>
          </a:prstGeom>
          <a:noFill/>
          <a:ln w="9525">
            <a:noFill/>
            <a:miter/>
          </a:ln>
        </p:spPr>
        <p:txBody>
          <a:bodyPr/>
          <a:lstStyle>
            <a:lvl1pPr algn="r">
              <a:defRPr sz="1400"/>
            </a:lvl1pPr>
          </a:lstStyle>
          <a:p>
            <a:pPr lvl="0">
              <a:defRPr/>
            </a:pPr>
            <a:fld id="{9A0DB2DC-4C9A-4742-B13C-FB6460FD3503}" type="slidenum">
              <a:rPr lang="zh-CN" strike="noStrike">
                <a:latin typeface="Arial"/>
                <a:ea typeface="SimSun"/>
                <a:cs typeface="+mn-ea"/>
              </a:rPr>
              <a:t/>
            </a:fld>
            <a:endParaRPr lang="zh-CN" strike="noStrik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lvl1pPr marL="0" lvl="0" indent="0" algn="l" defTabSz="914400">
        <a:lnSpc>
          <a:spcPct val="100000"/>
        </a:lnSpc>
        <a:spcBef>
          <a:spcPts val="0"/>
        </a:spcBef>
        <a:spcAft>
          <a:spcPts val="0"/>
        </a:spcAft>
        <a:buClr>
          <a:srgbClr val="000000"/>
        </a:buClr>
        <a:buNone/>
        <a:defRPr sz="3600" b="0" i="0" u="none">
          <a:solidFill>
            <a:schemeClr val="tx2"/>
          </a:solidFill>
          <a:latin typeface="+mj-lt"/>
          <a:ea typeface="+mj-ea"/>
          <a:cs typeface="+mj-cs"/>
        </a:defRPr>
      </a:lvl1pPr>
    </p:titleStyle>
    <p:bodyStyle>
      <a:lvl1pPr marL="342900" lvl="0" indent="-342900" algn="l" defTabSz="914400">
        <a:lnSpc>
          <a:spcPct val="100000"/>
        </a:lnSpc>
        <a:spcBef>
          <a:spcPts val="0"/>
        </a:spcBef>
        <a:spcAft>
          <a:spcPts val="0"/>
        </a:spcAft>
        <a:buChar char="•"/>
        <a:defRPr sz="3200" b="0" i="0" u="none">
          <a:solidFill>
            <a:schemeClr val="tx1"/>
          </a:solidFill>
          <a:latin typeface="+mn-lt"/>
          <a:ea typeface="+mn-ea"/>
          <a:cs typeface="+mn-cs"/>
        </a:defRPr>
      </a:lvl1pPr>
      <a:lvl2pPr marL="742950" lvl="1" indent="-285750" algn="l" defTabSz="914400">
        <a:lnSpc>
          <a:spcPct val="100000"/>
        </a:lnSpc>
        <a:spcBef>
          <a:spcPts val="0"/>
        </a:spcBef>
        <a:spcAft>
          <a:spcPts val="0"/>
        </a:spcAft>
        <a:buChar char="–"/>
        <a:defRPr sz="2800" b="0" i="0" u="none">
          <a:solidFill>
            <a:schemeClr val="tx1"/>
          </a:solidFill>
          <a:latin typeface="+mn-lt"/>
          <a:ea typeface="+mn-ea"/>
          <a:cs typeface="+mn-cs"/>
        </a:defRPr>
      </a:lvl2pPr>
      <a:lvl3pPr marL="1143000" lvl="2" indent="-228600" algn="l" defTabSz="914400">
        <a:lnSpc>
          <a:spcPct val="100000"/>
        </a:lnSpc>
        <a:spcBef>
          <a:spcPts val="0"/>
        </a:spcBef>
        <a:spcAft>
          <a:spcPts val="0"/>
        </a:spcAft>
        <a:buChar char="•"/>
        <a:defRPr sz="2400" b="0" i="0" u="none">
          <a:solidFill>
            <a:schemeClr val="tx1"/>
          </a:solidFill>
          <a:latin typeface="+mn-lt"/>
          <a:ea typeface="+mn-ea"/>
          <a:cs typeface="+mn-cs"/>
        </a:defRPr>
      </a:lvl3pPr>
      <a:lvl4pPr marL="1600200" lvl="3" indent="-228600" algn="l" defTabSz="914400">
        <a:lnSpc>
          <a:spcPct val="100000"/>
        </a:lnSpc>
        <a:spcBef>
          <a:spcPts val="0"/>
        </a:spcBef>
        <a:spcAft>
          <a:spcPts val="0"/>
        </a:spcAft>
        <a:buChar char="–"/>
        <a:defRPr sz="2000" b="0" i="0" u="none">
          <a:solidFill>
            <a:schemeClr val="tx1"/>
          </a:solidFill>
          <a:latin typeface="+mn-lt"/>
          <a:ea typeface="+mn-ea"/>
          <a:cs typeface="+mn-cs"/>
        </a:defRPr>
      </a:lvl4pPr>
      <a:lvl5pPr marL="2057400" lvl="4" indent="-228600" algn="l" defTabSz="914400">
        <a:lnSpc>
          <a:spcPct val="100000"/>
        </a:lnSpc>
        <a:spcBef>
          <a:spcPts val="0"/>
        </a:spcBef>
        <a:spcAft>
          <a:spcPts val="0"/>
        </a:spcAft>
        <a:buChar char="»"/>
        <a:defRPr sz="2000" b="0" i="0" u="none">
          <a:solidFill>
            <a:schemeClr val="tx1"/>
          </a:solidFill>
          <a:latin typeface="+mn-lt"/>
          <a:ea typeface="+mn-ea"/>
          <a:cs typeface="+mn-cs"/>
        </a:defRPr>
      </a:lvl5pPr>
      <a:lvl6pPr marL="2514600" lvl="5" indent="-228600" algn="l" defTabSz="914400">
        <a:lnSpc>
          <a:spcPct val="100000"/>
        </a:lnSpc>
        <a:spcBef>
          <a:spcPts val="0"/>
        </a:spcBef>
        <a:spcAft>
          <a:spcPts val="0"/>
        </a:spcAft>
        <a:buChar char="»"/>
        <a:defRPr sz="2000" b="0" i="0" u="none">
          <a:solidFill>
            <a:schemeClr val="tx1"/>
          </a:solidFill>
          <a:latin typeface="+mn-lt"/>
          <a:ea typeface="+mn-ea"/>
          <a:cs typeface="+mn-cs"/>
        </a:defRPr>
      </a:lvl6pPr>
      <a:lvl7pPr marL="2971800" lvl="6" indent="-228600" algn="l" defTabSz="914400">
        <a:lnSpc>
          <a:spcPct val="100000"/>
        </a:lnSpc>
        <a:spcBef>
          <a:spcPts val="0"/>
        </a:spcBef>
        <a:spcAft>
          <a:spcPts val="0"/>
        </a:spcAft>
        <a:buChar char="»"/>
        <a:defRPr sz="2000" b="0" i="0" u="none">
          <a:solidFill>
            <a:schemeClr val="tx1"/>
          </a:solidFill>
          <a:latin typeface="+mn-lt"/>
          <a:ea typeface="+mn-ea"/>
          <a:cs typeface="+mn-cs"/>
        </a:defRPr>
      </a:lvl7pPr>
      <a:lvl8pPr marL="3429000" lvl="7" indent="-228600" algn="l" defTabSz="914400">
        <a:lnSpc>
          <a:spcPct val="100000"/>
        </a:lnSpc>
        <a:spcBef>
          <a:spcPts val="0"/>
        </a:spcBef>
        <a:spcAft>
          <a:spcPts val="0"/>
        </a:spcAft>
        <a:buChar char="»"/>
        <a:defRPr sz="2000" b="0" i="0" u="none">
          <a:solidFill>
            <a:schemeClr val="tx1"/>
          </a:solidFill>
          <a:latin typeface="+mn-lt"/>
          <a:ea typeface="+mn-ea"/>
          <a:cs typeface="+mn-cs"/>
        </a:defRPr>
      </a:lvl8pPr>
      <a:lvl9pPr marL="3886200" lvl="8" indent="-228600" algn="l" defTabSz="914400">
        <a:lnSpc>
          <a:spcPct val="100000"/>
        </a:lnSpc>
        <a:spcBef>
          <a:spcPts val="0"/>
        </a:spcBef>
        <a:spcAft>
          <a:spcPts val="0"/>
        </a:spcAft>
        <a:buChar char="»"/>
        <a:defRPr sz="2000" b="0" i="0" u="none">
          <a:solidFill>
            <a:schemeClr val="tx1"/>
          </a:solidFill>
          <a:latin typeface="+mn-lt"/>
          <a:ea typeface="+mn-ea"/>
          <a:cs typeface="+mn-cs"/>
        </a:defRPr>
      </a:lvl9pPr>
    </p:bodyStyle>
    <p:otherStyle>
      <a:lvl1pPr marL="0" lvl="0" indent="0" algn="l" defTabSz="914400">
        <a:lnSpc>
          <a:spcPct val="100000"/>
        </a:lnSpc>
        <a:spcBef>
          <a:spcPts val="0"/>
        </a:spcBef>
        <a:spcAft>
          <a:spcPts val="0"/>
        </a:spcAft>
        <a:buNone/>
        <a:defRPr sz="1800" b="0" i="0" u="none">
          <a:solidFill>
            <a:schemeClr val="tx1"/>
          </a:solidFill>
          <a:latin typeface="+mn-lt"/>
          <a:ea typeface="+mn-ea"/>
          <a:cs typeface="+mn-cs"/>
        </a:defRPr>
      </a:lvl1pPr>
      <a:lvl2pPr marL="457200" lvl="1" indent="0" algn="l" defTabSz="914400">
        <a:lnSpc>
          <a:spcPct val="100000"/>
        </a:lnSpc>
        <a:spcBef>
          <a:spcPts val="0"/>
        </a:spcBef>
        <a:spcAft>
          <a:spcPts val="0"/>
        </a:spcAft>
        <a:buNone/>
        <a:defRPr sz="1800" b="0" i="0" u="none">
          <a:solidFill>
            <a:schemeClr val="tx1"/>
          </a:solidFill>
          <a:latin typeface="+mn-lt"/>
          <a:ea typeface="+mn-ea"/>
          <a:cs typeface="+mn-cs"/>
        </a:defRPr>
      </a:lvl2pPr>
      <a:lvl3pPr marL="914400" lvl="2" indent="0" algn="l" defTabSz="914400">
        <a:lnSpc>
          <a:spcPct val="100000"/>
        </a:lnSpc>
        <a:spcBef>
          <a:spcPts val="0"/>
        </a:spcBef>
        <a:spcAft>
          <a:spcPts val="0"/>
        </a:spcAft>
        <a:buNone/>
        <a:defRPr sz="1800" b="0" i="0" u="none">
          <a:solidFill>
            <a:schemeClr val="tx1"/>
          </a:solidFill>
          <a:latin typeface="+mn-lt"/>
          <a:ea typeface="+mn-ea"/>
          <a:cs typeface="+mn-cs"/>
        </a:defRPr>
      </a:lvl3pPr>
      <a:lvl4pPr marL="1371600" lvl="3" indent="0" algn="l" defTabSz="914400">
        <a:lnSpc>
          <a:spcPct val="100000"/>
        </a:lnSpc>
        <a:spcBef>
          <a:spcPts val="0"/>
        </a:spcBef>
        <a:spcAft>
          <a:spcPts val="0"/>
        </a:spcAft>
        <a:buNone/>
        <a:defRPr sz="1800" b="0" i="0" u="none">
          <a:solidFill>
            <a:schemeClr val="tx1"/>
          </a:solidFill>
          <a:latin typeface="+mn-lt"/>
          <a:ea typeface="+mn-ea"/>
          <a:cs typeface="+mn-cs"/>
        </a:defRPr>
      </a:lvl4pPr>
      <a:lvl5pPr marL="1828800" lvl="4" indent="0" algn="l" defTabSz="914400">
        <a:lnSpc>
          <a:spcPct val="100000"/>
        </a:lnSpc>
        <a:spcBef>
          <a:spcPts val="0"/>
        </a:spcBef>
        <a:spcAft>
          <a:spcPts val="0"/>
        </a:spcAft>
        <a:buNone/>
        <a:defRPr sz="1800" b="0" i="0" u="none">
          <a:solidFill>
            <a:schemeClr val="tx1"/>
          </a:solidFill>
          <a:latin typeface="+mn-lt"/>
          <a:ea typeface="+mn-ea"/>
          <a:cs typeface="+mn-cs"/>
        </a:defRPr>
      </a:lvl5pPr>
      <a:lvl6pPr marL="2286000" lvl="5" indent="0" algn="l" defTabSz="914400">
        <a:lnSpc>
          <a:spcPct val="100000"/>
        </a:lnSpc>
        <a:spcBef>
          <a:spcPts val="0"/>
        </a:spcBef>
        <a:spcAft>
          <a:spcPts val="0"/>
        </a:spcAft>
        <a:buNone/>
        <a:defRPr sz="1800" b="0" i="0" u="none">
          <a:solidFill>
            <a:schemeClr val="tx1"/>
          </a:solidFill>
          <a:latin typeface="+mn-lt"/>
          <a:ea typeface="+mn-ea"/>
          <a:cs typeface="+mn-cs"/>
        </a:defRPr>
      </a:lvl6pPr>
      <a:lvl7pPr marL="2743200" lvl="6" indent="0" algn="l" defTabSz="914400">
        <a:lnSpc>
          <a:spcPct val="100000"/>
        </a:lnSpc>
        <a:spcBef>
          <a:spcPts val="0"/>
        </a:spcBef>
        <a:spcAft>
          <a:spcPts val="0"/>
        </a:spcAft>
        <a:buNone/>
        <a:defRPr sz="1800" b="0" i="0" u="none">
          <a:solidFill>
            <a:schemeClr val="tx1"/>
          </a:solidFill>
          <a:latin typeface="+mn-lt"/>
          <a:ea typeface="+mn-ea"/>
          <a:cs typeface="+mn-cs"/>
        </a:defRPr>
      </a:lvl7pPr>
      <a:lvl8pPr marL="3200400" lvl="7" indent="0" algn="l" defTabSz="914400">
        <a:lnSpc>
          <a:spcPct val="100000"/>
        </a:lnSpc>
        <a:spcBef>
          <a:spcPts val="0"/>
        </a:spcBef>
        <a:spcAft>
          <a:spcPts val="0"/>
        </a:spcAft>
        <a:buNone/>
        <a:defRPr sz="1800" b="0" i="0" u="none">
          <a:solidFill>
            <a:schemeClr val="tx1"/>
          </a:solidFill>
          <a:latin typeface="+mn-lt"/>
          <a:ea typeface="+mn-ea"/>
          <a:cs typeface="+mn-cs"/>
        </a:defRPr>
      </a:lvl8pPr>
      <a:lvl9pPr marL="3657600" lvl="8" indent="0" algn="l" defTabSz="914400">
        <a:lnSpc>
          <a:spcPct val="100000"/>
        </a:lnSpc>
        <a:spcBef>
          <a:spcPts val="0"/>
        </a:spcBef>
        <a:spcAft>
          <a:spcPts val="0"/>
        </a:spcAft>
        <a:buNone/>
        <a:defRPr sz="1800" b="0" i="0" u="none">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media2.svg"/><Relationship Id="rId5" Type="http://schemas.openxmlformats.org/officeDocument/2006/relationships/image" Target="../media/image5.png"/><Relationship Id="rId6" Type="http://schemas.openxmlformats.org/officeDocument/2006/relationships/image" Target="../media/media3.sv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wmf"/><Relationship Id="rId4" Type="http://schemas.openxmlformats.org/officeDocument/2006/relationships/oleObject" Target="../embeddings/oleObject4.bin"/></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1.png"/><Relationship Id="rId4" Type="http://schemas.openxmlformats.org/officeDocument/2006/relationships/image" Target="../media/media5.svg"/></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12.pn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3.png"/></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14.png"/></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15.png"/></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16.png"/></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17.png"/></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6806348" name="Title 4097"/>
          <p:cNvSpPr>
            <a:spLocks noGrp="1"/>
          </p:cNvSpPr>
          <p:nvPr>
            <p:ph type="ctrTitle"/>
          </p:nvPr>
        </p:nvSpPr>
        <p:spPr bwMode="auto">
          <a:xfrm>
            <a:off x="254952" y="388620"/>
            <a:ext cx="7772400" cy="1082675"/>
          </a:xfrm>
        </p:spPr>
        <p:txBody>
          <a:bodyPr anchor="ctr"/>
          <a:p>
            <a:pPr defTabSz="914400">
              <a:buNone/>
              <a:defRPr/>
            </a:pPr>
            <a:r>
              <a:rPr lang="en-US" sz="4000">
                <a:ln w="6600">
                  <a:solidFill>
                    <a:schemeClr val="accent2"/>
                  </a:solidFill>
                  <a:prstDash val="solid"/>
                </a:ln>
                <a:solidFill>
                  <a:srgbClr val="00B0F0"/>
                </a:solidFill>
                <a:latin typeface="Arial"/>
                <a:ea typeface="SimSun"/>
                <a:cs typeface="+mj-cs"/>
              </a:rPr>
              <a:t>Cryptography</a:t>
            </a:r>
            <a:endParaRPr lang="en-US" sz="4000">
              <a:ln w="6600">
                <a:solidFill>
                  <a:schemeClr val="accent2"/>
                </a:solidFill>
                <a:prstDash val="solid"/>
              </a:ln>
              <a:solidFill>
                <a:srgbClr val="00B0F0"/>
              </a:solidFill>
              <a:latin typeface="Arial"/>
              <a:ea typeface="SimSun"/>
              <a:cs typeface="+mj-c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4736361"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1039144091" name="Text Box 2"/>
          <p:cNvSpPr txBox="1"/>
          <p:nvPr/>
        </p:nvSpPr>
        <p:spPr bwMode="auto">
          <a:xfrm>
            <a:off x="457200" y="775970"/>
            <a:ext cx="8139430" cy="6000750"/>
          </a:xfrm>
          <a:prstGeom prst="rect">
            <a:avLst/>
          </a:prstGeom>
          <a:noFill/>
        </p:spPr>
        <p:txBody>
          <a:bodyPr wrap="square" rtlCol="0">
            <a:spAutoFit/>
          </a:bodyPr>
          <a:p>
            <a:pPr marL="342900" indent="-342900">
              <a:buFont typeface="Wingdings"/>
              <a:buChar char=""/>
              <a:defRPr/>
            </a:pPr>
            <a:r>
              <a:rPr lang="en-US" sz="2400" b="1"/>
              <a:t>Cryptography - </a:t>
            </a:r>
            <a:r>
              <a:rPr lang="en-US" sz="2400"/>
              <a:t>it is a method of storing and transmitting data in a form that only those it is intended for can read and process. </a:t>
            </a:r>
            <a:endParaRPr lang="en-US" sz="2400"/>
          </a:p>
          <a:p>
            <a:pPr marL="342900" indent="-342900">
              <a:buFont typeface="Wingdings"/>
              <a:buChar char=""/>
              <a:defRPr/>
            </a:pPr>
            <a:endParaRPr lang="en-US" sz="2400"/>
          </a:p>
          <a:p>
            <a:pPr marL="342900" indent="-342900">
              <a:buFont typeface="Wingdings"/>
              <a:buChar char=""/>
              <a:defRPr/>
            </a:pPr>
            <a:r>
              <a:rPr lang="en-US" sz="2400"/>
              <a:t>It is considered a science of protecting information by encoding it into an unreadable format.</a:t>
            </a:r>
            <a:endParaRPr lang="en-US" sz="2400"/>
          </a:p>
          <a:p>
            <a:pPr marL="342900" indent="-342900">
              <a:buFont typeface="Wingdings"/>
              <a:buChar char=""/>
              <a:defRPr/>
            </a:pPr>
            <a:endParaRPr lang="en-US" sz="2400"/>
          </a:p>
          <a:p>
            <a:pPr marL="342900" indent="-342900">
              <a:buFont typeface="Wingdings"/>
              <a:buChar char=""/>
              <a:defRPr/>
            </a:pPr>
            <a:r>
              <a:rPr lang="en-US" sz="2400" b="1"/>
              <a:t>Plaintext</a:t>
            </a:r>
            <a:r>
              <a:rPr lang="en-US" sz="2400"/>
              <a:t> - Any data which is readable without requiring any additional efforts or processing.</a:t>
            </a:r>
            <a:endParaRPr lang="en-US" sz="2400"/>
          </a:p>
          <a:p>
            <a:pPr marL="342900" indent="-342900">
              <a:buFont typeface="Wingdings"/>
              <a:buChar char=""/>
              <a:defRPr/>
            </a:pPr>
            <a:endParaRPr lang="en-US" sz="2400"/>
          </a:p>
          <a:p>
            <a:pPr marL="342900" indent="-342900">
              <a:buFont typeface="Wingdings"/>
              <a:buChar char=""/>
              <a:defRPr/>
            </a:pPr>
            <a:r>
              <a:rPr lang="en-US" sz="2400" b="1"/>
              <a:t>Ciphertext</a:t>
            </a:r>
            <a:r>
              <a:rPr lang="en-US" sz="2400"/>
              <a:t> - Any data that appears as random and is not readable unless additional efforts or processing is taken.</a:t>
            </a:r>
            <a:endParaRPr lang="en-US" sz="2400"/>
          </a:p>
          <a:p>
            <a:pPr marL="342900" indent="-342900">
              <a:buFont typeface="Wingdings"/>
              <a:buChar char=""/>
              <a:defRPr/>
            </a:pPr>
            <a:endParaRPr lang="en-US" sz="2400"/>
          </a:p>
          <a:p>
            <a:pPr marL="342900" indent="-342900">
              <a:buFont typeface="Wingdings"/>
              <a:buChar char=""/>
              <a:defRPr/>
            </a:pPr>
            <a:r>
              <a:rPr lang="en-US" sz="2400" b="1"/>
              <a:t>Cryptosystem</a:t>
            </a:r>
            <a:r>
              <a:rPr lang="en-US" sz="2400"/>
              <a:t> - </a:t>
            </a:r>
            <a:r>
              <a:rPr lang="en-US" sz="2400"/>
              <a:t>Any system or product that provides encryption and decryption.</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6954567"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222988872" name="Text Box 1"/>
          <p:cNvSpPr txBox="1"/>
          <p:nvPr/>
        </p:nvSpPr>
        <p:spPr bwMode="auto">
          <a:xfrm>
            <a:off x="457200" y="723900"/>
            <a:ext cx="8139430" cy="7108825"/>
          </a:xfrm>
          <a:prstGeom prst="rect">
            <a:avLst/>
          </a:prstGeom>
          <a:noFill/>
        </p:spPr>
        <p:txBody>
          <a:bodyPr wrap="square" rtlCol="0">
            <a:spAutoFit/>
          </a:bodyPr>
          <a:p>
            <a:pPr marL="342900" indent="-342900">
              <a:buFont typeface="Wingdings"/>
              <a:buChar char=""/>
              <a:defRPr/>
            </a:pPr>
            <a:r>
              <a:rPr lang="en-US" sz="2400" b="1"/>
              <a:t>Encryption</a:t>
            </a:r>
            <a:r>
              <a:rPr lang="en-US" sz="2400"/>
              <a:t> - A process or method that converts plaintext into ciphertext and makes data unreadable.</a:t>
            </a:r>
            <a:endParaRPr lang="en-US" sz="2400"/>
          </a:p>
          <a:p>
            <a:pPr marL="342900" indent="-342900">
              <a:buFont typeface="Wingdings"/>
              <a:buChar char=""/>
              <a:defRPr/>
            </a:pPr>
            <a:endParaRPr lang="en-US" sz="2400"/>
          </a:p>
          <a:p>
            <a:pPr marL="342900" indent="-342900">
              <a:buFont typeface="Wingdings"/>
              <a:buChar char=""/>
              <a:defRPr/>
            </a:pPr>
            <a:r>
              <a:rPr lang="en-US" sz="2400" b="1"/>
              <a:t>Decryption</a:t>
            </a:r>
            <a:r>
              <a:rPr lang="en-US" sz="2400"/>
              <a:t> - A process or method that converts back the ciphertext to plaintext so the data is readable.</a:t>
            </a:r>
            <a:endParaRPr lang="en-US" sz="2400"/>
          </a:p>
          <a:p>
            <a:pPr marL="342900" indent="-342900">
              <a:buFont typeface="Wingdings"/>
              <a:buChar char=""/>
              <a:defRPr/>
            </a:pPr>
            <a:endParaRPr lang="en-US" sz="2400"/>
          </a:p>
          <a:p>
            <a:pPr marL="342900" indent="-342900">
              <a:buFont typeface="Wingdings"/>
              <a:buChar char=""/>
              <a:defRPr/>
            </a:pPr>
            <a:r>
              <a:rPr lang="en-US" sz="2400"/>
              <a:t>The </a:t>
            </a:r>
            <a:r>
              <a:rPr lang="en-US" sz="2400" b="1"/>
              <a:t>algorithm</a:t>
            </a:r>
            <a:r>
              <a:rPr lang="en-US" sz="2400"/>
              <a:t>, the set of rules or mathematical formula also known as the </a:t>
            </a:r>
            <a:r>
              <a:rPr lang="en-US" sz="2400" b="1"/>
              <a:t>cipher</a:t>
            </a:r>
            <a:r>
              <a:rPr lang="en-US" sz="2400"/>
              <a:t>, dictates how enciphering and deciphering take place.</a:t>
            </a:r>
            <a:endParaRPr lang="en-US" sz="2400"/>
          </a:p>
          <a:p>
            <a:pPr marL="342900" indent="-342900">
              <a:buFont typeface="Wingdings"/>
              <a:buChar char=""/>
              <a:defRPr/>
            </a:pPr>
            <a:endParaRPr lang="en-US" sz="2400"/>
          </a:p>
          <a:p>
            <a:pPr marL="342900" indent="-342900">
              <a:buFont typeface="Wingdings"/>
              <a:buChar char=""/>
              <a:defRPr/>
            </a:pPr>
            <a:r>
              <a:rPr lang="en-US" sz="2400"/>
              <a:t>In encryption, the </a:t>
            </a:r>
            <a:r>
              <a:rPr lang="en-US" sz="2400" b="1"/>
              <a:t>key</a:t>
            </a:r>
            <a:r>
              <a:rPr lang="en-US" sz="2400"/>
              <a:t> (cryptovariable) is a value that comprises a large sequence of random bits. </a:t>
            </a:r>
            <a:endParaRPr lang="en-US" sz="2400"/>
          </a:p>
          <a:p>
            <a:pPr marL="342900" indent="-342900">
              <a:buFont typeface="Wingdings"/>
              <a:buChar char=""/>
              <a:defRPr/>
            </a:pPr>
            <a:endParaRPr lang="en-US" sz="2400"/>
          </a:p>
          <a:p>
            <a:pPr marL="342900" indent="-342900">
              <a:buFont typeface="Wingdings"/>
              <a:buChar char=""/>
              <a:defRPr/>
            </a:pPr>
            <a:r>
              <a:rPr lang="en-US" sz="2400"/>
              <a:t>An algorithm contains a </a:t>
            </a:r>
            <a:r>
              <a:rPr lang="en-US" sz="2400" b="1"/>
              <a:t>keyspace</a:t>
            </a:r>
            <a:r>
              <a:rPr lang="en-US" sz="2400"/>
              <a:t>, which is a range of values that can be used to construct a key. </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1898639"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114720545" name="Text Box 2"/>
          <p:cNvSpPr txBox="1"/>
          <p:nvPr/>
        </p:nvSpPr>
        <p:spPr bwMode="auto">
          <a:xfrm>
            <a:off x="457200" y="935355"/>
            <a:ext cx="8404225" cy="5631179"/>
          </a:xfrm>
          <a:prstGeom prst="rect">
            <a:avLst/>
          </a:prstGeom>
          <a:noFill/>
        </p:spPr>
        <p:txBody>
          <a:bodyPr wrap="square" rtlCol="0">
            <a:spAutoFit/>
          </a:bodyPr>
          <a:p>
            <a:pPr marL="342900" indent="-342900">
              <a:buFont typeface="Wingdings"/>
              <a:buChar char=""/>
              <a:defRPr/>
            </a:pPr>
            <a:r>
              <a:rPr lang="en-US" sz="2400"/>
              <a:t>When the algorithm needs to generate a new key, it uses random values from this keyspace. </a:t>
            </a:r>
            <a:endParaRPr lang="en-US" sz="2400"/>
          </a:p>
          <a:p>
            <a:pPr marL="342900" indent="-342900">
              <a:buFont typeface="Wingdings"/>
              <a:buChar char=""/>
              <a:defRPr/>
            </a:pPr>
            <a:endParaRPr lang="en-US" sz="2400"/>
          </a:p>
          <a:p>
            <a:pPr marL="342900" indent="-342900">
              <a:buFont typeface="Wingdings"/>
              <a:buChar char=""/>
              <a:defRPr/>
            </a:pPr>
            <a:r>
              <a:rPr lang="en-US" sz="2400"/>
              <a:t>The larger the keyspace, the more available values that can be used to represent different keys—and the more random the keys are, the harder it is for intruders to figure them out. </a:t>
            </a:r>
            <a:endParaRPr lang="en-US" sz="2400"/>
          </a:p>
          <a:p>
            <a:pPr marL="342900" indent="-342900">
              <a:buFont typeface="Wingdings"/>
              <a:buChar char=""/>
              <a:defRPr/>
            </a:pPr>
            <a:endParaRPr lang="en-US" sz="2400"/>
          </a:p>
          <a:p>
            <a:pPr marL="342900" indent="-342900">
              <a:buFont typeface="Wingdings"/>
              <a:buChar char=""/>
              <a:defRPr/>
            </a:pPr>
            <a:r>
              <a:rPr lang="en-US" sz="2400" b="1"/>
              <a:t>Cryptanalysis</a:t>
            </a:r>
            <a:r>
              <a:rPr lang="en-US" sz="2400"/>
              <a:t> - It is the science of studying and breaking the secrecy of encryption processes, compromising authentication schemes, and reverseengineering algorithms and keys. </a:t>
            </a:r>
            <a:endParaRPr lang="en-US" sz="2400"/>
          </a:p>
          <a:p>
            <a:pPr marL="342900" indent="-342900">
              <a:buFont typeface="Wingdings"/>
              <a:buChar char=""/>
              <a:defRPr/>
            </a:pPr>
            <a:endParaRPr lang="en-US" sz="2400"/>
          </a:p>
          <a:p>
            <a:pPr marL="342900" indent="-342900">
              <a:buFont typeface="Wingdings"/>
              <a:buChar char=""/>
              <a:defRPr/>
            </a:pPr>
            <a:r>
              <a:rPr lang="en-US" sz="2400" b="1"/>
              <a:t>Cryptology</a:t>
            </a:r>
            <a:r>
              <a:rPr lang="en-US" sz="2400"/>
              <a:t> - It is the study of Cryptanalysis and cryptography.</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7898104"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685690095"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b="1"/>
              <a:t>Goals of Cryptography</a:t>
            </a:r>
            <a:endParaRPr lang="en-US" sz="2400" b="1"/>
          </a:p>
          <a:p>
            <a:pPr marL="342900" indent="-342900">
              <a:buFont typeface="Wingdings"/>
              <a:buChar char=""/>
              <a:defRPr/>
            </a:pPr>
            <a:endParaRPr lang="en-US" sz="2400" b="1"/>
          </a:p>
          <a:p>
            <a:pPr marL="342900" indent="-342900">
              <a:buFont typeface="Wingdings"/>
              <a:buChar char=""/>
              <a:defRPr/>
            </a:pPr>
            <a:r>
              <a:rPr lang="en-US" sz="2400"/>
              <a:t>Security practitioners use cryptographic systems to meet four fundamental goals: </a:t>
            </a:r>
            <a:r>
              <a:rPr lang="en-US" sz="2400" b="1"/>
              <a:t>confidentiality, integrity, authentication, and nonrepudiation.</a:t>
            </a:r>
            <a:endParaRPr lang="en-US" sz="2400" b="1"/>
          </a:p>
          <a:p>
            <a:pPr marL="342900" indent="-342900">
              <a:buFont typeface="Wingdings"/>
              <a:buChar char=""/>
              <a:defRPr/>
            </a:pPr>
            <a:endParaRPr lang="en-US" sz="2400" b="1"/>
          </a:p>
          <a:p>
            <a:pPr marL="342900" indent="-342900">
              <a:buFont typeface="Wingdings"/>
              <a:buChar char=""/>
              <a:defRPr/>
            </a:pPr>
            <a:r>
              <a:rPr lang="en-US" sz="2400" b="1"/>
              <a:t>Confidentiality </a:t>
            </a:r>
            <a:r>
              <a:rPr lang="en-US" sz="2400"/>
              <a:t>ensures that data remains private in three different situations: when it is at rest, when it is in transit, and when it is in use.</a:t>
            </a:r>
            <a:endParaRPr lang="en-US" sz="2400"/>
          </a:p>
          <a:p>
            <a:pPr marL="342900" indent="-342900">
              <a:buFont typeface="Wingdings"/>
              <a:buChar char=""/>
              <a:defRPr/>
            </a:pPr>
            <a:endParaRPr lang="en-US" sz="2400"/>
          </a:p>
          <a:p>
            <a:pPr marL="342900" indent="-342900">
              <a:buFont typeface="Wingdings"/>
              <a:buChar char=""/>
              <a:defRPr/>
            </a:pPr>
            <a:r>
              <a:rPr lang="en-US" sz="2400" b="1"/>
              <a:t>Integrity</a:t>
            </a:r>
            <a:r>
              <a:rPr lang="en-US" sz="2400"/>
              <a:t> ensures that data is not altered without authorization. </a:t>
            </a:r>
            <a:endParaRPr lang="en-US" sz="2400"/>
          </a:p>
          <a:p>
            <a:pPr marL="342900" indent="-342900">
              <a:buFont typeface="Wingdings"/>
              <a:buChar char=""/>
              <a:defRPr/>
            </a:pPr>
            <a:endParaRPr lang="en-US" sz="2400"/>
          </a:p>
          <a:p>
            <a:pPr marL="342900" indent="-342900">
              <a:buFont typeface="Wingdings"/>
              <a:buChar char=""/>
              <a:defRPr/>
            </a:pPr>
            <a:r>
              <a:rPr lang="en-US" sz="2400"/>
              <a:t>If integrity mechanisms are in place, the recipient of a message can be certain that the message received is identical to the message that was sent.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0049232"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459876964"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Similarly, </a:t>
            </a:r>
            <a:r>
              <a:rPr lang="en-US" sz="2400" b="1"/>
              <a:t>integrity</a:t>
            </a:r>
            <a:r>
              <a:rPr lang="en-US" sz="2400"/>
              <a:t> checks can ensure that stored data ​was not altered between the time it was created and the time it was accessed.</a:t>
            </a:r>
            <a:endParaRPr lang="en-US" sz="2400"/>
          </a:p>
          <a:p>
            <a:pPr marL="342900" indent="-342900">
              <a:buFont typeface="Wingdings"/>
              <a:buChar char=""/>
              <a:defRPr/>
            </a:pPr>
            <a:endParaRPr lang="en-US" sz="2400"/>
          </a:p>
          <a:p>
            <a:pPr marL="342900" indent="-342900">
              <a:buFont typeface="Wingdings"/>
              <a:buChar char=""/>
              <a:defRPr/>
            </a:pPr>
            <a:r>
              <a:rPr lang="en-US" sz="2400" b="1"/>
              <a:t>Authentication</a:t>
            </a:r>
            <a:r>
              <a:rPr lang="en-US" sz="2400"/>
              <a:t> verifies the claimed identity of system users and is a major function of cryptosystems.</a:t>
            </a:r>
            <a:endParaRPr lang="en-US" sz="2400"/>
          </a:p>
          <a:p>
            <a:pPr marL="342900" indent="-342900">
              <a:buFont typeface="Wingdings"/>
              <a:buChar char=""/>
              <a:defRPr/>
            </a:pPr>
            <a:endParaRPr lang="en-US" sz="2400"/>
          </a:p>
          <a:p>
            <a:pPr marL="342900" indent="-342900">
              <a:buFont typeface="Wingdings"/>
              <a:buChar char=""/>
              <a:defRPr/>
            </a:pPr>
            <a:r>
              <a:rPr lang="en-US" sz="2400" b="1"/>
              <a:t>Nonrepudiation</a:t>
            </a:r>
            <a:r>
              <a:rPr lang="en-US" sz="2400"/>
              <a:t> provides assurance to the recipient that the message was originated by the sender and not someone masquerading as the sender.</a:t>
            </a:r>
            <a:endParaRPr lang="en-US" sz="2400"/>
          </a:p>
          <a:p>
            <a:pPr marL="342900" indent="-342900">
              <a:buFont typeface="Wingdings"/>
              <a:buChar char=""/>
              <a:defRPr/>
            </a:pPr>
            <a:endParaRPr lang="en-US" sz="2400"/>
          </a:p>
          <a:p>
            <a:pPr marL="342900" indent="-342900">
              <a:buFont typeface="Wingdings"/>
              <a:buChar char=""/>
              <a:defRPr/>
            </a:pPr>
            <a:r>
              <a:rPr lang="en-US" sz="2400"/>
              <a:t>It also prevents the sender from claiming that they never sent the message in the first place (also known as </a:t>
            </a:r>
            <a:r>
              <a:rPr lang="en-US" sz="2400" b="1"/>
              <a:t>repudiating the message</a:t>
            </a:r>
            <a:r>
              <a:rPr lang="en-US" sz="2400"/>
              <a:t>).</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9125165"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1177564025" name="Text Box 2"/>
          <p:cNvSpPr txBox="1"/>
          <p:nvPr/>
        </p:nvSpPr>
        <p:spPr bwMode="auto">
          <a:xfrm>
            <a:off x="457200" y="935355"/>
            <a:ext cx="8139430" cy="7108825"/>
          </a:xfrm>
          <a:prstGeom prst="rect">
            <a:avLst/>
          </a:prstGeom>
          <a:noFill/>
        </p:spPr>
        <p:txBody>
          <a:bodyPr wrap="square" rtlCol="0">
            <a:spAutoFit/>
          </a:bodyPr>
          <a:p>
            <a:pPr marL="342900" indent="-342900">
              <a:buFont typeface="Wingdings"/>
              <a:buChar char=""/>
              <a:defRPr/>
            </a:pPr>
            <a:r>
              <a:rPr lang="en-US" sz="2400" b="1"/>
              <a:t>Symmetric cryptosystems</a:t>
            </a:r>
            <a:r>
              <a:rPr lang="en-US" sz="2400"/>
              <a:t>  - It is a cryptosystem that uses a single key (same key) for encrypting the data and while decrypting that data.</a:t>
            </a:r>
            <a:endParaRPr lang="en-US" sz="2400"/>
          </a:p>
          <a:p>
            <a:pPr marL="342900" indent="-342900">
              <a:buFont typeface="Wingdings"/>
              <a:buChar char=""/>
              <a:defRPr/>
            </a:pPr>
            <a:endParaRPr lang="en-US" sz="2400"/>
          </a:p>
          <a:p>
            <a:pPr marL="342900" indent="-342900">
              <a:buFont typeface="Wingdings"/>
              <a:buChar char=""/>
              <a:defRPr/>
            </a:pPr>
            <a:r>
              <a:rPr lang="en-US" sz="2400"/>
              <a:t>In other words it uses a shared secret key available to all users of the cryptosystem.</a:t>
            </a:r>
            <a:endParaRPr lang="en-US" sz="2400"/>
          </a:p>
          <a:p>
            <a:pPr marL="342900" indent="-342900">
              <a:buFont typeface="Wingdings"/>
              <a:buChar char=""/>
              <a:defRPr/>
            </a:pPr>
            <a:endParaRPr lang="en-US" sz="2400"/>
          </a:p>
          <a:p>
            <a:pPr marL="342900" indent="-342900">
              <a:buFont typeface="Wingdings"/>
              <a:buChar char=""/>
              <a:defRPr/>
            </a:pPr>
            <a:r>
              <a:rPr lang="en-US" sz="2400"/>
              <a:t>This type of encryption requires each user to keep the key a secret and properly protected. </a:t>
            </a:r>
            <a:endParaRPr lang="en-US" sz="2400"/>
          </a:p>
          <a:p>
            <a:pPr marL="342900" indent="-342900">
              <a:buFont typeface="Wingdings"/>
              <a:buChar char=""/>
              <a:defRPr/>
            </a:pPr>
            <a:endParaRPr lang="en-US" sz="2400"/>
          </a:p>
          <a:p>
            <a:pPr marL="342900" indent="-342900">
              <a:buFont typeface="Wingdings"/>
              <a:buChar char=""/>
              <a:defRPr/>
            </a:pPr>
            <a:r>
              <a:rPr lang="en-US" sz="2400"/>
              <a:t>If an intruder were to get this key, they could decrypt any intercepted message encrypted with it.</a:t>
            </a:r>
            <a:endParaRPr lang="en-US" sz="2400"/>
          </a:p>
          <a:p>
            <a:pPr marL="342900" indent="-342900">
              <a:buFont typeface="Wingdings"/>
              <a:buChar char=""/>
              <a:defRPr/>
            </a:pPr>
            <a:endParaRPr lang="en-US" sz="2400"/>
          </a:p>
          <a:p>
            <a:pPr marL="342900" indent="-342900">
              <a:buFont typeface="Wingdings"/>
              <a:buChar char=""/>
              <a:defRPr/>
            </a:pPr>
            <a:r>
              <a:rPr lang="en-US" sz="2400"/>
              <a:t>The security of the symmetric encryption method is completely dependent on how well users share, protect and update the key. </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1321545"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425273577" name="Text Box 2"/>
          <p:cNvSpPr txBox="1"/>
          <p:nvPr/>
        </p:nvSpPr>
        <p:spPr bwMode="auto">
          <a:xfrm>
            <a:off x="457200" y="775970"/>
            <a:ext cx="8524240" cy="7477760"/>
          </a:xfrm>
          <a:prstGeom prst="rect">
            <a:avLst/>
          </a:prstGeom>
          <a:noFill/>
        </p:spPr>
        <p:txBody>
          <a:bodyPr wrap="square" rtlCol="0">
            <a:spAutoFit/>
          </a:bodyPr>
          <a:p>
            <a:pPr marL="342900" indent="-342900">
              <a:buFont typeface="Wingdings"/>
              <a:buChar char=""/>
              <a:defRPr/>
            </a:pPr>
            <a:r>
              <a:rPr lang="en-US" sz="2400" b="1"/>
              <a:t>Symmetric cryptosystems</a:t>
            </a:r>
            <a:r>
              <a:rPr lang="en-US" sz="2400"/>
              <a:t> can provide </a:t>
            </a:r>
            <a:r>
              <a:rPr lang="en-US" sz="2400" b="1"/>
              <a:t>confidentiality</a:t>
            </a:r>
            <a:r>
              <a:rPr lang="en-US" sz="2400"/>
              <a:t>, but they cannot provide </a:t>
            </a:r>
            <a:r>
              <a:rPr lang="en-US" sz="2400" b="1"/>
              <a:t>authentication</a:t>
            </a:r>
            <a:r>
              <a:rPr lang="en-US" sz="2400"/>
              <a:t> or </a:t>
            </a:r>
            <a:r>
              <a:rPr lang="en-US" sz="2400" b="1"/>
              <a:t>nonrepudiation</a:t>
            </a:r>
            <a:r>
              <a:rPr lang="en-US" sz="2400"/>
              <a:t>.</a:t>
            </a:r>
            <a:endParaRPr lang="en-US" sz="2400"/>
          </a:p>
          <a:p>
            <a:pPr marL="342900" indent="-342900">
              <a:buFont typeface="Wingdings"/>
              <a:buChar char=""/>
              <a:defRPr/>
            </a:pPr>
            <a:endParaRPr lang="en-US" sz="2400"/>
          </a:p>
          <a:p>
            <a:pPr marL="342900" indent="-342900">
              <a:buFont typeface="Wingdings"/>
              <a:buChar char=""/>
              <a:defRPr/>
            </a:pPr>
            <a:r>
              <a:rPr lang="en-US" sz="2400"/>
              <a:t>There is no way to prove through cryptography who actually sent a message if multiple people are sharing the same key.</a:t>
            </a:r>
            <a:endParaRPr lang="en-US" sz="2400"/>
          </a:p>
          <a:p>
            <a:pPr marL="342900" indent="-342900">
              <a:buFont typeface="Wingdings"/>
              <a:buChar char=""/>
              <a:defRPr/>
            </a:pPr>
            <a:endParaRPr lang="en-US" sz="2400"/>
          </a:p>
          <a:p>
            <a:pPr marL="342900" indent="-342900">
              <a:buFont typeface="Wingdings"/>
              <a:buChar char=""/>
              <a:defRPr/>
            </a:pPr>
            <a:r>
              <a:rPr lang="en-US" sz="2400"/>
              <a:t>The </a:t>
            </a:r>
            <a:r>
              <a:rPr lang="en-US" sz="2400" b="1"/>
              <a:t>Symmetric cryptosystems</a:t>
            </a:r>
            <a:r>
              <a:rPr lang="en-US" sz="2400"/>
              <a:t> have so many problems and flaws, but still they are used because they are very fast and can be hard to break.</a:t>
            </a:r>
            <a:endParaRPr lang="en-US" sz="2400"/>
          </a:p>
          <a:p>
            <a:pPr marL="342900" indent="-342900">
              <a:buFont typeface="Wingdings"/>
              <a:buChar char=""/>
              <a:defRPr/>
            </a:pPr>
            <a:endParaRPr lang="en-US" sz="2400"/>
          </a:p>
          <a:p>
            <a:pPr marL="342900" indent="-342900">
              <a:buFont typeface="Wingdings"/>
              <a:buChar char=""/>
              <a:defRPr/>
            </a:pPr>
            <a:r>
              <a:rPr lang="en-US" sz="2400"/>
              <a:t>It is also difficult to uncover data encrypted with a symmetric algorithm if a large key size is used.</a:t>
            </a:r>
            <a:endParaRPr lang="en-US" sz="2400"/>
          </a:p>
          <a:p>
            <a:pPr marL="342900" indent="-342900">
              <a:buFont typeface="Wingdings"/>
              <a:buChar char=""/>
              <a:defRPr/>
            </a:pPr>
            <a:endParaRPr lang="en-US" sz="2400"/>
          </a:p>
          <a:p>
            <a:pPr marL="342900" indent="-342900">
              <a:buFont typeface="Wingdings"/>
              <a:buChar char=""/>
              <a:defRPr/>
            </a:pPr>
            <a:r>
              <a:rPr lang="en-US" sz="2400"/>
              <a:t>As the number of users increase the key management becomes tedious.</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2848483"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1990024112" name="Text Box 2"/>
          <p:cNvSpPr txBox="1"/>
          <p:nvPr/>
        </p:nvSpPr>
        <p:spPr bwMode="auto">
          <a:xfrm>
            <a:off x="457200" y="749300"/>
            <a:ext cx="8139430" cy="6000750"/>
          </a:xfrm>
          <a:prstGeom prst="rect">
            <a:avLst/>
          </a:prstGeom>
          <a:noFill/>
        </p:spPr>
        <p:txBody>
          <a:bodyPr wrap="square" rtlCol="0">
            <a:spAutoFit/>
          </a:bodyPr>
          <a:p>
            <a:pPr marL="342900" indent="-342900">
              <a:buFont typeface="Wingdings"/>
              <a:buChar char=""/>
              <a:defRPr/>
            </a:pPr>
            <a:r>
              <a:rPr lang="en-US" sz="2400" b="1"/>
              <a:t>Asymmetric Cryptosystem</a:t>
            </a:r>
            <a:r>
              <a:rPr lang="en-US" sz="2400"/>
              <a:t> - It is a system that uses two different keys for encryption and decryption process. </a:t>
            </a:r>
            <a:endParaRPr lang="en-US" sz="2400"/>
          </a:p>
          <a:p>
            <a:pPr marL="342900" indent="-342900">
              <a:buFont typeface="Wingdings"/>
              <a:buChar char=""/>
              <a:defRPr/>
            </a:pPr>
            <a:endParaRPr lang="en-US" sz="2400"/>
          </a:p>
          <a:p>
            <a:pPr marL="342900" indent="-342900">
              <a:buFont typeface="Wingdings"/>
              <a:buChar char=""/>
              <a:defRPr/>
            </a:pPr>
            <a:r>
              <a:rPr lang="en-US" sz="2400"/>
              <a:t>The two different asymmetric keys are mathematically related such that If a message is encrypted by one key, then only other key can decrypt the message.</a:t>
            </a:r>
            <a:endParaRPr lang="en-US" sz="2400"/>
          </a:p>
          <a:p>
            <a:pPr marL="342900" indent="-342900">
              <a:buFont typeface="Wingdings"/>
              <a:buChar char=""/>
              <a:defRPr/>
            </a:pPr>
            <a:endParaRPr lang="en-US" sz="2400"/>
          </a:p>
          <a:p>
            <a:pPr marL="342900" indent="-342900">
              <a:buFont typeface="Wingdings"/>
              <a:buChar char=""/>
              <a:defRPr/>
            </a:pPr>
            <a:r>
              <a:rPr lang="en-US" sz="2400"/>
              <a:t>In a </a:t>
            </a:r>
            <a:r>
              <a:rPr lang="en-US" sz="2400" b="1"/>
              <a:t>public key system</a:t>
            </a:r>
            <a:r>
              <a:rPr lang="en-US" sz="2400"/>
              <a:t>, the pair of keys is made up of one </a:t>
            </a:r>
            <a:r>
              <a:rPr lang="en-US" sz="2400" b="1"/>
              <a:t>public key</a:t>
            </a:r>
            <a:r>
              <a:rPr lang="en-US" sz="2400"/>
              <a:t> and one </a:t>
            </a:r>
            <a:r>
              <a:rPr lang="en-US" sz="2400" b="1"/>
              <a:t>private key</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The </a:t>
            </a:r>
            <a:r>
              <a:rPr lang="en-US" sz="2400" b="1"/>
              <a:t>public key</a:t>
            </a:r>
            <a:r>
              <a:rPr lang="en-US" sz="2400"/>
              <a:t> can be known to everyone, and the </a:t>
            </a:r>
            <a:r>
              <a:rPr lang="en-US" sz="2400" b="1"/>
              <a:t>private key</a:t>
            </a:r>
            <a:r>
              <a:rPr lang="en-US" sz="2400"/>
              <a:t> must be known and used only by the owner.</a:t>
            </a:r>
            <a:endParaRPr lang="en-US" sz="2400"/>
          </a:p>
          <a:p>
            <a:pPr marL="342900" indent="-342900">
              <a:buFont typeface="Wingdings"/>
              <a:buChar char=""/>
              <a:defRPr/>
            </a:pPr>
            <a:endParaRPr lang="en-US" sz="2400"/>
          </a:p>
          <a:p>
            <a:pPr marL="342900" indent="-342900">
              <a:buFont typeface="Wingdings"/>
              <a:buChar char=""/>
              <a:defRPr/>
            </a:pPr>
            <a:r>
              <a:rPr lang="en-US" sz="2400"/>
              <a:t>If </a:t>
            </a:r>
            <a:r>
              <a:rPr lang="en-US" sz="2400" b="1"/>
              <a:t>confidentiality</a:t>
            </a:r>
            <a:r>
              <a:rPr lang="en-US" sz="2400"/>
              <a:t> is the most important security service to a sender, she would encrypt the file with the receiver’s public key.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7048704"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1794285141" name="Text Box 2"/>
          <p:cNvSpPr txBox="1"/>
          <p:nvPr/>
        </p:nvSpPr>
        <p:spPr bwMode="auto">
          <a:xfrm>
            <a:off x="457200" y="935355"/>
            <a:ext cx="8444230" cy="5631179"/>
          </a:xfrm>
          <a:prstGeom prst="rect">
            <a:avLst/>
          </a:prstGeom>
          <a:noFill/>
        </p:spPr>
        <p:txBody>
          <a:bodyPr wrap="square" rtlCol="0">
            <a:spAutoFit/>
          </a:bodyPr>
          <a:p>
            <a:pPr marL="342900" indent="-342900">
              <a:buFont typeface="Wingdings"/>
              <a:buChar char=""/>
              <a:defRPr/>
            </a:pPr>
            <a:r>
              <a:rPr lang="en-US" sz="2400"/>
              <a:t>This is called a secure message format because it can only be decrypted by the person who has the corresponding private key. </a:t>
            </a:r>
            <a:endParaRPr lang="en-US" sz="2400"/>
          </a:p>
          <a:p>
            <a:pPr marL="342900" indent="-342900">
              <a:buFont typeface="Wingdings"/>
              <a:buChar char=""/>
              <a:defRPr/>
            </a:pPr>
            <a:endParaRPr lang="en-US" sz="2400"/>
          </a:p>
          <a:p>
            <a:pPr marL="342900" indent="-342900">
              <a:buFont typeface="Wingdings"/>
              <a:buChar char=""/>
              <a:defRPr/>
            </a:pPr>
            <a:r>
              <a:rPr lang="en-US" sz="2400"/>
              <a:t>If </a:t>
            </a:r>
            <a:r>
              <a:rPr lang="en-US" sz="2400" b="1"/>
              <a:t>authentication</a:t>
            </a:r>
            <a:r>
              <a:rPr lang="en-US" sz="2400"/>
              <a:t> is the most important security service to the sender, then she would encrypt the data with her private key.</a:t>
            </a:r>
            <a:endParaRPr lang="en-US" sz="2400"/>
          </a:p>
          <a:p>
            <a:pPr marL="342900" indent="-342900">
              <a:buFont typeface="Wingdings"/>
              <a:buChar char=""/>
              <a:defRPr/>
            </a:pPr>
            <a:endParaRPr lang="en-US" sz="2400"/>
          </a:p>
          <a:p>
            <a:pPr marL="342900" indent="-342900">
              <a:buFont typeface="Wingdings"/>
              <a:buChar char=""/>
              <a:defRPr/>
            </a:pPr>
            <a:r>
              <a:rPr lang="en-US" sz="2400"/>
              <a:t>This provides assurance to the receiver that the only person who could have encrypted the data is the individual who has possession of that private key.</a:t>
            </a:r>
            <a:endParaRPr lang="en-US" sz="2400"/>
          </a:p>
          <a:p>
            <a:pPr marL="342900" indent="-342900">
              <a:buFont typeface="Wingdings"/>
              <a:buChar char=""/>
              <a:defRPr/>
            </a:pPr>
            <a:endParaRPr lang="en-US" sz="2400"/>
          </a:p>
          <a:p>
            <a:pPr marL="342900" indent="-342900">
              <a:buFont typeface="Wingdings"/>
              <a:buChar char=""/>
              <a:defRPr/>
            </a:pPr>
            <a:r>
              <a:rPr lang="en-US" sz="2400"/>
              <a:t>If the sender encrypted the data with the receiver’s public key, </a:t>
            </a:r>
            <a:r>
              <a:rPr lang="en-US" sz="2400" b="1"/>
              <a:t>authentication</a:t>
            </a:r>
            <a:r>
              <a:rPr lang="en-US" sz="2400"/>
              <a:t> is not provided because this public key is available to anyone.</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4894873"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867348328" name="Text Box 2"/>
          <p:cNvSpPr txBox="1"/>
          <p:nvPr/>
        </p:nvSpPr>
        <p:spPr bwMode="auto">
          <a:xfrm>
            <a:off x="457200" y="775970"/>
            <a:ext cx="8456930" cy="5631179"/>
          </a:xfrm>
          <a:prstGeom prst="rect">
            <a:avLst/>
          </a:prstGeom>
          <a:noFill/>
        </p:spPr>
        <p:txBody>
          <a:bodyPr wrap="square" rtlCol="0">
            <a:spAutoFit/>
          </a:bodyPr>
          <a:p>
            <a:pPr marL="342900" indent="-342900">
              <a:buFont typeface="Wingdings"/>
              <a:buChar char=""/>
              <a:defRPr/>
            </a:pPr>
            <a:r>
              <a:rPr lang="en-US" sz="2400"/>
              <a:t>Data encrypted with the sender’s private key is known an </a:t>
            </a:r>
            <a:r>
              <a:rPr lang="en-US" sz="2400" b="1"/>
              <a:t>open message format</a:t>
            </a:r>
            <a:r>
              <a:rPr lang="en-US" sz="2400"/>
              <a:t> because anyone with a copy of the corresponding public key can decrypt the message.</a:t>
            </a:r>
            <a:endParaRPr lang="en-US" sz="2400"/>
          </a:p>
          <a:p>
            <a:pPr marL="342900" indent="-342900">
              <a:buFont typeface="Wingdings"/>
              <a:buChar char=""/>
              <a:defRPr/>
            </a:pPr>
            <a:endParaRPr lang="en-US" sz="2400"/>
          </a:p>
          <a:p>
            <a:pPr marL="342900" indent="-342900">
              <a:buFont typeface="Wingdings"/>
              <a:buChar char=""/>
              <a:defRPr/>
            </a:pPr>
            <a:r>
              <a:rPr lang="en-US" sz="2400"/>
              <a:t>Thus</a:t>
            </a:r>
            <a:r>
              <a:rPr lang="en-US" sz="2400" b="1"/>
              <a:t> Confidentiality</a:t>
            </a:r>
            <a:r>
              <a:rPr lang="en-US" sz="2400"/>
              <a:t> is not ensured.</a:t>
            </a:r>
            <a:endParaRPr lang="en-US" sz="2400"/>
          </a:p>
          <a:p>
            <a:pPr marL="342900" indent="-342900">
              <a:buFont typeface="Wingdings"/>
              <a:buChar char=""/>
              <a:defRPr/>
            </a:pPr>
            <a:endParaRPr lang="en-US" sz="2400"/>
          </a:p>
          <a:p>
            <a:pPr marL="342900" indent="-342900">
              <a:buFont typeface="Wingdings"/>
              <a:buChar char=""/>
              <a:defRPr/>
            </a:pPr>
            <a:r>
              <a:rPr lang="en-US" sz="2400"/>
              <a:t>An </a:t>
            </a:r>
            <a:r>
              <a:rPr lang="en-US" sz="2400" b="1"/>
              <a:t>asymmetric algorithm</a:t>
            </a:r>
            <a:r>
              <a:rPr lang="en-US" sz="2400"/>
              <a:t> works much </a:t>
            </a:r>
            <a:r>
              <a:rPr lang="en-US" sz="2400" b="1"/>
              <a:t>more slowly</a:t>
            </a:r>
            <a:r>
              <a:rPr lang="en-US" sz="2400"/>
              <a:t> than a symmetric algorithm, because symmetric algorithms carry out relatively simplistic mathematical functions on the bits during the encryption and decryption processes. </a:t>
            </a:r>
            <a:endParaRPr lang="en-US" sz="2400"/>
          </a:p>
          <a:p>
            <a:pPr marL="342900" indent="-342900">
              <a:buFont typeface="Wingdings"/>
              <a:buChar char=""/>
              <a:defRPr/>
            </a:pPr>
            <a:endParaRPr lang="en-US" sz="2400"/>
          </a:p>
          <a:p>
            <a:pPr marL="342900" indent="-342900">
              <a:buFont typeface="Wingdings"/>
              <a:buChar char=""/>
              <a:defRPr/>
            </a:pPr>
            <a:r>
              <a:rPr lang="en-US" sz="2400" b="1"/>
              <a:t>Asymmetric systems</a:t>
            </a:r>
            <a:r>
              <a:rPr lang="en-US" sz="2400"/>
              <a:t> also provide for easier and more </a:t>
            </a:r>
            <a:r>
              <a:rPr lang="en-US" sz="2400" b="1"/>
              <a:t>manageable key distribution</a:t>
            </a:r>
            <a:r>
              <a:rPr lang="en-US" sz="2400"/>
              <a:t> than symmetric systems and do not have the scalability issues of symmetric systems.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5142628" name="Title 1"/>
          <p:cNvSpPr>
            <a:spLocks noGrp="1"/>
          </p:cNvSpPr>
          <p:nvPr>
            <p:ph type="title"/>
          </p:nvPr>
        </p:nvSpPr>
        <p:spPr bwMode="auto"/>
        <p:txBody>
          <a:bodyPr/>
          <a:p>
            <a:pPr>
              <a:defRPr/>
            </a:pPr>
            <a:r>
              <a:rPr lang="en-US"/>
              <a:t>Cryptography</a:t>
            </a:r>
            <a:endParaRPr lang="en-US"/>
          </a:p>
        </p:txBody>
      </p:sp>
      <p:pic>
        <p:nvPicPr>
          <p:cNvPr id="81539595" name="Content Placeholder 3"/>
          <p:cNvPicPr>
            <a:picLocks noChangeAspect="1"/>
          </p:cNvPicPr>
          <p:nvPr>
            <p:ph idx="1"/>
          </p:nvPr>
        </p:nvPicPr>
        <p:blipFill rotWithShape="1">
          <a:blip r:embed="rId3"/>
          <a:stretch/>
        </p:blipFill>
        <p:spPr bwMode="auto">
          <a:xfrm>
            <a:off x="457835" y="1080770"/>
            <a:ext cx="7780655" cy="49752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0527052"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645226551" name="Text Box 1"/>
          <p:cNvSpPr txBox="1"/>
          <p:nvPr/>
        </p:nvSpPr>
        <p:spPr bwMode="auto">
          <a:xfrm>
            <a:off x="457200" y="723900"/>
            <a:ext cx="8139430" cy="5384800"/>
          </a:xfrm>
          <a:prstGeom prst="rect">
            <a:avLst/>
          </a:prstGeom>
          <a:noFill/>
        </p:spPr>
        <p:txBody>
          <a:bodyPr wrap="square" rtlCol="0">
            <a:spAutoFit/>
          </a:bodyPr>
          <a:p>
            <a:pPr marL="342900" indent="-342900">
              <a:buFont typeface="Wingdings"/>
              <a:buChar char=""/>
              <a:defRPr/>
            </a:pPr>
            <a:r>
              <a:rPr lang="en-US" sz="2400" b="1"/>
              <a:t>Exclusive OR</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This logical function is perhaps the most important and most commonly used in cryptographic applications—the </a:t>
            </a:r>
            <a:r>
              <a:rPr lang="en-US" sz="2400" b="1"/>
              <a:t>exclusive OR (XOR)</a:t>
            </a:r>
            <a:r>
              <a:rPr lang="en-US" sz="2400"/>
              <a:t> function. </a:t>
            </a:r>
            <a:endParaRPr lang="en-US" sz="2400"/>
          </a:p>
          <a:p>
            <a:pPr marL="342900" indent="-342900">
              <a:buFont typeface="Wingdings"/>
              <a:buChar char=""/>
              <a:defRPr/>
            </a:pPr>
            <a:endParaRPr lang="en-US" sz="2400"/>
          </a:p>
          <a:p>
            <a:pPr marL="342900" indent="-342900">
              <a:buFont typeface="Wingdings"/>
              <a:buChar char=""/>
              <a:defRPr/>
            </a:pPr>
            <a:r>
              <a:rPr lang="en-US" sz="2400"/>
              <a:t>It’s referred to in mathematical literature as the </a:t>
            </a:r>
            <a:r>
              <a:rPr lang="en-US" sz="2400" b="1"/>
              <a:t>XOR</a:t>
            </a:r>
            <a:r>
              <a:rPr lang="en-US" sz="2400"/>
              <a:t> function and is commonly represented by the </a:t>
            </a:r>
            <a:r>
              <a:rPr lang="en-US" sz="3200" b="1"/>
              <a:t>⊕</a:t>
            </a:r>
            <a:r>
              <a:rPr lang="en-US" sz="2400"/>
              <a:t> symbol. </a:t>
            </a:r>
            <a:endParaRPr lang="en-US" sz="2400"/>
          </a:p>
          <a:p>
            <a:pPr marL="342900" indent="-342900">
              <a:buFont typeface="Wingdings"/>
              <a:buChar char=""/>
              <a:defRPr/>
            </a:pPr>
            <a:endParaRPr lang="en-US" sz="2400"/>
          </a:p>
          <a:p>
            <a:pPr marL="342900" indent="-342900">
              <a:buFont typeface="Wingdings"/>
              <a:buChar char=""/>
              <a:defRPr/>
            </a:pPr>
            <a:r>
              <a:rPr lang="en-US" sz="2400"/>
              <a:t>The </a:t>
            </a:r>
            <a:r>
              <a:rPr lang="en-US" sz="2400" b="1"/>
              <a:t>XOR</a:t>
            </a:r>
            <a:r>
              <a:rPr lang="en-US" sz="2400"/>
              <a:t> function </a:t>
            </a:r>
            <a:r>
              <a:rPr lang="en-US" sz="2400" b="1"/>
              <a:t>returns</a:t>
            </a:r>
            <a:r>
              <a:rPr lang="en-US" sz="2400"/>
              <a:t> a </a:t>
            </a:r>
            <a:r>
              <a:rPr lang="en-US" sz="2400" b="1"/>
              <a:t>true value</a:t>
            </a:r>
            <a:r>
              <a:rPr lang="en-US" sz="2400"/>
              <a:t> when </a:t>
            </a:r>
            <a:r>
              <a:rPr lang="en-US" sz="2400" b="1"/>
              <a:t>only one of the input values is true</a:t>
            </a:r>
            <a:r>
              <a:rPr lang="en-US" sz="2400"/>
              <a:t>.</a:t>
            </a:r>
            <a:endParaRPr lang="en-US" sz="2400"/>
          </a:p>
          <a:p>
            <a:pPr marL="342900" indent="-342900">
              <a:buFont typeface="Wingdings"/>
              <a:buChar char=""/>
              <a:defRPr/>
            </a:pPr>
            <a:endParaRPr lang="en-US" sz="2400"/>
          </a:p>
          <a:p>
            <a:pPr marL="342900" indent="-342900">
              <a:buFont typeface="Wingdings"/>
              <a:buChar char=""/>
              <a:defRPr/>
            </a:pPr>
            <a:r>
              <a:rPr lang="en-US" sz="2400"/>
              <a:t> If </a:t>
            </a:r>
            <a:r>
              <a:rPr lang="en-US" sz="2400" b="1"/>
              <a:t>both</a:t>
            </a:r>
            <a:r>
              <a:rPr lang="en-US" sz="2400"/>
              <a:t> </a:t>
            </a:r>
            <a:r>
              <a:rPr lang="en-US" sz="2400" b="1"/>
              <a:t>values</a:t>
            </a:r>
            <a:r>
              <a:rPr lang="en-US" sz="2400"/>
              <a:t> are </a:t>
            </a:r>
            <a:r>
              <a:rPr lang="en-US" sz="2400" b="1"/>
              <a:t>false</a:t>
            </a:r>
            <a:r>
              <a:rPr lang="en-US" sz="2400"/>
              <a:t> or </a:t>
            </a:r>
            <a:r>
              <a:rPr lang="en-US" sz="2400" b="1"/>
              <a:t>both values</a:t>
            </a:r>
            <a:r>
              <a:rPr lang="en-US" sz="2400"/>
              <a:t> are </a:t>
            </a:r>
            <a:r>
              <a:rPr lang="en-US" sz="2400" b="1"/>
              <a:t>true</a:t>
            </a:r>
            <a:r>
              <a:rPr lang="en-US" sz="2400"/>
              <a:t>, the </a:t>
            </a:r>
            <a:r>
              <a:rPr lang="en-US" sz="2400" b="1"/>
              <a:t>output</a:t>
            </a:r>
            <a:r>
              <a:rPr lang="en-US" sz="2400"/>
              <a:t> of the </a:t>
            </a:r>
            <a:r>
              <a:rPr lang="en-US" sz="2400" b="1"/>
              <a:t>XOR</a:t>
            </a:r>
            <a:r>
              <a:rPr lang="en-US" sz="2400"/>
              <a:t> function is </a:t>
            </a:r>
            <a:r>
              <a:rPr lang="en-US" sz="2400" b="1"/>
              <a:t>false</a:t>
            </a:r>
            <a:r>
              <a:rPr lang="en-US" sz="2400"/>
              <a:t>.</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9768459" name="Title 14337" descr="512a190070e642d880be1a6e74542f0b# #矩形 157"/>
          <p:cNvSpPr>
            <a:spLocks noGrp="1"/>
          </p:cNvSpPr>
          <p:nvPr>
            <p:ph type="title"/>
          </p:nvPr>
        </p:nvSpPr>
        <p:spPr bwMode="auto"/>
        <p:txBody>
          <a:bodyPr anchor="ctr"/>
          <a:p>
            <a:pPr>
              <a:defRPr/>
            </a:pPr>
            <a:r>
              <a:rPr lang="en-US" sz="3200"/>
              <a:t>Cryptography</a:t>
            </a:r>
            <a:endParaRPr lang="en-US" sz="3200"/>
          </a:p>
        </p:txBody>
      </p:sp>
      <p:sp>
        <p:nvSpPr>
          <p:cNvPr id="1978002573" name="Text Box 1"/>
          <p:cNvSpPr txBox="1"/>
          <p:nvPr/>
        </p:nvSpPr>
        <p:spPr bwMode="auto">
          <a:xfrm>
            <a:off x="457200" y="962660"/>
            <a:ext cx="8417560" cy="5631179"/>
          </a:xfrm>
          <a:prstGeom prst="rect">
            <a:avLst/>
          </a:prstGeom>
          <a:noFill/>
        </p:spPr>
        <p:txBody>
          <a:bodyPr wrap="square" rtlCol="0">
            <a:spAutoFit/>
          </a:bodyPr>
          <a:p>
            <a:pPr marL="342900" indent="-342900">
              <a:buFont typeface="Wingdings"/>
              <a:buChar char=""/>
              <a:defRPr/>
            </a:pPr>
            <a:r>
              <a:rPr lang="en-US" sz="2400" b="1"/>
              <a:t>Exclusive OR</a:t>
            </a:r>
            <a:endParaRPr lang="en-US" sz="2400" b="1"/>
          </a:p>
          <a:p>
            <a:pPr marL="342900" indent="-342900">
              <a:buFont typeface="Wingdings"/>
              <a:buChar char=""/>
              <a:defRPr/>
            </a:pPr>
            <a:endParaRPr lang="en-US" sz="2400" b="1"/>
          </a:p>
          <a:p>
            <a:pPr marL="342900" indent="-342900">
              <a:buFont typeface="Wingdings"/>
              <a:buChar char=""/>
              <a:defRPr/>
            </a:pPr>
            <a:endParaRPr lang="en-US" sz="2400" b="1"/>
          </a:p>
          <a:p>
            <a:pPr marL="342900" indent="-342900">
              <a:buFont typeface="Wingdings"/>
              <a:buChar char=""/>
              <a:defRPr/>
            </a:pPr>
            <a:endParaRPr lang="en-US" sz="2400" b="1"/>
          </a:p>
          <a:p>
            <a:pPr marL="342900" indent="-342900">
              <a:buFont typeface="Wingdings"/>
              <a:buChar char=""/>
              <a:defRPr/>
            </a:pPr>
            <a:endParaRPr lang="en-US" sz="2400" b="1"/>
          </a:p>
          <a:p>
            <a:pPr marL="342900" indent="-342900">
              <a:buFont typeface="Wingdings"/>
              <a:buChar char=""/>
              <a:defRPr/>
            </a:pPr>
            <a:endParaRPr lang="en-US" sz="2400" b="1"/>
          </a:p>
          <a:p>
            <a:pPr marL="342900" indent="-342900">
              <a:buFont typeface="Wingdings"/>
              <a:buChar char=""/>
              <a:defRPr/>
            </a:pPr>
            <a:endParaRPr lang="en-US" sz="2400" b="1"/>
          </a:p>
          <a:p>
            <a:pPr marL="342900" indent="-342900">
              <a:buFont typeface="Wingdings"/>
              <a:buChar char=""/>
              <a:defRPr/>
            </a:pPr>
            <a:endParaRPr lang="en-US" sz="2400" b="1"/>
          </a:p>
          <a:p>
            <a:pPr marL="342900" indent="-342900">
              <a:buFont typeface="Wingdings"/>
              <a:buChar char=""/>
              <a:defRPr/>
            </a:pPr>
            <a:r>
              <a:rPr lang="en-US" sz="2400" b="1"/>
              <a:t>Modulo Function</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The </a:t>
            </a:r>
            <a:r>
              <a:rPr lang="en-US" sz="2400" b="1"/>
              <a:t>modulo function</a:t>
            </a:r>
            <a:r>
              <a:rPr lang="en-US" sz="2400"/>
              <a:t> is extremely important in the field of cryptography.</a:t>
            </a:r>
            <a:endParaRPr lang="en-US" sz="2400"/>
          </a:p>
          <a:p>
            <a:pPr marL="342900" indent="-342900">
              <a:buFont typeface="Wingdings"/>
              <a:buChar char=""/>
              <a:defRPr/>
            </a:pPr>
            <a:endParaRPr lang="en-US" sz="2400"/>
          </a:p>
          <a:p>
            <a:pPr marL="342900" indent="-342900">
              <a:buFont typeface="Wingdings"/>
              <a:buChar char=""/>
              <a:defRPr/>
            </a:pPr>
            <a:r>
              <a:rPr lang="en-US" sz="2400"/>
              <a:t>The </a:t>
            </a:r>
            <a:r>
              <a:rPr lang="en-US" sz="2400" b="1"/>
              <a:t>modulo function</a:t>
            </a:r>
            <a:r>
              <a:rPr lang="en-US" sz="2400"/>
              <a:t> finds the remainder value left over after a division operation of two numbers is performed.</a:t>
            </a:r>
            <a:endParaRPr lang="en-US" sz="2400"/>
          </a:p>
        </p:txBody>
      </p:sp>
      <p:pic>
        <p:nvPicPr>
          <p:cNvPr id="1124341960" name="Content Placeholder 2"/>
          <p:cNvPicPr>
            <a:picLocks noChangeAspect="1"/>
          </p:cNvPicPr>
          <p:nvPr>
            <p:ph sz="half" idx="1"/>
          </p:nvPr>
        </p:nvPicPr>
        <p:blipFill rotWithShape="1">
          <a:blip r:embed="rId3">
            <a:extLst>
              <a:ext uri="{96DAC541-7B7A-43D3-8B79-37D633B846F1}">
                <asvg:svgBlip xmlns:asvg="http://schemas.microsoft.com/office/drawing/2016/SVG/main" r:embed="rId4"/>
              </a:ext>
            </a:extLst>
          </a:blip>
          <a:stretch/>
        </p:blipFill>
        <p:spPr bwMode="auto">
          <a:xfrm>
            <a:off x="755015" y="1510665"/>
            <a:ext cx="4244975" cy="2117725"/>
          </a:xfrm>
          <a:prstGeom prst="rect">
            <a:avLst/>
          </a:prstGeom>
        </p:spPr>
      </p:pic>
      <p:pic>
        <p:nvPicPr>
          <p:cNvPr id="262435355" name="Content Placeholder 3"/>
          <p:cNvPicPr>
            <a:picLocks noChangeAspect="1"/>
          </p:cNvPicPr>
          <p:nvPr>
            <p:ph sz="half" idx="2"/>
          </p:nvPr>
        </p:nvPicPr>
        <p:blipFill rotWithShape="1">
          <a:blip r:embed="rId5">
            <a:extLst>
              <a:ext uri="{96DAC541-7B7A-43D3-8B79-37D633B846F1}">
                <asvg:svgBlip xmlns:asvg="http://schemas.microsoft.com/office/drawing/2016/SVG/main" r:embed="rId6"/>
              </a:ext>
            </a:extLst>
          </a:blip>
          <a:stretch/>
        </p:blipFill>
        <p:spPr bwMode="auto">
          <a:xfrm>
            <a:off x="5392420" y="1609090"/>
            <a:ext cx="3124835" cy="201993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5837780" name="Title 14337" descr="512a190070e642d880be1a6e74542f0b# #矩形 157"/>
          <p:cNvSpPr>
            <a:spLocks noGrp="1"/>
          </p:cNvSpPr>
          <p:nvPr>
            <p:ph type="title"/>
          </p:nvPr>
        </p:nvSpPr>
        <p:spPr bwMode="auto">
          <a:xfrm>
            <a:off x="457200" y="274955"/>
            <a:ext cx="8229600" cy="475615"/>
          </a:xfrm>
        </p:spPr>
        <p:txBody>
          <a:bodyPr anchor="ctr"/>
          <a:p>
            <a:pPr>
              <a:defRPr/>
            </a:pPr>
            <a:r>
              <a:rPr lang="en-US" sz="3200"/>
              <a:t>Cryptography</a:t>
            </a:r>
            <a:endParaRPr lang="en-US" sz="3200"/>
          </a:p>
        </p:txBody>
      </p:sp>
      <p:sp>
        <p:nvSpPr>
          <p:cNvPr id="1045469023" name="Text Box 2"/>
          <p:cNvSpPr txBox="1"/>
          <p:nvPr/>
        </p:nvSpPr>
        <p:spPr bwMode="auto">
          <a:xfrm>
            <a:off x="457200" y="750570"/>
            <a:ext cx="8391525" cy="6000750"/>
          </a:xfrm>
          <a:prstGeom prst="rect">
            <a:avLst/>
          </a:prstGeom>
          <a:noFill/>
        </p:spPr>
        <p:txBody>
          <a:bodyPr wrap="square" rtlCol="0">
            <a:spAutoFit/>
          </a:bodyPr>
          <a:p>
            <a:pPr marL="342900" indent="-342900">
              <a:buFont typeface="Wingdings"/>
              <a:buChar char=""/>
              <a:defRPr/>
            </a:pPr>
            <a:r>
              <a:rPr lang="en-US" sz="2400"/>
              <a:t>The </a:t>
            </a:r>
            <a:r>
              <a:rPr lang="en-US" sz="2400" b="1"/>
              <a:t>modulo function</a:t>
            </a:r>
            <a:r>
              <a:rPr lang="en-US" sz="2400"/>
              <a:t> is r represented in equations by the abbreviation </a:t>
            </a:r>
            <a:r>
              <a:rPr lang="en-US" sz="2400" b="1"/>
              <a:t>mod</a:t>
            </a:r>
            <a:r>
              <a:rPr lang="en-US" sz="2400"/>
              <a:t>, although it’s also sometimes represented by the </a:t>
            </a:r>
            <a:r>
              <a:rPr lang="en-US" sz="2400" b="1"/>
              <a:t>% operator</a:t>
            </a:r>
            <a:r>
              <a:rPr lang="en-US" sz="2400"/>
              <a:t>.</a:t>
            </a:r>
            <a:endParaRPr lang="en-US" sz="2400"/>
          </a:p>
          <a:p>
            <a:pPr marL="342900" indent="-342900">
              <a:buFont typeface="Wingdings"/>
              <a:buChar char=""/>
              <a:defRPr/>
            </a:pPr>
            <a:r>
              <a:rPr lang="en-US" sz="2400"/>
              <a:t>Some examples of Modulo function</a:t>
            </a:r>
            <a:endParaRPr lang="en-US" sz="2400"/>
          </a:p>
          <a:p>
            <a:pPr>
              <a:buFont typeface="Wingdings"/>
              <a:defRPr/>
            </a:pPr>
            <a:r>
              <a:rPr lang="en-US" sz="2400"/>
              <a:t>		8 mod 6 = 2</a:t>
            </a:r>
            <a:endParaRPr lang="en-US" sz="2400"/>
          </a:p>
          <a:p>
            <a:pPr>
              <a:buFont typeface="Wingdings"/>
              <a:defRPr/>
            </a:pPr>
            <a:r>
              <a:rPr lang="en-US" sz="2400"/>
              <a:t>		6 mod 8 = 6</a:t>
            </a:r>
            <a:endParaRPr lang="en-US" sz="2400"/>
          </a:p>
          <a:p>
            <a:pPr>
              <a:buFont typeface="Wingdings"/>
              <a:defRPr/>
            </a:pPr>
            <a:r>
              <a:rPr lang="en-US" sz="2400"/>
              <a:t>		10 mod 3 = 1</a:t>
            </a:r>
            <a:endParaRPr lang="en-US" sz="2400"/>
          </a:p>
          <a:p>
            <a:pPr>
              <a:buFont typeface="Wingdings"/>
              <a:defRPr/>
            </a:pPr>
            <a:r>
              <a:rPr lang="en-US" sz="2400"/>
              <a:t>		10 mod 2 = 0</a:t>
            </a:r>
            <a:endParaRPr lang="en-US" sz="2400"/>
          </a:p>
          <a:p>
            <a:pPr>
              <a:buFont typeface="Wingdings"/>
              <a:defRPr/>
            </a:pPr>
            <a:r>
              <a:rPr lang="en-US" sz="2400"/>
              <a:t>		32 mod 8 = 0</a:t>
            </a:r>
            <a:endParaRPr lang="en-US" sz="2400"/>
          </a:p>
          <a:p>
            <a:pPr>
              <a:buFont typeface="Wingdings"/>
              <a:defRPr/>
            </a:pPr>
            <a:endParaRPr lang="en-US" sz="2400"/>
          </a:p>
          <a:p>
            <a:pPr marL="342900" indent="-342900">
              <a:buFont typeface="Wingdings"/>
              <a:buChar char=""/>
              <a:defRPr/>
            </a:pPr>
            <a:r>
              <a:rPr lang="en-US" sz="2400" b="1"/>
              <a:t>One-Way Functions</a:t>
            </a:r>
            <a:endParaRPr lang="en-US" sz="2400" b="1"/>
          </a:p>
          <a:p>
            <a:pPr marL="342900" indent="-342900">
              <a:buFont typeface="Wingdings"/>
              <a:buChar char=""/>
              <a:defRPr/>
            </a:pPr>
            <a:endParaRPr lang="en-US" sz="2400"/>
          </a:p>
          <a:p>
            <a:pPr marL="342900" indent="-342900">
              <a:buFont typeface="Wingdings"/>
              <a:buChar char=""/>
              <a:defRPr/>
            </a:pPr>
            <a:r>
              <a:rPr lang="en-US" sz="2400"/>
              <a:t>A </a:t>
            </a:r>
            <a:r>
              <a:rPr lang="en-US" sz="2400" b="1"/>
              <a:t>one-way function</a:t>
            </a:r>
            <a:r>
              <a:rPr lang="en-US" sz="2400"/>
              <a:t> is a mathematical operation that easily produces output values for each possible combination of inputs but makes it impossible to retrieve the input values.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6623270"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606680505" name="Text Box 1"/>
          <p:cNvSpPr txBox="1"/>
          <p:nvPr/>
        </p:nvSpPr>
        <p:spPr bwMode="auto">
          <a:xfrm>
            <a:off x="457200" y="630555"/>
            <a:ext cx="8497570" cy="6000750"/>
          </a:xfrm>
          <a:prstGeom prst="rect">
            <a:avLst/>
          </a:prstGeom>
          <a:noFill/>
        </p:spPr>
        <p:txBody>
          <a:bodyPr wrap="square" rtlCol="0">
            <a:spAutoFit/>
          </a:bodyPr>
          <a:p>
            <a:pPr marL="342900" indent="-342900">
              <a:buFont typeface="Wingdings"/>
              <a:buChar char=""/>
              <a:defRPr/>
            </a:pPr>
            <a:r>
              <a:rPr lang="en-US" sz="2400" b="1"/>
              <a:t>Nonce</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Cryptography often gains strength by adding randomness to the encryption process. </a:t>
            </a:r>
            <a:endParaRPr lang="en-US" sz="2400"/>
          </a:p>
          <a:p>
            <a:pPr marL="342900" indent="-342900">
              <a:buFont typeface="Wingdings"/>
              <a:buChar char=""/>
              <a:defRPr/>
            </a:pPr>
            <a:endParaRPr lang="en-US" sz="2400"/>
          </a:p>
          <a:p>
            <a:pPr marL="342900" indent="-342900">
              <a:buFont typeface="Wingdings"/>
              <a:buChar char=""/>
              <a:defRPr/>
            </a:pPr>
            <a:r>
              <a:rPr lang="en-US" sz="2400"/>
              <a:t>One method by which this is accomplished is through the use of a </a:t>
            </a:r>
            <a:r>
              <a:rPr lang="en-US" sz="2400" b="1"/>
              <a:t>nonce</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A </a:t>
            </a:r>
            <a:r>
              <a:rPr lang="en-US" sz="2400" b="1"/>
              <a:t>nonce</a:t>
            </a:r>
            <a:r>
              <a:rPr lang="en-US" sz="2400"/>
              <a:t> is a random number that acts as a placeholder variable in mathematical functions. </a:t>
            </a:r>
            <a:endParaRPr lang="en-US" sz="2400"/>
          </a:p>
          <a:p>
            <a:pPr marL="342900" indent="-342900">
              <a:buFont typeface="Wingdings"/>
              <a:buChar char=""/>
              <a:defRPr/>
            </a:pPr>
            <a:endParaRPr lang="en-US" sz="2400"/>
          </a:p>
          <a:p>
            <a:pPr marL="342900" indent="-342900">
              <a:buFont typeface="Wingdings"/>
              <a:buChar char=""/>
              <a:defRPr/>
            </a:pPr>
            <a:r>
              <a:rPr lang="en-US" sz="2400"/>
              <a:t>When the function is executed, the nonce is replaced with a random number generated at the moment of processing for one-time use. </a:t>
            </a:r>
            <a:endParaRPr lang="en-US" sz="2400"/>
          </a:p>
          <a:p>
            <a:pPr marL="342900" indent="-342900">
              <a:buFont typeface="Wingdings"/>
              <a:buChar char=""/>
              <a:defRPr/>
            </a:pPr>
            <a:endParaRPr lang="en-US" sz="2400"/>
          </a:p>
          <a:p>
            <a:pPr marL="342900" indent="-342900">
              <a:buFont typeface="Wingdings"/>
              <a:buChar char=""/>
              <a:defRPr/>
            </a:pPr>
            <a:r>
              <a:rPr lang="en-US" sz="2400"/>
              <a:t>The nonce must be a unique number each time it is used.</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0492189"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973830191" name="Text Box 2"/>
          <p:cNvSpPr txBox="1"/>
          <p:nvPr/>
        </p:nvSpPr>
        <p:spPr bwMode="auto">
          <a:xfrm>
            <a:off x="457200" y="842644"/>
            <a:ext cx="8351520" cy="5631179"/>
          </a:xfrm>
          <a:prstGeom prst="rect">
            <a:avLst/>
          </a:prstGeom>
          <a:noFill/>
        </p:spPr>
        <p:txBody>
          <a:bodyPr wrap="square" rtlCol="0">
            <a:spAutoFit/>
          </a:bodyPr>
          <a:p>
            <a:pPr marL="342900" indent="-342900">
              <a:buFont typeface="Wingdings"/>
              <a:buChar char=""/>
              <a:defRPr/>
            </a:pPr>
            <a:r>
              <a:rPr lang="en-US" sz="2400"/>
              <a:t>One of the more recognizable examples of a </a:t>
            </a:r>
            <a:r>
              <a:rPr lang="en-US" sz="2400" b="1"/>
              <a:t>nonce</a:t>
            </a:r>
            <a:r>
              <a:rPr lang="en-US" sz="2400"/>
              <a:t> is an </a:t>
            </a:r>
            <a:r>
              <a:rPr lang="en-US" sz="2400" b="1"/>
              <a:t>initialization vector (IV)</a:t>
            </a:r>
            <a:r>
              <a:rPr lang="en-US" sz="2400"/>
              <a:t>, a random bit string that is the same length as the block size and is XORed with the message. </a:t>
            </a:r>
            <a:endParaRPr lang="en-US" sz="2400"/>
          </a:p>
          <a:p>
            <a:pPr marL="342900" indent="-342900">
              <a:buFont typeface="Wingdings"/>
              <a:buChar char=""/>
              <a:defRPr/>
            </a:pPr>
            <a:endParaRPr lang="en-US" sz="2400"/>
          </a:p>
          <a:p>
            <a:pPr marL="342900" indent="-342900">
              <a:buFont typeface="Wingdings"/>
              <a:buChar char=""/>
              <a:defRPr/>
            </a:pPr>
            <a:r>
              <a:rPr lang="en-US" sz="2400"/>
              <a:t>IVs are used to create unique ciphertext every time the same message is encrypted using the same key.</a:t>
            </a:r>
            <a:endParaRPr lang="en-US" sz="2400"/>
          </a:p>
          <a:p>
            <a:pPr marL="342900" indent="-342900">
              <a:buFont typeface="Wingdings"/>
              <a:buChar char=""/>
              <a:defRPr/>
            </a:pPr>
            <a:endParaRPr lang="en-US" sz="2400"/>
          </a:p>
          <a:p>
            <a:pPr marL="342900" indent="-342900">
              <a:buFont typeface="Wingdings"/>
              <a:buChar char=""/>
              <a:defRPr/>
            </a:pPr>
            <a:r>
              <a:rPr lang="en-US" sz="2400"/>
              <a:t>A </a:t>
            </a:r>
            <a:r>
              <a:rPr lang="en-US" sz="2400" b="1"/>
              <a:t>salt</a:t>
            </a:r>
            <a:r>
              <a:rPr lang="en-US" sz="2400"/>
              <a:t> is also similar and mostly used in hashing passwords.</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6739259"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772831906" name="Text Box 1"/>
          <p:cNvSpPr txBox="1"/>
          <p:nvPr/>
        </p:nvSpPr>
        <p:spPr bwMode="auto">
          <a:xfrm>
            <a:off x="457200" y="723899"/>
            <a:ext cx="8380709" cy="5943959"/>
          </a:xfrm>
          <a:prstGeom prst="rect">
            <a:avLst/>
          </a:prstGeom>
          <a:noFill/>
        </p:spPr>
        <p:txBody>
          <a:bodyPr wrap="square" rtlCol="0">
            <a:spAutoFit/>
          </a:bodyPr>
          <a:p>
            <a:pPr>
              <a:defRPr/>
            </a:pPr>
            <a:endParaRPr lang="en-US" sz="2400"/>
          </a:p>
          <a:p>
            <a:pPr marL="342900" indent="-342900">
              <a:buFont typeface="Wingdings"/>
              <a:buChar char=""/>
              <a:defRPr/>
            </a:pPr>
            <a:r>
              <a:rPr lang="en-US" sz="2400" b="1"/>
              <a:t>Codes vs. Ciphers</a:t>
            </a:r>
            <a:endParaRPr lang="en-US" sz="2400" b="1"/>
          </a:p>
          <a:p>
            <a:pPr marL="342900" indent="-342900">
              <a:buFont typeface="Wingdings"/>
              <a:buChar char=""/>
              <a:defRPr/>
            </a:pPr>
            <a:endParaRPr lang="en-US" sz="2400"/>
          </a:p>
          <a:p>
            <a:pPr marL="342900" indent="-342900">
              <a:buFont typeface="Wingdings"/>
              <a:buChar char=""/>
              <a:defRPr/>
            </a:pPr>
            <a:r>
              <a:rPr lang="en-US" sz="2400" b="1"/>
              <a:t>Codes,</a:t>
            </a:r>
            <a:r>
              <a:rPr lang="en-US" sz="2400"/>
              <a:t> are cryptographic systems of symbols that represent words or phrases, are sometimes secret, but they are not necessarily meant to provide confidentiality.</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r>
              <a:rPr lang="en-US" sz="2400" b="1"/>
              <a:t>Ciphers</a:t>
            </a:r>
            <a:r>
              <a:rPr lang="en-US" sz="2400"/>
              <a:t>, on the other hand, are always meant to hide the true meaning of a message. </a:t>
            </a:r>
            <a:endParaRPr lang="en-US" sz="2400"/>
          </a:p>
          <a:p>
            <a:pPr marL="342900" indent="-342900">
              <a:buFont typeface="Wingdings"/>
              <a:buChar char=""/>
              <a:defRPr/>
            </a:pPr>
            <a:endParaRPr lang="en-US" sz="2400"/>
          </a:p>
          <a:p>
            <a:pPr marL="342900" indent="-342900">
              <a:buFont typeface="Wingdings"/>
              <a:buChar char=""/>
              <a:defRPr/>
            </a:pPr>
            <a:r>
              <a:rPr lang="en-US" sz="2400"/>
              <a:t>They use a variety of techniques to alter and/or rearrange the characters or bits of a message to achieve confidentiality.</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7628728"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899563869" name="Text Box 2"/>
          <p:cNvSpPr txBox="1"/>
          <p:nvPr/>
        </p:nvSpPr>
        <p:spPr bwMode="auto">
          <a:xfrm>
            <a:off x="457200" y="935355"/>
            <a:ext cx="8139430" cy="7477760"/>
          </a:xfrm>
          <a:prstGeom prst="rect">
            <a:avLst/>
          </a:prstGeom>
          <a:noFill/>
        </p:spPr>
        <p:txBody>
          <a:bodyPr wrap="square" rtlCol="0">
            <a:spAutoFit/>
          </a:bodyPr>
          <a:p>
            <a:pPr marL="342900" indent="-342900">
              <a:buFont typeface="Wingdings"/>
              <a:buChar char=""/>
              <a:defRPr/>
            </a:pPr>
            <a:r>
              <a:rPr lang="en-US" sz="2400" b="1"/>
              <a:t>Substitution Ciphers </a:t>
            </a:r>
            <a:endParaRPr lang="en-US" sz="2400" b="1"/>
          </a:p>
          <a:p>
            <a:pPr marL="342900" indent="-342900">
              <a:buFont typeface="Wingdings"/>
              <a:buChar char=""/>
              <a:defRPr/>
            </a:pPr>
            <a:endParaRPr lang="en-US" sz="2400" b="1"/>
          </a:p>
          <a:p>
            <a:pPr marL="342900" indent="-342900">
              <a:buFont typeface="Wingdings"/>
              <a:buChar char=""/>
              <a:defRPr/>
            </a:pPr>
            <a:r>
              <a:rPr lang="en-US" sz="2400" b="1"/>
              <a:t>Substitution ciphers </a:t>
            </a:r>
            <a:r>
              <a:rPr lang="en-US" sz="2400"/>
              <a:t>use the encryption algorithm to replace each character or bit of the plaintext message with a different character.</a:t>
            </a:r>
            <a:endParaRPr lang="en-US" sz="2400"/>
          </a:p>
          <a:p>
            <a:pPr marL="342900" indent="-342900">
              <a:buFont typeface="Wingdings"/>
              <a:buChar char=""/>
              <a:defRPr/>
            </a:pPr>
            <a:endParaRPr lang="en-US" sz="2400" b="1"/>
          </a:p>
          <a:p>
            <a:pPr marL="342900" indent="-342900">
              <a:buFont typeface="Wingdings"/>
              <a:buChar char=""/>
              <a:defRPr/>
            </a:pPr>
            <a:r>
              <a:rPr lang="en-US" sz="2400" b="1"/>
              <a:t>Transposition Ciphers</a:t>
            </a:r>
            <a:endParaRPr lang="en-US" sz="2400" b="1"/>
          </a:p>
          <a:p>
            <a:pPr>
              <a:buFont typeface="Wingdings"/>
              <a:defRPr/>
            </a:pPr>
            <a:endParaRPr lang="en-US" sz="2400" b="1"/>
          </a:p>
          <a:p>
            <a:pPr marL="342900" indent="-342900">
              <a:buFont typeface="Wingdings"/>
              <a:buChar char=""/>
              <a:defRPr/>
            </a:pPr>
            <a:r>
              <a:rPr lang="en-US" sz="2400" b="1"/>
              <a:t>Transposition ciphers</a:t>
            </a:r>
            <a:r>
              <a:rPr lang="en-US" sz="2400"/>
              <a:t> use an encryption algorithm to rearrange the letters of a plaintext message, forming the ciphertext message. </a:t>
            </a:r>
            <a:endParaRPr lang="en-US" sz="2400"/>
          </a:p>
          <a:p>
            <a:pPr marL="342900" indent="-342900">
              <a:buFont typeface="Wingdings"/>
              <a:buChar char=""/>
              <a:defRPr/>
            </a:pPr>
            <a:endParaRPr lang="en-US" sz="2400"/>
          </a:p>
          <a:p>
            <a:pPr marL="342900" indent="-342900">
              <a:buFont typeface="Wingdings"/>
              <a:buChar char=""/>
              <a:defRPr/>
            </a:pPr>
            <a:r>
              <a:rPr lang="en-US" sz="2400"/>
              <a:t>The decryption algorithm simply reverses the encryption transformation to retrieve the original message.</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1251363"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495823255"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b="1"/>
              <a:t>Caesar Cipher</a:t>
            </a:r>
            <a:endParaRPr lang="en-US" sz="2400" b="1"/>
          </a:p>
          <a:p>
            <a:pPr marL="342900" indent="-342900">
              <a:buFont typeface="Wingdings"/>
              <a:buChar char=""/>
              <a:defRPr/>
            </a:pPr>
            <a:endParaRPr lang="en-US" sz="2400"/>
          </a:p>
          <a:p>
            <a:pPr marL="342900" indent="-342900">
              <a:buFont typeface="Wingdings"/>
              <a:buChar char=""/>
              <a:defRPr/>
            </a:pPr>
            <a:r>
              <a:rPr lang="en-US" sz="2400"/>
              <a:t>One of the earliest known cipher systems was used by Julius Caesar to communicate with Cicero in Rome while he was conquering Europe.</a:t>
            </a:r>
            <a:endParaRPr lang="en-US" sz="2400"/>
          </a:p>
          <a:p>
            <a:pPr marL="342900" indent="-342900">
              <a:buFont typeface="Wingdings"/>
              <a:buChar char=""/>
              <a:defRPr/>
            </a:pPr>
            <a:endParaRPr lang="en-US" sz="2400"/>
          </a:p>
          <a:p>
            <a:pPr marL="342900" indent="-342900">
              <a:buFont typeface="Wingdings"/>
              <a:buChar char=""/>
              <a:defRPr/>
            </a:pPr>
            <a:r>
              <a:rPr lang="en-US" sz="2400"/>
              <a:t>To encrypt a message, you simply </a:t>
            </a:r>
            <a:r>
              <a:rPr lang="en-US" sz="2400" b="1"/>
              <a:t>shift</a:t>
            </a:r>
            <a:r>
              <a:rPr lang="en-US" sz="2400"/>
              <a:t> each letter of the alphabet </a:t>
            </a:r>
            <a:r>
              <a:rPr lang="en-US" sz="2400" b="1"/>
              <a:t>three places to the right</a:t>
            </a:r>
            <a:r>
              <a:rPr lang="en-US" sz="2400"/>
              <a:t>.</a:t>
            </a:r>
            <a:endParaRPr lang="en-US" sz="2400"/>
          </a:p>
          <a:p>
            <a:pPr marL="342900" indent="-342900">
              <a:buFont typeface="Wingdings"/>
              <a:buChar char=""/>
              <a:defRPr/>
            </a:pPr>
            <a:endParaRPr lang="en-US" sz="2400"/>
          </a:p>
          <a:p>
            <a:pPr marL="342900" indent="-342900">
              <a:buFont typeface="Wingdings"/>
              <a:buChar char=""/>
              <a:defRPr/>
            </a:pPr>
            <a:r>
              <a:rPr lang="en-US" sz="2400"/>
              <a:t>For example, A would become D, and B would become E.</a:t>
            </a:r>
            <a:endParaRPr lang="en-US" sz="2400"/>
          </a:p>
          <a:p>
            <a:pPr marL="342900" indent="-342900">
              <a:buFont typeface="Wingdings"/>
              <a:buChar char=""/>
              <a:defRPr/>
            </a:pPr>
            <a:endParaRPr lang="en-US" sz="2400"/>
          </a:p>
          <a:p>
            <a:pPr marL="342900" indent="-342900">
              <a:buFont typeface="Wingdings"/>
              <a:buChar char=""/>
              <a:defRPr/>
            </a:pPr>
            <a:r>
              <a:rPr lang="en-US" sz="2400"/>
              <a:t>If you reach the end of the alphabet during this process, you simply wrap around to the beginning so that X becomes A, Y becomes B, and Z becomes C.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3731595"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342606395"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a:t>For this reason, the </a:t>
            </a:r>
            <a:r>
              <a:rPr lang="en-US" sz="2400" b="1"/>
              <a:t>Caesar cipher</a:t>
            </a:r>
            <a:r>
              <a:rPr lang="en-US" sz="2400"/>
              <a:t> also became known as the </a:t>
            </a:r>
            <a:r>
              <a:rPr lang="en-US" sz="2400" b="1"/>
              <a:t>ROT3 (or Rotate 3) cipher</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The Caesar cipher is a substitution cipher that is mono-alphabetic.</a:t>
            </a:r>
            <a:endParaRPr lang="en-US" sz="2400"/>
          </a:p>
          <a:p>
            <a:pPr marL="342900" indent="-342900">
              <a:buFont typeface="Wingdings"/>
              <a:buChar char=""/>
              <a:defRPr/>
            </a:pPr>
            <a:endParaRPr lang="en-US" sz="2400"/>
          </a:p>
          <a:p>
            <a:pPr marL="342900" indent="-342900">
              <a:buFont typeface="Wingdings"/>
              <a:buChar char=""/>
              <a:defRPr/>
            </a:pPr>
            <a:r>
              <a:rPr lang="en-US" sz="2400"/>
              <a:t>Try to  encrypt following sentence using caesar cipher.</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r>
              <a:rPr lang="en-US" sz="3600" b="1"/>
              <a:t>DO  YOU  WANT  A  BREAK ?</a:t>
            </a:r>
            <a:endParaRPr lang="en-US" sz="3600" b="1"/>
          </a:p>
          <a:p>
            <a:pPr marL="342900" indent="-342900">
              <a:buFont typeface="Wingdings"/>
              <a:buChar char=""/>
              <a:defRPr/>
            </a:pPr>
            <a:endParaRPr lang="en-US" sz="3600" b="1"/>
          </a:p>
          <a:p>
            <a:pPr marL="342900" indent="-342900">
              <a:buFont typeface="Wingdings"/>
              <a:buChar char=""/>
              <a:defRPr/>
            </a:pPr>
            <a:r>
              <a:rPr lang="en-US" sz="3600"/>
              <a:t>A B C D E F G H I J K L M N O P Q R S T U V W X Y Z.</a:t>
            </a:r>
            <a:endParaRPr lang="en-US" sz="3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2088827"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404881707" name="Text Box 2"/>
          <p:cNvSpPr txBox="1"/>
          <p:nvPr/>
        </p:nvSpPr>
        <p:spPr bwMode="auto">
          <a:xfrm>
            <a:off x="502285" y="2726055"/>
            <a:ext cx="8139430" cy="645159"/>
          </a:xfrm>
          <a:prstGeom prst="rect">
            <a:avLst/>
          </a:prstGeom>
          <a:noFill/>
        </p:spPr>
        <p:txBody>
          <a:bodyPr wrap="square" rtlCol="0">
            <a:spAutoFit/>
          </a:bodyPr>
          <a:p>
            <a:pPr marL="342900" indent="-342900">
              <a:buFont typeface="Wingdings"/>
              <a:buChar char=""/>
              <a:defRPr/>
            </a:pPr>
            <a:r>
              <a:rPr lang="en-US" sz="3600" b="1"/>
              <a:t>GR  BRX   ZDQW  D  EUHDN ?</a:t>
            </a:r>
            <a:endParaRPr lang="en-US" sz="3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9947828"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888376717" name="Text Box 1"/>
          <p:cNvSpPr txBox="1"/>
          <p:nvPr/>
        </p:nvSpPr>
        <p:spPr bwMode="auto">
          <a:xfrm>
            <a:off x="457200" y="723900"/>
            <a:ext cx="8418195" cy="6369685"/>
          </a:xfrm>
          <a:prstGeom prst="rect">
            <a:avLst/>
          </a:prstGeom>
          <a:noFill/>
        </p:spPr>
        <p:txBody>
          <a:bodyPr wrap="square" rtlCol="0">
            <a:spAutoFit/>
          </a:bodyPr>
          <a:p>
            <a:pPr marL="342900" indent="-342900">
              <a:buFont typeface="Wingdings"/>
              <a:buChar char=""/>
              <a:defRPr/>
            </a:pPr>
            <a:r>
              <a:rPr lang="en-US" sz="2400"/>
              <a:t>You can express the ROT3 cipher in mathematical terms by converting each letter to its decimal equivalent (where A is 0 and Z is 25). </a:t>
            </a:r>
            <a:endParaRPr lang="en-US" sz="2400"/>
          </a:p>
          <a:p>
            <a:pPr marL="342900" indent="-342900">
              <a:buFont typeface="Wingdings"/>
              <a:buChar char=""/>
              <a:defRPr/>
            </a:pPr>
            <a:endParaRPr lang="en-US" sz="2400"/>
          </a:p>
          <a:p>
            <a:pPr marL="342900" indent="-342900">
              <a:buFont typeface="Wingdings"/>
              <a:buChar char=""/>
              <a:defRPr/>
            </a:pPr>
            <a:r>
              <a:rPr lang="en-US" sz="2400"/>
              <a:t>You can then add three to each plaintext letter to determine the ciphertext. </a:t>
            </a:r>
            <a:endParaRPr lang="en-US" sz="2400"/>
          </a:p>
          <a:p>
            <a:pPr marL="342900" indent="-342900">
              <a:buFont typeface="Wingdings"/>
              <a:buChar char=""/>
              <a:defRPr/>
            </a:pPr>
            <a:endParaRPr lang="en-US" sz="2400"/>
          </a:p>
          <a:p>
            <a:pPr marL="342900" indent="-342900">
              <a:buFont typeface="Wingdings"/>
              <a:buChar char=""/>
              <a:defRPr/>
            </a:pPr>
            <a:r>
              <a:rPr lang="en-US" sz="2400"/>
              <a:t>You account for the wrap-around by using the modulo function.</a:t>
            </a:r>
            <a:endParaRPr lang="en-US" sz="2400"/>
          </a:p>
          <a:p>
            <a:pPr marL="342900" indent="-342900">
              <a:buFont typeface="Wingdings"/>
              <a:buChar char=""/>
              <a:defRPr/>
            </a:pPr>
            <a:endParaRPr lang="en-US" sz="2400"/>
          </a:p>
          <a:p>
            <a:pPr marL="342900" indent="-342900">
              <a:buFont typeface="Wingdings"/>
              <a:buChar char=""/>
              <a:defRPr/>
            </a:pPr>
            <a:r>
              <a:rPr lang="en-US" sz="2400"/>
              <a:t>The final encryption function for the Caesar cipher is then this: </a:t>
            </a:r>
            <a:endParaRPr lang="en-US" sz="2400"/>
          </a:p>
          <a:p>
            <a:pPr>
              <a:buFont typeface="Wingdings"/>
              <a:defRPr/>
            </a:pPr>
            <a:r>
              <a:rPr lang="en-US" sz="2400"/>
              <a:t>		</a:t>
            </a:r>
            <a:r>
              <a:rPr lang="en-US" sz="2400" b="1"/>
              <a:t>C = (P + 3) mod 26</a:t>
            </a:r>
            <a:endParaRPr lang="en-US" sz="2400" b="1"/>
          </a:p>
          <a:p>
            <a:pPr marL="342900" indent="-342900">
              <a:buFont typeface="Wingdings"/>
              <a:buChar char=""/>
              <a:defRPr/>
            </a:pPr>
            <a:endParaRPr lang="en-US" sz="2400"/>
          </a:p>
          <a:p>
            <a:pPr marL="342900" indent="-342900">
              <a:buFont typeface="Wingdings"/>
              <a:buChar char=""/>
              <a:defRPr/>
            </a:pPr>
            <a:r>
              <a:rPr lang="en-US" sz="2400"/>
              <a:t>The corresponding decryption function is as follows:</a:t>
            </a:r>
            <a:endParaRPr lang="en-US" sz="2400"/>
          </a:p>
          <a:p>
            <a:pPr>
              <a:buFont typeface="Wingdings"/>
              <a:defRPr/>
            </a:pPr>
            <a:r>
              <a:rPr lang="en-US" sz="2400"/>
              <a:t>		 </a:t>
            </a:r>
            <a:r>
              <a:rPr lang="en-US" sz="2400" b="1"/>
              <a:t>P = (C - 3) mod 26</a:t>
            </a:r>
            <a:endParaRPr lang="en-US" sz="2400" b="1"/>
          </a:p>
          <a:p>
            <a:pPr marL="342900" indent="-342900">
              <a:buFont typeface="Wingdings"/>
              <a:buChar char=""/>
              <a:defRPr/>
            </a:pPr>
            <a:endParaRPr lang="en-US" sz="24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0116955" name="Title 14337" descr="512a190070e642d880be1a6e74542f0b# #矩形 157"/>
          <p:cNvSpPr>
            <a:spLocks noGrp="1"/>
          </p:cNvSpPr>
          <p:nvPr>
            <p:ph type="title"/>
          </p:nvPr>
        </p:nvSpPr>
        <p:spPr bwMode="auto">
          <a:xfrm>
            <a:off x="457200" y="274955"/>
            <a:ext cx="8229600" cy="501015"/>
          </a:xfrm>
        </p:spPr>
        <p:txBody>
          <a:bodyPr anchor="ctr"/>
          <a:p>
            <a:pPr>
              <a:defRPr/>
            </a:pPr>
            <a:r>
              <a:rPr lang="en-US" sz="3200"/>
              <a:t>Cryptography</a:t>
            </a:r>
            <a:endParaRPr lang="en-US" sz="3200"/>
          </a:p>
        </p:txBody>
      </p:sp>
      <p:sp>
        <p:nvSpPr>
          <p:cNvPr id="1400187975" name="Text Box 1"/>
          <p:cNvSpPr txBox="1"/>
          <p:nvPr/>
        </p:nvSpPr>
        <p:spPr bwMode="auto">
          <a:xfrm>
            <a:off x="457200" y="723900"/>
            <a:ext cx="8364855" cy="5631179"/>
          </a:xfrm>
          <a:prstGeom prst="rect">
            <a:avLst/>
          </a:prstGeom>
          <a:noFill/>
        </p:spPr>
        <p:txBody>
          <a:bodyPr wrap="square" rtlCol="0">
            <a:spAutoFit/>
          </a:bodyPr>
          <a:p>
            <a:pPr marL="342900" indent="-342900">
              <a:buFont typeface="Wingdings"/>
              <a:buChar char=""/>
              <a:defRPr/>
            </a:pPr>
            <a:r>
              <a:rPr lang="en-US" sz="2400"/>
              <a:t>Today, this technique seems too simplistic to be effective, but in the time of Julius Caesar, not very many people could read in the first place, so it provided a high level of protection.  </a:t>
            </a:r>
            <a:endParaRPr lang="en-US" sz="2400"/>
          </a:p>
          <a:p>
            <a:pPr marL="342900" indent="-342900">
              <a:buFont typeface="Wingdings"/>
              <a:buChar char=""/>
              <a:defRPr/>
            </a:pPr>
            <a:endParaRPr lang="en-US" sz="2400"/>
          </a:p>
          <a:p>
            <a:pPr marL="342900" indent="-342900">
              <a:buFont typeface="Wingdings"/>
              <a:buChar char=""/>
              <a:defRPr/>
            </a:pPr>
            <a:r>
              <a:rPr lang="en-US" sz="2400"/>
              <a:t>A more recent encryption method used in the 1980s, </a:t>
            </a:r>
            <a:r>
              <a:rPr lang="en-US" sz="2400" b="1"/>
              <a:t>ROT13</a:t>
            </a:r>
            <a:r>
              <a:rPr lang="en-US" sz="2400"/>
              <a:t> was really the same thing as a Caesar cipher. </a:t>
            </a:r>
            <a:endParaRPr lang="en-US" sz="2400"/>
          </a:p>
          <a:p>
            <a:pPr marL="342900" indent="-342900">
              <a:buFont typeface="Wingdings"/>
              <a:buChar char=""/>
              <a:defRPr/>
            </a:pPr>
            <a:endParaRPr lang="en-US" sz="2400"/>
          </a:p>
          <a:p>
            <a:pPr marL="342900" indent="-342900">
              <a:buFont typeface="Wingdings"/>
              <a:buChar char=""/>
              <a:defRPr/>
            </a:pPr>
            <a:r>
              <a:rPr lang="en-US" sz="2400"/>
              <a:t>Instead of shifting 3 spaces in the alphabet, the encryption process shifted 13 spaces. </a:t>
            </a:r>
            <a:endParaRPr lang="en-US" sz="2400"/>
          </a:p>
          <a:p>
            <a:pPr marL="342900" indent="-342900">
              <a:buFont typeface="Wingdings"/>
              <a:buChar char=""/>
              <a:defRPr/>
            </a:pPr>
            <a:endParaRPr lang="en-US" sz="2400"/>
          </a:p>
          <a:p>
            <a:pPr marL="342900" indent="-342900">
              <a:buFont typeface="Wingdings"/>
              <a:buChar char=""/>
              <a:defRPr/>
            </a:pPr>
            <a:r>
              <a:rPr lang="en-US" sz="2400"/>
              <a:t>The scytale was used by</a:t>
            </a:r>
            <a:endParaRPr lang="en-US" sz="2400"/>
          </a:p>
          <a:p>
            <a:pPr>
              <a:buFont typeface="Wingdings"/>
              <a:defRPr/>
            </a:pPr>
            <a:r>
              <a:rPr lang="en-US" sz="2400"/>
              <a:t>   the Spartans to </a:t>
            </a:r>
            <a:endParaRPr lang="en-US" sz="2400"/>
          </a:p>
          <a:p>
            <a:pPr>
              <a:buFont typeface="Wingdings"/>
              <a:defRPr/>
            </a:pPr>
            <a:r>
              <a:rPr lang="en-US" sz="2400"/>
              <a:t>   encrypt or decrypt</a:t>
            </a:r>
            <a:endParaRPr lang="en-US" sz="2400"/>
          </a:p>
          <a:p>
            <a:pPr>
              <a:buFont typeface="Wingdings"/>
              <a:defRPr/>
            </a:pPr>
            <a:r>
              <a:rPr lang="en-US" sz="2400"/>
              <a:t>   messages.</a:t>
            </a:r>
            <a:endParaRPr lang="en-US" sz="2400"/>
          </a:p>
        </p:txBody>
      </p:sp>
      <p:pic>
        <p:nvPicPr>
          <p:cNvPr id="1326236547" name="Content Placeholder 2"/>
          <p:cNvPicPr>
            <a:picLocks noChangeAspect="1"/>
          </p:cNvPicPr>
          <p:nvPr>
            <p:ph idx="1"/>
          </p:nvPr>
        </p:nvPicPr>
        <p:blipFill rotWithShape="1">
          <a:blip r:embed="rId3"/>
          <a:stretch/>
        </p:blipFill>
        <p:spPr bwMode="auto">
          <a:xfrm>
            <a:off x="4677410" y="4897755"/>
            <a:ext cx="3860800" cy="177927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6469185"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251052922" name="Text Box 2"/>
          <p:cNvSpPr txBox="1"/>
          <p:nvPr/>
        </p:nvSpPr>
        <p:spPr bwMode="auto">
          <a:xfrm>
            <a:off x="457200" y="935355"/>
            <a:ext cx="8139430" cy="5631179"/>
          </a:xfrm>
          <a:prstGeom prst="rect">
            <a:avLst/>
          </a:prstGeom>
          <a:noFill/>
        </p:spPr>
        <p:txBody>
          <a:bodyPr wrap="square" rtlCol="0">
            <a:spAutoFit/>
          </a:bodyPr>
          <a:p>
            <a:pPr marL="342900" indent="-342900">
              <a:buFont typeface="Wingdings"/>
              <a:buChar char=""/>
              <a:defRPr/>
            </a:pPr>
            <a:r>
              <a:rPr lang="en-US" sz="2400"/>
              <a:t>Although the Caesar cipher is easy to use, it’s also easy to crack.</a:t>
            </a:r>
            <a:endParaRPr lang="en-US" sz="2400"/>
          </a:p>
          <a:p>
            <a:pPr marL="342900" indent="-342900">
              <a:buFont typeface="Wingdings"/>
              <a:buChar char=""/>
              <a:defRPr/>
            </a:pPr>
            <a:endParaRPr lang="en-US" sz="2400"/>
          </a:p>
          <a:p>
            <a:pPr marL="342900" indent="-342900">
              <a:buFont typeface="Wingdings"/>
              <a:buChar char=""/>
              <a:defRPr/>
            </a:pPr>
            <a:r>
              <a:rPr lang="en-US" sz="2400"/>
              <a:t>It’s vulnerable to a type of attack known as </a:t>
            </a:r>
            <a:r>
              <a:rPr lang="en-US" sz="2400" b="1"/>
              <a:t>frequency</a:t>
            </a:r>
            <a:r>
              <a:rPr lang="en-US" sz="2400"/>
              <a:t> </a:t>
            </a:r>
            <a:r>
              <a:rPr lang="en-US" sz="2400" b="1"/>
              <a:t>analysis</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The most common letters in the English language are E, T, A, O, N, R, I, S, and H. </a:t>
            </a:r>
            <a:endParaRPr lang="en-US" sz="2400"/>
          </a:p>
          <a:p>
            <a:pPr marL="342900" indent="-342900">
              <a:buFont typeface="Wingdings"/>
              <a:buChar char=""/>
              <a:defRPr/>
            </a:pPr>
            <a:endParaRPr lang="en-US" sz="2400"/>
          </a:p>
          <a:p>
            <a:pPr marL="342900" indent="-342900">
              <a:buFont typeface="Wingdings"/>
              <a:buChar char=""/>
              <a:defRPr/>
            </a:pPr>
            <a:r>
              <a:rPr lang="en-US" sz="2400"/>
              <a:t>An attacker seeking to break a Caesar-style cipher encoding a message that was written in English merely needs to find the most common letters in the encrypted text and experiment with substitutions of these common letters to help determine the pattern.</a:t>
            </a: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0226168"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489814151" name="Text Box 2"/>
          <p:cNvSpPr txBox="1"/>
          <p:nvPr/>
        </p:nvSpPr>
        <p:spPr bwMode="auto">
          <a:xfrm>
            <a:off x="457200" y="935355"/>
            <a:ext cx="8139430" cy="5631179"/>
          </a:xfrm>
          <a:prstGeom prst="rect">
            <a:avLst/>
          </a:prstGeom>
          <a:noFill/>
        </p:spPr>
        <p:txBody>
          <a:bodyPr wrap="square" rtlCol="0">
            <a:spAutoFit/>
          </a:bodyPr>
          <a:p>
            <a:pPr marL="342900" indent="-342900">
              <a:buFont typeface="Wingdings"/>
              <a:buChar char=""/>
              <a:defRPr/>
            </a:pPr>
            <a:r>
              <a:rPr lang="en-US" sz="2400" b="1"/>
              <a:t>Vigenère  Cipher</a:t>
            </a:r>
            <a:endParaRPr lang="en-US" sz="2400" b="1"/>
          </a:p>
          <a:p>
            <a:pPr marL="342900" indent="-342900">
              <a:buFont typeface="Wingdings"/>
              <a:buChar char=""/>
              <a:defRPr/>
            </a:pPr>
            <a:endParaRPr lang="en-US" sz="2400" b="1"/>
          </a:p>
          <a:p>
            <a:pPr marL="342900" indent="-342900">
              <a:buFont typeface="Wingdings"/>
              <a:buChar char=""/>
              <a:defRPr/>
            </a:pPr>
            <a:r>
              <a:rPr lang="en-US" sz="2400"/>
              <a:t>In the 16th century in France, Blaise de Vigenère developed a polyalphabetic substitution cipher for Henry III. </a:t>
            </a:r>
            <a:endParaRPr lang="en-US" sz="2400"/>
          </a:p>
          <a:p>
            <a:pPr marL="342900" indent="-342900">
              <a:buFont typeface="Wingdings"/>
              <a:buChar char=""/>
              <a:defRPr/>
            </a:pPr>
            <a:endParaRPr lang="en-US" sz="2400"/>
          </a:p>
          <a:p>
            <a:pPr marL="342900" indent="-342900">
              <a:buFont typeface="Wingdings"/>
              <a:buChar char=""/>
              <a:defRPr/>
            </a:pPr>
            <a:r>
              <a:rPr lang="en-US" sz="2400"/>
              <a:t>This was based on the Caesar cipher, but it increased the difficulty of the encryption and decryption process.</a:t>
            </a:r>
            <a:endParaRPr lang="en-US" sz="2400"/>
          </a:p>
          <a:p>
            <a:pPr marL="342900" indent="-342900">
              <a:buFont typeface="Wingdings"/>
              <a:buChar char=""/>
              <a:defRPr/>
            </a:pPr>
            <a:endParaRPr lang="en-US" sz="2400"/>
          </a:p>
          <a:p>
            <a:pPr marL="342900" indent="-342900">
              <a:buFont typeface="Wingdings"/>
              <a:buChar char=""/>
              <a:defRPr/>
            </a:pPr>
            <a:r>
              <a:rPr lang="en-US" sz="2400"/>
              <a:t>The Vigenère cipher uses a single encryption/decryption chart given on the next slide.</a:t>
            </a:r>
            <a:endParaRPr lang="en-US" sz="2400"/>
          </a:p>
          <a:p>
            <a:pPr marL="342900" indent="-342900">
              <a:buFont typeface="Wingdings"/>
              <a:buChar char=""/>
              <a:defRPr/>
            </a:pPr>
            <a:endParaRPr lang="en-US" sz="2400"/>
          </a:p>
          <a:p>
            <a:pPr marL="342900" indent="-342900">
              <a:buFont typeface="Wingdings"/>
              <a:buChar char=""/>
              <a:defRPr/>
            </a:pPr>
            <a:r>
              <a:rPr lang="en-US" sz="2400"/>
              <a:t>You need a key to use the Vigenère system.</a:t>
            </a:r>
            <a:endParaRPr lang="en-US" sz="2400"/>
          </a:p>
          <a:p>
            <a:pPr marL="342900" indent="-342900">
              <a:buFont typeface="Wingdings"/>
              <a:buChar char=""/>
              <a:defRPr/>
            </a:pPr>
            <a:endParaRPr lang="en-US" sz="2400"/>
          </a:p>
          <a:p>
            <a:pPr marL="342900" indent="-342900">
              <a:buFont typeface="Wingdings"/>
              <a:buChar char=""/>
              <a:defRPr/>
            </a:pPr>
            <a:r>
              <a:rPr lang="en-US" sz="2400"/>
              <a:t> For example, the key could be </a:t>
            </a:r>
            <a:r>
              <a:rPr lang="en-US" sz="2400" b="1"/>
              <a:t>secret</a:t>
            </a:r>
            <a:r>
              <a:rPr lang="en-US" sz="2400"/>
              <a:t>.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1482266" name="Title 14337" descr="512a190070e642d880be1a6e74542f0b# #矩形 157"/>
          <p:cNvSpPr>
            <a:spLocks noGrp="1"/>
          </p:cNvSpPr>
          <p:nvPr>
            <p:ph type="title"/>
          </p:nvPr>
        </p:nvSpPr>
        <p:spPr bwMode="auto"/>
        <p:txBody>
          <a:bodyPr anchor="ctr"/>
          <a:p>
            <a:pPr>
              <a:defRPr/>
            </a:pPr>
            <a:r>
              <a:rPr lang="en-US" sz="3200"/>
              <a:t>Cryptography</a:t>
            </a:r>
            <a:endParaRPr lang="en-US" sz="3200"/>
          </a:p>
        </p:txBody>
      </p:sp>
      <p:pic>
        <p:nvPicPr>
          <p:cNvPr id="2086763273" name="Content Placeholder 2"/>
          <p:cNvPicPr>
            <a:picLocks noChangeAspect="1"/>
          </p:cNvPicPr>
          <p:nvPr>
            <p:ph idx="1"/>
          </p:nvPr>
        </p:nvPicPr>
        <p:blipFill rotWithShape="1">
          <a:blip r:embed="rId3"/>
          <a:stretch/>
        </p:blipFill>
        <p:spPr bwMode="auto">
          <a:xfrm>
            <a:off x="457835" y="1081405"/>
            <a:ext cx="7618095" cy="563117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234966"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1319440499" name="Text Box 2"/>
          <p:cNvSpPr txBox="1"/>
          <p:nvPr/>
        </p:nvSpPr>
        <p:spPr bwMode="auto">
          <a:xfrm>
            <a:off x="457200" y="855980"/>
            <a:ext cx="8139430" cy="6000750"/>
          </a:xfrm>
          <a:prstGeom prst="rect">
            <a:avLst/>
          </a:prstGeom>
          <a:noFill/>
        </p:spPr>
        <p:txBody>
          <a:bodyPr wrap="square" rtlCol="0">
            <a:spAutoFit/>
          </a:bodyPr>
          <a:p>
            <a:pPr marL="342900" indent="-342900">
              <a:buFont typeface="Wingdings"/>
              <a:buChar char=""/>
              <a:defRPr/>
            </a:pPr>
            <a:r>
              <a:rPr lang="en-US" sz="2400"/>
              <a:t>Then, you would perform the following encryption process: </a:t>
            </a:r>
            <a:endParaRPr lang="en-US" sz="2400"/>
          </a:p>
          <a:p>
            <a:pPr marL="342900" indent="-342900">
              <a:buFont typeface="Wingdings"/>
              <a:buChar char=""/>
              <a:defRPr/>
            </a:pPr>
            <a:r>
              <a:rPr lang="en-US" sz="2400"/>
              <a:t>Write out the plaintext. </a:t>
            </a:r>
            <a:endParaRPr lang="en-US" sz="2400"/>
          </a:p>
          <a:p>
            <a:pPr marL="342900" indent="-342900">
              <a:buFont typeface="Wingdings"/>
              <a:buChar char=""/>
              <a:defRPr/>
            </a:pPr>
            <a:endParaRPr lang="en-US" sz="2400"/>
          </a:p>
          <a:p>
            <a:pPr marL="342900" indent="-342900">
              <a:buFont typeface="Wingdings"/>
              <a:buChar char=""/>
              <a:defRPr/>
            </a:pPr>
            <a:r>
              <a:rPr lang="en-US" sz="2400"/>
              <a:t>Underneath, write out the encryption key, repeating the key as many times as needed to establish a line of text that is the same length as the plaintext.</a:t>
            </a:r>
            <a:endParaRPr lang="en-US" sz="2400"/>
          </a:p>
          <a:p>
            <a:pPr marL="342900" indent="-342900">
              <a:buFont typeface="Wingdings"/>
              <a:buChar char=""/>
              <a:defRPr/>
            </a:pPr>
            <a:endParaRPr lang="en-US" sz="2400"/>
          </a:p>
          <a:p>
            <a:pPr marL="342900" indent="-342900">
              <a:buFont typeface="Wingdings"/>
              <a:buChar char=""/>
              <a:defRPr/>
            </a:pPr>
            <a:r>
              <a:rPr lang="en-US" sz="2400"/>
              <a:t>Convert each letter position from plaintext to ciphertext.</a:t>
            </a:r>
            <a:endParaRPr lang="en-US" sz="2400"/>
          </a:p>
          <a:p>
            <a:pPr>
              <a:buFont typeface="Wingdings"/>
              <a:defRPr/>
            </a:pPr>
            <a:r>
              <a:rPr lang="en-US" sz="2400"/>
              <a:t>	1. Locate the column headed by the first plaintext character (a). </a:t>
            </a:r>
            <a:endParaRPr lang="en-US" sz="2400"/>
          </a:p>
          <a:p>
            <a:pPr>
              <a:buFont typeface="Wingdings"/>
              <a:defRPr/>
            </a:pPr>
            <a:r>
              <a:rPr lang="en-US" sz="2400"/>
              <a:t>	2. Next, locate the row headed by the first character of the key (s). </a:t>
            </a:r>
            <a:endParaRPr lang="en-US" sz="2400"/>
          </a:p>
          <a:p>
            <a:pPr>
              <a:buFont typeface="Wingdings"/>
              <a:defRPr/>
            </a:pPr>
            <a:r>
              <a:rPr lang="en-US" sz="2400"/>
              <a:t>	3. Finally, locate where these two items intersect, and write down the letter that appears there (s). This is the ciphertext for that letter position.</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8898348" name="Title 14337" descr="512a190070e642d880be1a6e74542f0b# #矩形 157"/>
          <p:cNvSpPr>
            <a:spLocks noGrp="1"/>
          </p:cNvSpPr>
          <p:nvPr>
            <p:ph type="title"/>
          </p:nvPr>
        </p:nvSpPr>
        <p:spPr bwMode="auto"/>
        <p:txBody>
          <a:bodyPr anchor="ctr"/>
          <a:p>
            <a:pPr>
              <a:defRPr/>
            </a:pPr>
            <a:r>
              <a:rPr lang="en-US" sz="3200"/>
              <a:t>Cryptography</a:t>
            </a:r>
            <a:endParaRPr lang="en-US" sz="3200"/>
          </a:p>
        </p:txBody>
      </p:sp>
      <p:graphicFrame>
        <p:nvGraphicFramePr>
          <p:cNvPr id="1277424193" name="Content Placeholder 1"/>
          <p:cNvGraphicFramePr>
            <a:graphicFrameLocks xmlns:a="http://schemas.openxmlformats.org/drawingml/2006/main" noChangeAspect="1"/>
          </p:cNvGraphicFramePr>
          <p:nvPr/>
        </p:nvGraphicFramePr>
        <p:xfrm>
          <a:off x="720090" y="1395095"/>
          <a:ext cx="6883400" cy="2499360"/>
        </p:xfrm>
        <a:graphic>
          <a:graphicData uri="http://schemas.openxmlformats.org/presentationml/2006/ole">
            <p:oleObj name="oleObj" r:id="rId4" imgW="3962400" imgH="1704975" progId="Paint.Picture">
              <p:embed/>
              <p:pic>
                <p:nvPicPr>
                  <p:cNvPr id="1277424193" name="Content Placeholder 1"/>
                  <p:cNvPicPr/>
                  <p:nvPr/>
                </p:nvPicPr>
                <p:blipFill rotWithShape="1">
                  <a:blip r:embed="rId3"/>
                  <a:stretch/>
                </p:blipFill>
                <p:spPr bwMode="auto">
                  <a:xfrm>
                    <a:off x="720090" y="1395095"/>
                    <a:ext cx="6883400" cy="2499360"/>
                  </a:xfrm>
                  <a:prstGeom prst="rect">
                    <a:avLst/>
                  </a:prstGeom>
                </p:spPr>
              </p:pic>
            </p:oleObj>
          </a:graphicData>
        </a:graphic>
      </p:graphicFrame>
      <p:sp>
        <p:nvSpPr>
          <p:cNvPr id="442700413" name="Text Box 4"/>
          <p:cNvSpPr txBox="1"/>
          <p:nvPr/>
        </p:nvSpPr>
        <p:spPr bwMode="auto">
          <a:xfrm>
            <a:off x="547369" y="3894454"/>
            <a:ext cx="8152749" cy="2652119"/>
          </a:xfrm>
          <a:prstGeom prst="rect">
            <a:avLst/>
          </a:prstGeom>
          <a:noFill/>
        </p:spPr>
        <p:txBody>
          <a:bodyPr wrap="square" rtlCol="0">
            <a:spAutoFit/>
          </a:bodyPr>
          <a:p>
            <a:pPr marL="342900" indent="-342900">
              <a:buFont typeface="Wingdings"/>
              <a:buChar char=""/>
              <a:defRPr/>
            </a:pPr>
            <a:r>
              <a:rPr lang="en-US" sz="2400"/>
              <a:t>Try converting following sentence using </a:t>
            </a:r>
            <a:r>
              <a:rPr lang="en-US" sz="2400" b="1"/>
              <a:t>Vigenère  Cipher</a:t>
            </a:r>
            <a:endParaRPr lang="en-US" sz="2400" b="1"/>
          </a:p>
          <a:p>
            <a:pPr>
              <a:buFont typeface="Wingdings"/>
              <a:defRPr/>
            </a:pPr>
            <a:endParaRPr lang="en-US" sz="2400"/>
          </a:p>
          <a:p>
            <a:pPr>
              <a:buFont typeface="Wingdings"/>
              <a:defRPr/>
            </a:pPr>
            <a:r>
              <a:rPr lang="en-US" sz="2400"/>
              <a:t>	</a:t>
            </a:r>
            <a:r>
              <a:rPr lang="en-US" sz="2400" b="1"/>
              <a:t>WelcometoHacking.</a:t>
            </a:r>
            <a:endParaRPr lang="en-US" sz="2400" b="1"/>
          </a:p>
          <a:p>
            <a:pPr>
              <a:buFont typeface="Wingdings"/>
              <a:defRPr/>
            </a:pPr>
            <a:endParaRPr lang="en-US" sz="2400" b="1"/>
          </a:p>
          <a:p>
            <a:pPr>
              <a:buFont typeface="Wingdings"/>
              <a:defRPr/>
            </a:pPr>
            <a:r>
              <a:rPr lang="en-US" sz="2400"/>
              <a:t>use the key  </a:t>
            </a:r>
            <a:r>
              <a:rPr lang="en-US" sz="2400" b="1"/>
              <a:t>EFFORT</a:t>
            </a:r>
            <a:endParaRPr lang="en-US" sz="2400" b="1"/>
          </a:p>
          <a:p>
            <a:pPr>
              <a:buFont typeface="Wingdings"/>
              <a:defRPr/>
            </a:pPr>
            <a:r>
              <a:rPr lang="en-US" sz="2400"/>
              <a:t>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7719222"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255030348" name="Text Box 2"/>
          <p:cNvSpPr txBox="1"/>
          <p:nvPr/>
        </p:nvSpPr>
        <p:spPr bwMode="auto">
          <a:xfrm>
            <a:off x="457200" y="855979"/>
            <a:ext cx="8139789" cy="2286360"/>
          </a:xfrm>
          <a:prstGeom prst="rect">
            <a:avLst/>
          </a:prstGeom>
          <a:noFill/>
        </p:spPr>
        <p:txBody>
          <a:bodyPr wrap="square" rtlCol="0">
            <a:spAutoFit/>
          </a:bodyPr>
          <a:p>
            <a:pPr marL="342900" indent="-342900">
              <a:buFont typeface="Wingdings"/>
              <a:buChar char=""/>
              <a:defRPr/>
            </a:pPr>
            <a:r>
              <a:rPr lang="en-US" sz="2400"/>
              <a:t>Although polyalphabetic substitution protects against direct </a:t>
            </a:r>
            <a:r>
              <a:rPr lang="en-US" sz="2400" b="1"/>
              <a:t>frequency analysis</a:t>
            </a:r>
            <a:r>
              <a:rPr lang="en-US" sz="2400"/>
              <a:t>, it is vulnerable to a second-order form of frequency analysis called </a:t>
            </a:r>
            <a:r>
              <a:rPr lang="en-US" sz="2400" b="1"/>
              <a:t>period analysis</a:t>
            </a:r>
            <a:r>
              <a:rPr lang="en-US" sz="2400"/>
              <a:t>, which is an examination of frequency based on the repeated use of the key.</a:t>
            </a: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0361476"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980178486" name="Text Box 1"/>
          <p:cNvSpPr txBox="1"/>
          <p:nvPr/>
        </p:nvSpPr>
        <p:spPr bwMode="auto">
          <a:xfrm>
            <a:off x="457200" y="723899"/>
            <a:ext cx="8140149" cy="3749399"/>
          </a:xfrm>
          <a:prstGeom prst="rect">
            <a:avLst/>
          </a:prstGeom>
          <a:noFill/>
        </p:spPr>
        <p:txBody>
          <a:bodyPr wrap="square" rtlCol="0">
            <a:spAutoFit/>
          </a:bodyPr>
          <a:p>
            <a:pPr>
              <a:defRPr/>
            </a:pPr>
            <a:endParaRPr lang="en-US" sz="2400"/>
          </a:p>
          <a:p>
            <a:pPr marL="342900" indent="-342900">
              <a:buFont typeface="Wingdings"/>
              <a:buChar char=""/>
              <a:defRPr/>
            </a:pPr>
            <a:r>
              <a:rPr lang="en-US" sz="2400" b="1"/>
              <a:t>Steganography</a:t>
            </a:r>
            <a:endParaRPr lang="en-US" sz="2400" b="1"/>
          </a:p>
          <a:p>
            <a:pPr marL="342900" indent="-342900">
              <a:buFont typeface="Wingdings"/>
              <a:buChar char=""/>
              <a:defRPr/>
            </a:pPr>
            <a:endParaRPr lang="en-US" sz="2400" b="1"/>
          </a:p>
          <a:p>
            <a:pPr marL="342900" indent="-342900">
              <a:buFont typeface="Wingdings"/>
              <a:buChar char=""/>
              <a:defRPr/>
            </a:pPr>
            <a:r>
              <a:rPr lang="en-US" sz="2400"/>
              <a:t>Steganography is a method of hiding data in another media type so the very existence of the data is concealed. </a:t>
            </a:r>
            <a:endParaRPr lang="en-US" sz="2400"/>
          </a:p>
          <a:p>
            <a:pPr marL="342900" indent="-342900">
              <a:buFont typeface="Wingdings"/>
              <a:buChar char=""/>
              <a:defRPr/>
            </a:pPr>
            <a:endParaRPr lang="en-US" sz="2400"/>
          </a:p>
          <a:p>
            <a:pPr marL="342900" indent="-342900">
              <a:buFont typeface="Wingdings"/>
              <a:buChar char=""/>
              <a:defRPr/>
            </a:pPr>
            <a:r>
              <a:rPr lang="en-US" sz="2400"/>
              <a:t>Only the sender and receiver are supposed to be able to see the message because it is secretly hidden in a graphic, Wave file, document, or other type of media.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9013612"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1873862360" name="Text Box 2"/>
          <p:cNvSpPr txBox="1"/>
          <p:nvPr/>
        </p:nvSpPr>
        <p:spPr bwMode="auto">
          <a:xfrm>
            <a:off x="457200" y="935355"/>
            <a:ext cx="8404225" cy="5631179"/>
          </a:xfrm>
          <a:prstGeom prst="rect">
            <a:avLst/>
          </a:prstGeom>
          <a:noFill/>
        </p:spPr>
        <p:txBody>
          <a:bodyPr wrap="square" rtlCol="0">
            <a:spAutoFit/>
          </a:bodyPr>
          <a:p>
            <a:pPr marL="342900" indent="-342900">
              <a:buFont typeface="Wingdings"/>
              <a:buChar char=""/>
              <a:defRPr/>
            </a:pPr>
            <a:r>
              <a:rPr lang="en-US" sz="2400" b="1"/>
              <a:t>Block and Stream Ciphers</a:t>
            </a:r>
            <a:endParaRPr lang="en-US" sz="2400" b="1"/>
          </a:p>
          <a:p>
            <a:pPr marL="342900" indent="-342900">
              <a:buFont typeface="Wingdings"/>
              <a:buChar char=""/>
              <a:defRPr/>
            </a:pPr>
            <a:endParaRPr lang="en-US" sz="2400" b="1"/>
          </a:p>
          <a:p>
            <a:pPr marL="342900" indent="-342900">
              <a:buFont typeface="Wingdings"/>
              <a:buChar char=""/>
              <a:defRPr/>
            </a:pPr>
            <a:r>
              <a:rPr lang="en-US" sz="2400"/>
              <a:t>The two main types of </a:t>
            </a:r>
            <a:r>
              <a:rPr lang="en-US" sz="2400" b="1"/>
              <a:t>symmetric algorithms</a:t>
            </a:r>
            <a:r>
              <a:rPr lang="en-US" sz="2400"/>
              <a:t> are</a:t>
            </a:r>
            <a:r>
              <a:rPr lang="en-US" sz="2400" b="1"/>
              <a:t> block</a:t>
            </a:r>
            <a:r>
              <a:rPr lang="en-US" sz="2400"/>
              <a:t> </a:t>
            </a:r>
            <a:r>
              <a:rPr lang="en-US" sz="2400" b="1"/>
              <a:t>ciphers</a:t>
            </a:r>
            <a:r>
              <a:rPr lang="en-US" sz="2400"/>
              <a:t>, which work on </a:t>
            </a:r>
            <a:r>
              <a:rPr lang="en-US" sz="2400" b="1"/>
              <a:t>blocks of bits</a:t>
            </a:r>
            <a:r>
              <a:rPr lang="en-US" sz="2400"/>
              <a:t>, and </a:t>
            </a:r>
            <a:r>
              <a:rPr lang="en-US" sz="2400" b="1"/>
              <a:t>stream ciphers</a:t>
            </a:r>
            <a:r>
              <a:rPr lang="en-US" sz="2400"/>
              <a:t>, which work on </a:t>
            </a:r>
            <a:r>
              <a:rPr lang="en-US" sz="2400" b="1"/>
              <a:t>one bit at a time</a:t>
            </a:r>
            <a:r>
              <a:rPr lang="en-US" sz="2400"/>
              <a:t>.</a:t>
            </a:r>
            <a:endParaRPr lang="en-US" sz="2400"/>
          </a:p>
          <a:p>
            <a:pPr marL="342900" indent="-342900">
              <a:buFont typeface="Wingdings"/>
              <a:buChar char=""/>
              <a:defRPr/>
            </a:pPr>
            <a:endParaRPr lang="en-US" sz="2400"/>
          </a:p>
          <a:p>
            <a:pPr marL="342900" indent="-342900">
              <a:buFont typeface="Wingdings"/>
              <a:buChar char=""/>
              <a:defRPr/>
            </a:pPr>
            <a:r>
              <a:rPr lang="en-US" sz="2400" b="1"/>
              <a:t>Block Ciphers</a:t>
            </a:r>
            <a:endParaRPr lang="en-US" sz="2400" b="1"/>
          </a:p>
          <a:p>
            <a:pPr marL="342900" indent="-342900">
              <a:buFont typeface="Wingdings"/>
              <a:buChar char=""/>
              <a:defRPr/>
            </a:pPr>
            <a:r>
              <a:rPr lang="en-US" sz="2400"/>
              <a:t>When a block cipher is used for encryption and decryption purposes, the message is divided into blocks of bits. </a:t>
            </a:r>
            <a:endParaRPr lang="en-US" sz="2400"/>
          </a:p>
          <a:p>
            <a:pPr marL="342900" indent="-342900">
              <a:buFont typeface="Wingdings"/>
              <a:buChar char=""/>
              <a:defRPr/>
            </a:pPr>
            <a:endParaRPr lang="en-US" sz="2400"/>
          </a:p>
          <a:p>
            <a:pPr marL="342900" indent="-342900">
              <a:buFont typeface="Wingdings"/>
              <a:buChar char=""/>
              <a:defRPr/>
            </a:pPr>
            <a:r>
              <a:rPr lang="en-US" sz="2400"/>
              <a:t>These blocks are then put through mathematical functions,one block at a time. </a:t>
            </a:r>
            <a:endParaRPr lang="en-US" sz="2400"/>
          </a:p>
          <a:p>
            <a:pPr marL="342900" indent="-342900">
              <a:buFont typeface="Wingdings"/>
              <a:buChar char=""/>
              <a:defRPr/>
            </a:pPr>
            <a:endParaRPr lang="en-US" sz="2400"/>
          </a:p>
          <a:p>
            <a:pPr marL="342900" indent="-342900">
              <a:buFont typeface="Wingdings"/>
              <a:buChar char=""/>
              <a:defRPr/>
            </a:pPr>
            <a:r>
              <a:rPr lang="en-US" sz="2400"/>
              <a:t>Suppose you need to encrypt a message you are sending  and you are using a block cipher that uses 64 bits.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4955378" name="Title 14337" descr="512a190070e642d880be1a6e74542f0b# #矩形 157"/>
          <p:cNvSpPr>
            <a:spLocks noGrp="1"/>
          </p:cNvSpPr>
          <p:nvPr>
            <p:ph type="title"/>
          </p:nvPr>
        </p:nvSpPr>
        <p:spPr bwMode="auto">
          <a:xfrm>
            <a:off x="457200" y="128905"/>
            <a:ext cx="8229600" cy="527685"/>
          </a:xfrm>
        </p:spPr>
        <p:txBody>
          <a:bodyPr anchor="ctr"/>
          <a:p>
            <a:pPr>
              <a:defRPr/>
            </a:pPr>
            <a:r>
              <a:rPr lang="en-US" sz="3200"/>
              <a:t>Cryptography</a:t>
            </a:r>
            <a:endParaRPr lang="en-US" sz="3200"/>
          </a:p>
        </p:txBody>
      </p:sp>
      <p:sp>
        <p:nvSpPr>
          <p:cNvPr id="486063841" name="Text Box 2"/>
          <p:cNvSpPr txBox="1"/>
          <p:nvPr/>
        </p:nvSpPr>
        <p:spPr bwMode="auto">
          <a:xfrm>
            <a:off x="457200" y="656590"/>
            <a:ext cx="8404225" cy="6000750"/>
          </a:xfrm>
          <a:prstGeom prst="rect">
            <a:avLst/>
          </a:prstGeom>
          <a:noFill/>
        </p:spPr>
        <p:txBody>
          <a:bodyPr wrap="square" rtlCol="0">
            <a:spAutoFit/>
          </a:bodyPr>
          <a:p>
            <a:pPr marL="342900" indent="-342900">
              <a:buFont typeface="Wingdings"/>
              <a:buChar char=""/>
              <a:defRPr/>
            </a:pPr>
            <a:r>
              <a:rPr lang="en-US" sz="2400"/>
              <a:t>Your message of 640 bits is chopped up into 10 individual blocks of 64 bits.</a:t>
            </a:r>
            <a:endParaRPr lang="en-US" sz="2400"/>
          </a:p>
          <a:p>
            <a:pPr marL="342900" indent="-342900">
              <a:buFont typeface="Wingdings"/>
              <a:buChar char=""/>
              <a:defRPr/>
            </a:pPr>
            <a:endParaRPr lang="en-US" sz="2400"/>
          </a:p>
          <a:p>
            <a:pPr marL="342900" indent="-342900">
              <a:buFont typeface="Wingdings"/>
              <a:buChar char=""/>
              <a:defRPr/>
            </a:pPr>
            <a:r>
              <a:rPr lang="en-US" sz="2400"/>
              <a:t>Each block is put through a succession of mathematical formulas, and what you end up with is 10 blocks of encrypted text.</a:t>
            </a:r>
            <a:endParaRPr lang="en-US" sz="2400"/>
          </a:p>
          <a:p>
            <a:pPr marL="342900" indent="-342900">
              <a:buFont typeface="Wingdings"/>
              <a:buChar char=""/>
              <a:defRPr/>
            </a:pPr>
            <a:endParaRPr lang="en-US" sz="2400"/>
          </a:p>
          <a:p>
            <a:pPr marL="342900" indent="-342900">
              <a:buFont typeface="Wingdings"/>
              <a:buChar char=""/>
              <a:defRPr/>
            </a:pPr>
            <a:r>
              <a:rPr lang="en-US" sz="2400"/>
              <a:t>You send this encrypted message.</a:t>
            </a:r>
            <a:endParaRPr lang="en-US" sz="2400"/>
          </a:p>
          <a:p>
            <a:pPr marL="342900" indent="-342900">
              <a:buFont typeface="Wingdings"/>
              <a:buChar char=""/>
              <a:defRPr/>
            </a:pPr>
            <a:endParaRPr lang="en-US" sz="2400"/>
          </a:p>
          <a:p>
            <a:pPr marL="342900" indent="-342900">
              <a:buFont typeface="Wingdings"/>
              <a:buChar char=""/>
              <a:defRPr/>
            </a:pPr>
            <a:r>
              <a:rPr lang="en-US" sz="2400"/>
              <a:t>The receiver has to have the same block cipher and key, and those 10 ciphertext blocks go back through the algorithm in the reverse sequence and end up in your plaintext message.</a:t>
            </a:r>
            <a:endParaRPr lang="en-US" sz="2400"/>
          </a:p>
          <a:p>
            <a:pPr marL="342900" indent="-342900">
              <a:buFont typeface="Wingdings"/>
              <a:buChar char=""/>
              <a:defRPr/>
            </a:pPr>
            <a:endParaRPr lang="en-US" sz="2400"/>
          </a:p>
          <a:p>
            <a:pPr marL="342900" indent="-342900">
              <a:buFont typeface="Wingdings"/>
              <a:buChar char=""/>
              <a:defRPr/>
            </a:pPr>
            <a:r>
              <a:rPr lang="en-US" sz="2400"/>
              <a:t>A strong cipher contains the right level of two main attributes: </a:t>
            </a:r>
            <a:r>
              <a:rPr lang="en-US" sz="2400" b="1"/>
              <a:t>confusion</a:t>
            </a:r>
            <a:r>
              <a:rPr lang="en-US" sz="2400"/>
              <a:t> and </a:t>
            </a:r>
            <a:r>
              <a:rPr lang="en-US" sz="2400" b="1"/>
              <a:t>diffusion</a:t>
            </a:r>
            <a:r>
              <a:rPr lang="en-US" sz="2400"/>
              <a:t>.</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9051109"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663767536"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b="1"/>
              <a:t>Confusion and Diffusion</a:t>
            </a:r>
            <a:endParaRPr lang="en-US" sz="2400" b="1"/>
          </a:p>
          <a:p>
            <a:pPr marL="342900" indent="-342900">
              <a:buFont typeface="Wingdings"/>
              <a:buChar char=""/>
              <a:defRPr/>
            </a:pPr>
            <a:endParaRPr lang="en-US" sz="2400"/>
          </a:p>
          <a:p>
            <a:pPr marL="342900" indent="-342900">
              <a:buFont typeface="Wingdings"/>
              <a:buChar char=""/>
              <a:defRPr/>
            </a:pPr>
            <a:r>
              <a:rPr lang="en-US" sz="2400" b="1"/>
              <a:t>Confusion</a:t>
            </a:r>
            <a:r>
              <a:rPr lang="en-US" sz="2400"/>
              <a:t> is commonly carried out through </a:t>
            </a:r>
            <a:r>
              <a:rPr lang="en-US" sz="2400" b="1"/>
              <a:t>substitution</a:t>
            </a:r>
            <a:r>
              <a:rPr lang="en-US" sz="2400"/>
              <a:t>, while </a:t>
            </a:r>
            <a:r>
              <a:rPr lang="en-US" sz="2400" b="1"/>
              <a:t>diffusion</a:t>
            </a:r>
            <a:r>
              <a:rPr lang="en-US" sz="2400"/>
              <a:t> is carried out by using </a:t>
            </a:r>
            <a:r>
              <a:rPr lang="en-US" sz="2400" b="1"/>
              <a:t>transposition</a:t>
            </a:r>
            <a:r>
              <a:rPr lang="en-US" sz="2400"/>
              <a:t>.</a:t>
            </a:r>
            <a:endParaRPr lang="en-US" sz="2400"/>
          </a:p>
          <a:p>
            <a:pPr marL="342900" indent="-342900">
              <a:buFont typeface="Wingdings"/>
              <a:buChar char=""/>
              <a:defRPr/>
            </a:pPr>
            <a:endParaRPr lang="en-US" sz="2400"/>
          </a:p>
          <a:p>
            <a:pPr marL="342900" indent="-342900">
              <a:buFont typeface="Wingdings"/>
              <a:buChar char=""/>
              <a:defRPr/>
            </a:pPr>
            <a:r>
              <a:rPr lang="en-US" sz="2400"/>
              <a:t>For a cipher to be considered strong, it must contain both of these attributes to ensure that reverse-engineering is basically impossible. </a:t>
            </a:r>
            <a:endParaRPr lang="en-US" sz="2400"/>
          </a:p>
          <a:p>
            <a:pPr marL="342900" indent="-342900">
              <a:buFont typeface="Wingdings"/>
              <a:buChar char=""/>
              <a:defRPr/>
            </a:pPr>
            <a:endParaRPr lang="en-US" sz="2400"/>
          </a:p>
          <a:p>
            <a:pPr marL="342900" indent="-342900">
              <a:buFont typeface="Wingdings"/>
              <a:buChar char=""/>
              <a:defRPr/>
            </a:pPr>
            <a:r>
              <a:rPr lang="en-US" sz="2400"/>
              <a:t>The randomness of the key values and the complexity of the mathematical functions dictate the level of confusion and diffusion involved.</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1250601"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789555500" name="Text Box 2"/>
          <p:cNvSpPr txBox="1"/>
          <p:nvPr/>
        </p:nvSpPr>
        <p:spPr bwMode="auto">
          <a:xfrm>
            <a:off x="457200" y="935355"/>
            <a:ext cx="8139430" cy="5262245"/>
          </a:xfrm>
          <a:prstGeom prst="rect">
            <a:avLst/>
          </a:prstGeom>
          <a:noFill/>
        </p:spPr>
        <p:txBody>
          <a:bodyPr wrap="square" rtlCol="0">
            <a:spAutoFit/>
          </a:bodyPr>
          <a:p>
            <a:pPr marL="342900" indent="-342900">
              <a:buFont typeface="Wingdings"/>
              <a:buChar char=""/>
              <a:defRPr/>
            </a:pPr>
            <a:r>
              <a:rPr lang="en-US" sz="2400" b="1"/>
              <a:t>Confusion</a:t>
            </a:r>
            <a:r>
              <a:rPr lang="en-US" sz="2400"/>
              <a:t> pertains to making the relationship between the key and resulting ciphertext as complex as possible so the key cannot be uncovered from the ciphertext. </a:t>
            </a:r>
            <a:endParaRPr lang="en-US" sz="2400"/>
          </a:p>
          <a:p>
            <a:pPr marL="342900" indent="-342900">
              <a:buFont typeface="Wingdings"/>
              <a:buChar char=""/>
              <a:defRPr/>
            </a:pPr>
            <a:endParaRPr lang="en-US" sz="2400"/>
          </a:p>
          <a:p>
            <a:pPr marL="342900" indent="-342900">
              <a:buFont typeface="Wingdings"/>
              <a:buChar char=""/>
              <a:defRPr/>
            </a:pPr>
            <a:r>
              <a:rPr lang="en-US" sz="2400"/>
              <a:t>A very similar concept of </a:t>
            </a:r>
            <a:r>
              <a:rPr lang="en-US" sz="2400" b="1"/>
              <a:t>diffusion</a:t>
            </a:r>
            <a:r>
              <a:rPr lang="en-US" sz="2400"/>
              <a:t> is the </a:t>
            </a:r>
            <a:r>
              <a:rPr lang="en-US" sz="2400" b="1"/>
              <a:t>avalanche</a:t>
            </a:r>
            <a:r>
              <a:rPr lang="en-US" sz="2400"/>
              <a:t> </a:t>
            </a:r>
            <a:r>
              <a:rPr lang="en-US" sz="2400" b="1"/>
              <a:t>effect</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If an algorithm follows a strict avalanche effect criteria, this means that if the input to an algorithm is slightly modified, then the output of the algorithm is changed significantly. </a:t>
            </a:r>
            <a:endParaRPr lang="en-US" sz="2400"/>
          </a:p>
          <a:p>
            <a:pPr marL="342900" indent="-342900">
              <a:buFont typeface="Wingdings"/>
              <a:buChar char=""/>
              <a:defRPr/>
            </a:pPr>
            <a:endParaRPr lang="en-US" sz="2400"/>
          </a:p>
          <a:p>
            <a:pPr marL="342900" indent="-342900">
              <a:buFont typeface="Wingdings"/>
              <a:buChar char=""/>
              <a:defRPr/>
            </a:pPr>
            <a:r>
              <a:rPr lang="en-US" sz="2400"/>
              <a:t>So a small change to the key or the plaintext should cause drastic changes to the resulting ciphertext.</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7045962"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982639287"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b="1"/>
              <a:t>Stream Ciphers</a:t>
            </a:r>
            <a:endParaRPr lang="en-US" sz="2400" b="1"/>
          </a:p>
          <a:p>
            <a:pPr marL="342900" indent="-342900">
              <a:buFont typeface="Wingdings"/>
              <a:buChar char=""/>
              <a:defRPr/>
            </a:pPr>
            <a:endParaRPr lang="en-US" sz="2400" b="1"/>
          </a:p>
          <a:p>
            <a:pPr marL="342900" indent="-342900">
              <a:buFont typeface="Wingdings"/>
              <a:buChar char=""/>
              <a:defRPr/>
            </a:pPr>
            <a:r>
              <a:rPr lang="en-US" sz="2400"/>
              <a:t>A </a:t>
            </a:r>
            <a:r>
              <a:rPr lang="en-US" sz="2400" b="1"/>
              <a:t>stream cipher</a:t>
            </a:r>
            <a:r>
              <a:rPr lang="en-US" sz="2400"/>
              <a:t> does not divide a message into blocks. </a:t>
            </a:r>
            <a:endParaRPr lang="en-US" sz="2400"/>
          </a:p>
          <a:p>
            <a:pPr marL="342900" indent="-342900">
              <a:buFont typeface="Wingdings"/>
              <a:buChar char=""/>
              <a:defRPr/>
            </a:pPr>
            <a:endParaRPr lang="en-US" sz="2400"/>
          </a:p>
          <a:p>
            <a:pPr marL="342900" indent="-342900">
              <a:buFont typeface="Wingdings"/>
              <a:buChar char=""/>
              <a:defRPr/>
            </a:pPr>
            <a:r>
              <a:rPr lang="en-US" sz="2400"/>
              <a:t>Instead, a </a:t>
            </a:r>
            <a:r>
              <a:rPr lang="en-US" sz="2400" b="1"/>
              <a:t>stream cipher</a:t>
            </a:r>
            <a:r>
              <a:rPr lang="en-US" sz="2400"/>
              <a:t> treats the message as a stream of bits and performs mathematical functions on each bit individually.</a:t>
            </a:r>
            <a:endParaRPr lang="en-US" sz="2400"/>
          </a:p>
          <a:p>
            <a:pPr marL="342900" indent="-342900">
              <a:buFont typeface="Wingdings"/>
              <a:buChar char=""/>
              <a:defRPr/>
            </a:pPr>
            <a:endParaRPr lang="en-US" sz="2400"/>
          </a:p>
          <a:p>
            <a:pPr marL="342900" indent="-342900">
              <a:buFont typeface="Wingdings"/>
              <a:buChar char=""/>
              <a:defRPr/>
            </a:pPr>
            <a:r>
              <a:rPr lang="en-US" sz="2400"/>
              <a:t>When using a stream cipher, a plaintext bit will be transformed into a different ciphertext bit each time it is encrypted. </a:t>
            </a:r>
            <a:endParaRPr lang="en-US" sz="2400"/>
          </a:p>
          <a:p>
            <a:pPr marL="342900" indent="-342900">
              <a:buFont typeface="Wingdings"/>
              <a:buChar char=""/>
              <a:defRPr/>
            </a:pPr>
            <a:endParaRPr lang="en-US" sz="2400"/>
          </a:p>
          <a:p>
            <a:pPr marL="342900" indent="-342900">
              <a:buFont typeface="Wingdings"/>
              <a:buChar char=""/>
              <a:defRPr/>
            </a:pPr>
            <a:r>
              <a:rPr lang="en-US" sz="2400"/>
              <a:t>Stream ciphers use keystream generators, which produce a stream of bits that is XORed with the plaintext bits to produce ciphertext,</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613901" name="Title 14337" descr="512a190070e642d880be1a6e74542f0b# #矩形 157"/>
          <p:cNvSpPr>
            <a:spLocks noGrp="1"/>
          </p:cNvSpPr>
          <p:nvPr>
            <p:ph type="title"/>
          </p:nvPr>
        </p:nvSpPr>
        <p:spPr bwMode="auto"/>
        <p:txBody>
          <a:bodyPr anchor="ctr"/>
          <a:p>
            <a:pPr>
              <a:defRPr/>
            </a:pPr>
            <a:r>
              <a:rPr lang="en-US" sz="3200"/>
              <a:t>Cryptography</a:t>
            </a:r>
            <a:endParaRPr lang="en-US" sz="3200"/>
          </a:p>
        </p:txBody>
      </p:sp>
      <p:sp>
        <p:nvSpPr>
          <p:cNvPr id="1582552433" name="Text Box 2"/>
          <p:cNvSpPr txBox="1"/>
          <p:nvPr/>
        </p:nvSpPr>
        <p:spPr bwMode="auto">
          <a:xfrm>
            <a:off x="457200" y="935355"/>
            <a:ext cx="8139430" cy="460375"/>
          </a:xfrm>
          <a:prstGeom prst="rect">
            <a:avLst/>
          </a:prstGeom>
          <a:noFill/>
        </p:spPr>
        <p:txBody>
          <a:bodyPr wrap="square" rtlCol="0">
            <a:spAutoFit/>
          </a:bodyPr>
          <a:p>
            <a:pPr marL="342900" indent="-342900">
              <a:buFont typeface="Wingdings"/>
              <a:buChar char=""/>
              <a:defRPr/>
            </a:pPr>
            <a:r>
              <a:rPr lang="en-US" sz="2400"/>
              <a:t>Block Cipher </a:t>
            </a:r>
            <a:endParaRPr lang="en-US" sz="2400"/>
          </a:p>
        </p:txBody>
      </p:sp>
      <p:pic>
        <p:nvPicPr>
          <p:cNvPr id="1470070959" name="Content Placeholder 1"/>
          <p:cNvPicPr>
            <a:picLocks noChangeAspect="1"/>
          </p:cNvPicPr>
          <p:nvPr>
            <p:ph idx="1"/>
          </p:nvPr>
        </p:nvPicPr>
        <p:blipFill rotWithShape="1">
          <a:blip r:embed="rId3"/>
          <a:stretch/>
        </p:blipFill>
        <p:spPr bwMode="auto">
          <a:xfrm>
            <a:off x="457835" y="1647825"/>
            <a:ext cx="7820025" cy="446976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2558508" name="Title 14337" descr="512a190070e642d880be1a6e74542f0b# #矩形 157"/>
          <p:cNvSpPr>
            <a:spLocks noGrp="1"/>
          </p:cNvSpPr>
          <p:nvPr>
            <p:ph type="title"/>
          </p:nvPr>
        </p:nvSpPr>
        <p:spPr bwMode="auto"/>
        <p:txBody>
          <a:bodyPr anchor="ctr"/>
          <a:p>
            <a:pPr>
              <a:defRPr/>
            </a:pPr>
            <a:r>
              <a:rPr lang="en-US" sz="3200"/>
              <a:t>Cryptography</a:t>
            </a:r>
            <a:endParaRPr lang="en-US" sz="3200"/>
          </a:p>
        </p:txBody>
      </p:sp>
      <p:sp>
        <p:nvSpPr>
          <p:cNvPr id="1340663676" name="Text Box 1"/>
          <p:cNvSpPr txBox="1"/>
          <p:nvPr/>
        </p:nvSpPr>
        <p:spPr bwMode="auto">
          <a:xfrm>
            <a:off x="457200" y="1081405"/>
            <a:ext cx="8139430" cy="829944"/>
          </a:xfrm>
          <a:prstGeom prst="rect">
            <a:avLst/>
          </a:prstGeom>
          <a:noFill/>
        </p:spPr>
        <p:txBody>
          <a:bodyPr wrap="square" rtlCol="0">
            <a:spAutoFit/>
          </a:bodyPr>
          <a:p>
            <a:pPr marL="342900" indent="-342900">
              <a:buFont typeface="Wingdings"/>
              <a:buChar char=""/>
              <a:defRPr/>
            </a:pPr>
            <a:r>
              <a:rPr lang="en-US" sz="2400"/>
              <a:t>Stream Cipher </a:t>
            </a:r>
            <a:endParaRPr lang="en-US" sz="2400"/>
          </a:p>
          <a:p>
            <a:pPr marL="342900" indent="-342900">
              <a:buFont typeface="Wingdings"/>
              <a:buChar char=""/>
              <a:defRPr/>
            </a:pPr>
            <a:endParaRPr lang="en-US" sz="2400"/>
          </a:p>
        </p:txBody>
      </p:sp>
      <p:pic>
        <p:nvPicPr>
          <p:cNvPr id="1115449504" name="Content Placeholder 2"/>
          <p:cNvPicPr>
            <a:picLocks noChangeAspect="1"/>
          </p:cNvPicPr>
          <p:nvPr>
            <p:ph idx="1"/>
          </p:nvPr>
        </p:nvPicPr>
        <p:blipFill rotWithShape="1">
          <a:blip r:embed="rId3"/>
          <a:stretch/>
        </p:blipFill>
        <p:spPr bwMode="auto">
          <a:xfrm>
            <a:off x="601345" y="1700530"/>
            <a:ext cx="7851139" cy="446849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92536219"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078826218" name="Text Box 1"/>
          <p:cNvSpPr txBox="1"/>
          <p:nvPr/>
        </p:nvSpPr>
        <p:spPr bwMode="auto">
          <a:xfrm>
            <a:off x="457200" y="723900"/>
            <a:ext cx="8139430" cy="6739255"/>
          </a:xfrm>
          <a:prstGeom prst="rect">
            <a:avLst/>
          </a:prstGeom>
          <a:noFill/>
        </p:spPr>
        <p:txBody>
          <a:bodyPr wrap="square" rtlCol="0">
            <a:spAutoFit/>
          </a:bodyPr>
          <a:p>
            <a:pPr marL="342900" indent="-342900">
              <a:buFont typeface="Wingdings"/>
              <a:buChar char=""/>
              <a:defRPr/>
            </a:pPr>
            <a:r>
              <a:rPr lang="en-US" sz="2400" b="1"/>
              <a:t>Stream ciphers</a:t>
            </a:r>
            <a:r>
              <a:rPr lang="en-US" sz="2400"/>
              <a:t> require a lot of </a:t>
            </a:r>
            <a:r>
              <a:rPr lang="en-US" sz="2400" b="1"/>
              <a:t>randomness</a:t>
            </a:r>
            <a:r>
              <a:rPr lang="en-US" sz="2400"/>
              <a:t> and </a:t>
            </a:r>
            <a:r>
              <a:rPr lang="en-US" sz="2400" b="1"/>
              <a:t>encrypt individual bits at a time</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This requires more processing power than block ciphers require, which is why stream ciphers are better suited to be implemented at the hardware level. </a:t>
            </a:r>
            <a:endParaRPr lang="en-US" sz="2400"/>
          </a:p>
          <a:p>
            <a:pPr marL="342900" indent="-342900">
              <a:buFont typeface="Wingdings"/>
              <a:buChar char=""/>
              <a:defRPr/>
            </a:pPr>
            <a:endParaRPr lang="en-US" sz="2400"/>
          </a:p>
          <a:p>
            <a:pPr marL="342900" indent="-342900">
              <a:buFont typeface="Wingdings"/>
              <a:buChar char=""/>
              <a:defRPr/>
            </a:pPr>
            <a:r>
              <a:rPr lang="en-US" sz="2400"/>
              <a:t>Because block ciphers do not require as much processing power, they can be easily implemented at the software level. </a:t>
            </a:r>
            <a:endParaRPr lang="en-US" sz="2400"/>
          </a:p>
          <a:p>
            <a:pPr marL="342900" indent="-342900">
              <a:buFont typeface="Wingdings"/>
              <a:buChar char=""/>
              <a:defRPr/>
            </a:pPr>
            <a:endParaRPr lang="en-US" sz="2400"/>
          </a:p>
          <a:p>
            <a:pPr marL="342900" indent="-342900">
              <a:buFont typeface="Wingdings"/>
              <a:buChar char=""/>
              <a:defRPr/>
            </a:pPr>
            <a:r>
              <a:rPr lang="en-US" sz="2400"/>
              <a:t>Overall, stream ciphers are considered less secure than block ciphers and are used less frequently. </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1184785" name="Title 14337" descr="512a190070e642d880be1a6e74542f0b# #矩形 157"/>
          <p:cNvSpPr>
            <a:spLocks noGrp="1"/>
          </p:cNvSpPr>
          <p:nvPr>
            <p:ph type="title"/>
          </p:nvPr>
        </p:nvSpPr>
        <p:spPr bwMode="auto">
          <a:xfrm>
            <a:off x="457200" y="128905"/>
            <a:ext cx="8229600" cy="502285"/>
          </a:xfrm>
        </p:spPr>
        <p:txBody>
          <a:bodyPr anchor="ctr"/>
          <a:p>
            <a:pPr>
              <a:defRPr/>
            </a:pPr>
            <a:r>
              <a:rPr lang="en-US" sz="3200"/>
              <a:t>Cryptography</a:t>
            </a:r>
            <a:endParaRPr lang="en-US" sz="3200"/>
          </a:p>
        </p:txBody>
      </p:sp>
      <p:sp>
        <p:nvSpPr>
          <p:cNvPr id="1068234669" name="Text Box 2"/>
          <p:cNvSpPr txBox="1"/>
          <p:nvPr/>
        </p:nvSpPr>
        <p:spPr bwMode="auto">
          <a:xfrm>
            <a:off x="457200" y="631190"/>
            <a:ext cx="8139430" cy="6000750"/>
          </a:xfrm>
          <a:prstGeom prst="rect">
            <a:avLst/>
          </a:prstGeom>
          <a:noFill/>
        </p:spPr>
        <p:txBody>
          <a:bodyPr wrap="square" rtlCol="0">
            <a:spAutoFit/>
          </a:bodyPr>
          <a:p>
            <a:pPr marL="342900" indent="-342900">
              <a:buFont typeface="Wingdings"/>
              <a:buChar char=""/>
              <a:defRPr/>
            </a:pPr>
            <a:r>
              <a:rPr lang="en-US" sz="2400"/>
              <a:t>When real-time applications, as in VoIP or multimedia, have encryption requirements, it is common that stream ciphers are implemented to accomplish this task.</a:t>
            </a:r>
            <a:endParaRPr lang="en-US" sz="2400"/>
          </a:p>
          <a:p>
            <a:pPr marL="342900" indent="-342900">
              <a:buFont typeface="Wingdings"/>
              <a:buChar char=""/>
              <a:defRPr/>
            </a:pPr>
            <a:endParaRPr lang="en-US" sz="2400"/>
          </a:p>
          <a:p>
            <a:pPr marL="342900" indent="-342900">
              <a:buFont typeface="Wingdings"/>
              <a:buChar char=""/>
              <a:defRPr/>
            </a:pPr>
            <a:r>
              <a:rPr lang="en-US" sz="2400"/>
              <a:t>It is also worth pointing out that a computational error in a block encryption may render one block undecipherable, whereas a single computation error in stream encryption will propagate through the remainder of the stream.</a:t>
            </a:r>
            <a:endParaRPr lang="en-US" sz="2400"/>
          </a:p>
          <a:p>
            <a:pPr marL="342900" indent="-342900">
              <a:buFont typeface="Wingdings"/>
              <a:buChar char=""/>
              <a:defRPr/>
            </a:pPr>
            <a:endParaRPr lang="en-US" sz="2400"/>
          </a:p>
          <a:p>
            <a:pPr marL="342900" indent="-342900">
              <a:buFont typeface="Wingdings"/>
              <a:buChar char=""/>
              <a:defRPr/>
            </a:pPr>
            <a:r>
              <a:rPr lang="en-US" sz="2400"/>
              <a:t>Some other techniques used in algorithms to increase their cryptographic strength are listed here:</a:t>
            </a:r>
            <a:endParaRPr lang="en-US" sz="2400"/>
          </a:p>
          <a:p>
            <a:pPr marL="342900" indent="-342900">
              <a:buFont typeface="Wingdings"/>
              <a:buChar char=""/>
              <a:defRPr/>
            </a:pPr>
            <a:endParaRPr lang="en-US" sz="2400"/>
          </a:p>
          <a:p>
            <a:pPr marL="342900" indent="-342900">
              <a:buFont typeface="Wingdings"/>
              <a:buChar char=""/>
              <a:defRPr/>
            </a:pPr>
            <a:r>
              <a:rPr lang="en-US" sz="2400" b="1"/>
              <a:t>Compression</a:t>
            </a:r>
            <a:r>
              <a:rPr lang="en-US" sz="2400"/>
              <a:t> </a:t>
            </a:r>
            <a:endParaRPr lang="en-US" sz="2400"/>
          </a:p>
          <a:p>
            <a:pPr marL="342900" indent="-342900">
              <a:buFont typeface="Wingdings"/>
              <a:buChar char=""/>
              <a:defRPr/>
            </a:pPr>
            <a:r>
              <a:rPr lang="en-US" sz="2400"/>
              <a:t>Compression functions are run on the text before it goes into the encryption algorithm.</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8249770"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1082534029" name="Text Box 2"/>
          <p:cNvSpPr txBox="1"/>
          <p:nvPr/>
        </p:nvSpPr>
        <p:spPr bwMode="auto">
          <a:xfrm>
            <a:off x="457200" y="935355"/>
            <a:ext cx="8351520" cy="5631179"/>
          </a:xfrm>
          <a:prstGeom prst="rect">
            <a:avLst/>
          </a:prstGeom>
          <a:noFill/>
        </p:spPr>
        <p:txBody>
          <a:bodyPr wrap="square" rtlCol="0">
            <a:spAutoFit/>
          </a:bodyPr>
          <a:p>
            <a:pPr marL="342900" indent="-342900">
              <a:buFont typeface="Wingdings"/>
              <a:buChar char=""/>
              <a:defRPr/>
            </a:pPr>
            <a:r>
              <a:rPr lang="en-US" sz="2400" b="1"/>
              <a:t>Expansion</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Expanding the plaintext by duplicating values. Commonly used to increase the plaintext size to map to key sizes.</a:t>
            </a:r>
            <a:endParaRPr lang="en-US" sz="2400"/>
          </a:p>
          <a:p>
            <a:pPr marL="342900" indent="-342900">
              <a:buFont typeface="Wingdings"/>
              <a:buChar char=""/>
              <a:defRPr/>
            </a:pPr>
            <a:endParaRPr lang="en-US" sz="2400"/>
          </a:p>
          <a:p>
            <a:pPr marL="342900" indent="-342900">
              <a:buFont typeface="Wingdings"/>
              <a:buChar char=""/>
              <a:defRPr/>
            </a:pPr>
            <a:r>
              <a:rPr lang="en-US" sz="2400" b="1"/>
              <a:t>Padding </a:t>
            </a:r>
            <a:endParaRPr lang="en-US" sz="2400" b="1"/>
          </a:p>
          <a:p>
            <a:pPr marL="342900" indent="-342900">
              <a:buFont typeface="Wingdings"/>
              <a:buChar char=""/>
              <a:defRPr/>
            </a:pPr>
            <a:endParaRPr lang="en-US" sz="2400"/>
          </a:p>
          <a:p>
            <a:pPr marL="342900" indent="-342900">
              <a:buFont typeface="Wingdings"/>
              <a:buChar char=""/>
              <a:defRPr/>
            </a:pPr>
            <a:r>
              <a:rPr lang="en-US" sz="2400"/>
              <a:t>Adding material to plaintext data before it is encrypted.</a:t>
            </a:r>
            <a:endParaRPr lang="en-US" sz="2400"/>
          </a:p>
          <a:p>
            <a:pPr marL="342900" indent="-342900">
              <a:buFont typeface="Wingdings"/>
              <a:buChar char=""/>
              <a:defRPr/>
            </a:pPr>
            <a:endParaRPr lang="en-US" sz="2400"/>
          </a:p>
          <a:p>
            <a:pPr marL="342900" indent="-342900">
              <a:buFont typeface="Wingdings"/>
              <a:buChar char=""/>
              <a:defRPr/>
            </a:pPr>
            <a:r>
              <a:rPr lang="en-US" sz="2400" b="1"/>
              <a:t>Key mixing </a:t>
            </a:r>
            <a:endParaRPr lang="en-US" sz="2400" b="1"/>
          </a:p>
          <a:p>
            <a:pPr marL="342900" indent="-342900">
              <a:buFont typeface="Wingdings"/>
              <a:buChar char=""/>
              <a:defRPr/>
            </a:pPr>
            <a:endParaRPr lang="en-US" sz="2400"/>
          </a:p>
          <a:p>
            <a:pPr marL="342900" indent="-342900">
              <a:buFont typeface="Wingdings"/>
              <a:buChar char=""/>
              <a:defRPr/>
            </a:pPr>
            <a:r>
              <a:rPr lang="en-US" sz="2400"/>
              <a:t>Using a portion (subkey) of a key to limit the exposure of the key.</a:t>
            </a:r>
            <a:endParaRPr lang="en-US" sz="2400"/>
          </a:p>
          <a:p>
            <a:pPr marL="342900" indent="-342900">
              <a:buFont typeface="Wingdings"/>
              <a:buChar char=""/>
              <a:defRPr/>
            </a:pPr>
            <a:r>
              <a:rPr lang="en-US" sz="2400"/>
              <a:t>Key schedules are used to generate subkeys from master keys.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1783042"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825286506" name="Text Box 1"/>
          <p:cNvSpPr txBox="1"/>
          <p:nvPr/>
        </p:nvSpPr>
        <p:spPr bwMode="auto">
          <a:xfrm>
            <a:off x="457200" y="723900"/>
            <a:ext cx="8139430" cy="5015865"/>
          </a:xfrm>
          <a:prstGeom prst="rect">
            <a:avLst/>
          </a:prstGeom>
          <a:noFill/>
        </p:spPr>
        <p:txBody>
          <a:bodyPr wrap="square" rtlCol="0">
            <a:spAutoFit/>
          </a:bodyPr>
          <a:p>
            <a:pPr marL="342900" indent="-342900">
              <a:buFont typeface="Wingdings"/>
              <a:buChar char=""/>
              <a:defRPr/>
            </a:pPr>
            <a:endParaRPr lang="en-US" sz="4000"/>
          </a:p>
          <a:p>
            <a:pPr marL="342900" indent="-342900">
              <a:buFont typeface="Wingdings"/>
              <a:buChar char=""/>
              <a:defRPr/>
            </a:pPr>
            <a:r>
              <a:rPr lang="en-US" sz="4000"/>
              <a:t>In a hybrid system, the symmetric algorithm uses a </a:t>
            </a:r>
            <a:r>
              <a:rPr lang="en-US" sz="4000" b="1"/>
              <a:t>secret key</a:t>
            </a:r>
            <a:r>
              <a:rPr lang="en-US" sz="4000"/>
              <a:t> that will be used to encrypt the bulk, or the message, and the </a:t>
            </a:r>
            <a:r>
              <a:rPr lang="en-US" sz="4000" b="1"/>
              <a:t>asymmetric key</a:t>
            </a:r>
            <a:r>
              <a:rPr lang="en-US" sz="4000"/>
              <a:t> encrypts the secret key for transmission.</a:t>
            </a:r>
            <a:endParaRPr lang="en-US" sz="4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6260129"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156161012" name="Text Box 2"/>
          <p:cNvSpPr txBox="1"/>
          <p:nvPr/>
        </p:nvSpPr>
        <p:spPr bwMode="auto">
          <a:xfrm>
            <a:off x="457200" y="935355"/>
            <a:ext cx="8139430" cy="5631179"/>
          </a:xfrm>
          <a:prstGeom prst="rect">
            <a:avLst/>
          </a:prstGeom>
          <a:noFill/>
        </p:spPr>
        <p:txBody>
          <a:bodyPr wrap="square" rtlCol="0">
            <a:spAutoFit/>
          </a:bodyPr>
          <a:p>
            <a:pPr marL="342900" indent="-342900">
              <a:buFont typeface="Wingdings"/>
              <a:buChar char=""/>
              <a:defRPr/>
            </a:pPr>
            <a:r>
              <a:rPr lang="en-US" sz="2400" b="1"/>
              <a:t>Types of Symmetric Systems</a:t>
            </a:r>
            <a:endParaRPr lang="en-US" sz="2400" b="1"/>
          </a:p>
          <a:p>
            <a:pPr marL="342900" indent="-342900">
              <a:buFont typeface="Wingdings"/>
              <a:buChar char=""/>
              <a:defRPr/>
            </a:pPr>
            <a:endParaRPr lang="en-US" sz="2400" b="1"/>
          </a:p>
          <a:p>
            <a:pPr marL="342900" indent="-342900">
              <a:buFont typeface="Wingdings"/>
              <a:buChar char=""/>
              <a:defRPr/>
            </a:pPr>
            <a:r>
              <a:rPr lang="en-US" sz="2400"/>
              <a:t>Several types of symmetric algorithms are used today. They have different methods of providing encryption and decryption functionality. </a:t>
            </a:r>
            <a:endParaRPr lang="en-US" sz="2400"/>
          </a:p>
          <a:p>
            <a:pPr marL="342900" indent="-342900">
              <a:buFont typeface="Wingdings"/>
              <a:buChar char=""/>
              <a:defRPr/>
            </a:pPr>
            <a:endParaRPr lang="en-US" sz="2400"/>
          </a:p>
          <a:p>
            <a:pPr marL="342900" indent="-342900">
              <a:buFont typeface="Wingdings"/>
              <a:buChar char=""/>
              <a:defRPr/>
            </a:pPr>
            <a:r>
              <a:rPr lang="en-US" sz="2400"/>
              <a:t>The one thing they all have in common is that they are symmetric algorithms, meaning the sender and receiver are using two instances of the same key.</a:t>
            </a:r>
            <a:endParaRPr lang="en-US" sz="2400"/>
          </a:p>
          <a:p>
            <a:pPr>
              <a:buFont typeface="Wingdings"/>
              <a:defRPr/>
            </a:pPr>
            <a:r>
              <a:rPr lang="en-US" sz="2400" b="1"/>
              <a:t>	Data Encryption Standard (DES)</a:t>
            </a:r>
            <a:endParaRPr lang="en-US" sz="2400" b="1"/>
          </a:p>
          <a:p>
            <a:pPr>
              <a:buFont typeface="Wingdings"/>
              <a:defRPr/>
            </a:pPr>
            <a:r>
              <a:rPr lang="en-US" sz="2400" b="1"/>
              <a:t>	Triple-DES (3DES)</a:t>
            </a:r>
            <a:endParaRPr lang="en-US" sz="2400" b="1"/>
          </a:p>
          <a:p>
            <a:pPr>
              <a:buFont typeface="Wingdings"/>
              <a:defRPr/>
            </a:pPr>
            <a:r>
              <a:rPr lang="en-US" sz="2400" b="1"/>
              <a:t>	 Advanced Encryption Standard (AES)</a:t>
            </a:r>
            <a:endParaRPr lang="en-US" sz="2400" b="1"/>
          </a:p>
          <a:p>
            <a:pPr>
              <a:buFont typeface="Wingdings"/>
              <a:defRPr/>
            </a:pPr>
            <a:r>
              <a:rPr lang="en-US" sz="2400" b="1"/>
              <a:t>	International Data Encryption Algorithm (IDEA)</a:t>
            </a:r>
            <a:endParaRPr lang="en-US" sz="2400" b="1"/>
          </a:p>
          <a:p>
            <a:pPr>
              <a:buFont typeface="Wingdings"/>
              <a:defRPr/>
            </a:pPr>
            <a:r>
              <a:rPr lang="en-US" sz="2400" b="1"/>
              <a:t>	Blowfish</a:t>
            </a:r>
            <a:endParaRPr lang="en-US" sz="2400" b="1"/>
          </a:p>
          <a:p>
            <a:pPr>
              <a:buFont typeface="Wingdings"/>
              <a:defRPr/>
            </a:pPr>
            <a:r>
              <a:rPr lang="en-US" sz="2400" b="1"/>
              <a:t>	 RC4, RC5, and RC6</a:t>
            </a:r>
            <a:endParaRPr lang="en-US" sz="24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1378316"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923516356"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b="1"/>
              <a:t>Data Encryption Standard (DES)</a:t>
            </a:r>
            <a:endParaRPr lang="en-US" sz="2400" b="1"/>
          </a:p>
          <a:p>
            <a:pPr marL="342900" indent="-342900">
              <a:buFont typeface="Wingdings"/>
              <a:buChar char=""/>
              <a:defRPr/>
            </a:pPr>
            <a:endParaRPr lang="en-US" sz="2400" b="1"/>
          </a:p>
          <a:p>
            <a:pPr marL="342900" indent="-342900">
              <a:buFont typeface="Wingdings"/>
              <a:buChar char=""/>
              <a:defRPr/>
            </a:pPr>
            <a:r>
              <a:rPr lang="en-US" sz="2400"/>
              <a:t>The U.S. government published the Data Encryption Standard in 1977 as a proposed standard cryptosystem for all government communications. </a:t>
            </a:r>
            <a:endParaRPr lang="en-US" sz="2400"/>
          </a:p>
          <a:p>
            <a:pPr marL="342900" indent="-342900">
              <a:buFont typeface="Wingdings"/>
              <a:buChar char=""/>
              <a:defRPr/>
            </a:pPr>
            <a:endParaRPr lang="en-US" sz="2400"/>
          </a:p>
          <a:p>
            <a:pPr marL="342900" indent="-342900">
              <a:buFont typeface="Wingdings"/>
              <a:buChar char=""/>
              <a:defRPr/>
            </a:pPr>
            <a:r>
              <a:rPr lang="en-US" sz="2400"/>
              <a:t>Because of flaws in the algorithm, cryptographers and the federal government no longer consider DES secure.</a:t>
            </a:r>
            <a:endParaRPr lang="en-US" sz="2400"/>
          </a:p>
          <a:p>
            <a:pPr marL="342900" indent="-342900">
              <a:buFont typeface="Wingdings"/>
              <a:buChar char=""/>
              <a:defRPr/>
            </a:pPr>
            <a:endParaRPr lang="en-US" sz="2400"/>
          </a:p>
          <a:p>
            <a:pPr marL="342900" indent="-342900">
              <a:buFont typeface="Wingdings"/>
              <a:buChar char=""/>
              <a:defRPr/>
            </a:pPr>
            <a:r>
              <a:rPr lang="en-US" sz="2400"/>
              <a:t> It is widely believed that intelligence agencies routinely decrypt DES-encrypted information. </a:t>
            </a:r>
            <a:endParaRPr lang="en-US" sz="2400"/>
          </a:p>
          <a:p>
            <a:pPr marL="342900" indent="-342900">
              <a:buFont typeface="Wingdings"/>
              <a:buChar char=""/>
              <a:defRPr/>
            </a:pPr>
            <a:endParaRPr lang="en-US" sz="2400"/>
          </a:p>
          <a:p>
            <a:pPr marL="342900" indent="-342900">
              <a:buFont typeface="Wingdings"/>
              <a:buChar char=""/>
              <a:defRPr/>
            </a:pPr>
            <a:r>
              <a:rPr lang="en-US" sz="2400"/>
              <a:t>DES was superseded by the Advanced Encryption Standard in December 2001.</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4389980" name="Title 14337" descr="512a190070e642d880be1a6e74542f0b# #矩形 157"/>
          <p:cNvSpPr>
            <a:spLocks noGrp="1"/>
          </p:cNvSpPr>
          <p:nvPr>
            <p:ph type="title"/>
          </p:nvPr>
        </p:nvSpPr>
        <p:spPr bwMode="auto">
          <a:xfrm>
            <a:off x="457200" y="128587"/>
            <a:ext cx="8229600" cy="806450"/>
          </a:xfrm>
        </p:spPr>
        <p:txBody>
          <a:bodyPr anchor="ctr"/>
          <a:p>
            <a:pPr>
              <a:defRPr/>
            </a:pPr>
            <a:r>
              <a:rPr lang="en-US" sz="3200"/>
              <a:t>Cryptography</a:t>
            </a:r>
            <a:endParaRPr lang="en-US" sz="3200"/>
          </a:p>
        </p:txBody>
      </p:sp>
      <p:sp>
        <p:nvSpPr>
          <p:cNvPr id="339963408" name="Text Box 2"/>
          <p:cNvSpPr txBox="1"/>
          <p:nvPr/>
        </p:nvSpPr>
        <p:spPr bwMode="auto">
          <a:xfrm>
            <a:off x="457200" y="935355"/>
            <a:ext cx="8139430" cy="5631179"/>
          </a:xfrm>
          <a:prstGeom prst="rect">
            <a:avLst/>
          </a:prstGeom>
          <a:noFill/>
        </p:spPr>
        <p:txBody>
          <a:bodyPr wrap="square" rtlCol="0">
            <a:spAutoFit/>
          </a:bodyPr>
          <a:p>
            <a:pPr marL="342900" indent="-342900">
              <a:buFont typeface="Wingdings"/>
              <a:buChar char=""/>
              <a:defRPr/>
            </a:pPr>
            <a:r>
              <a:rPr lang="en-US" sz="2400"/>
              <a:t>DES is a 64-bit block cipher that has five modes of operation: </a:t>
            </a:r>
            <a:endParaRPr lang="en-US" sz="2400"/>
          </a:p>
          <a:p>
            <a:pPr>
              <a:buFont typeface="Wingdings"/>
              <a:defRPr/>
            </a:pPr>
            <a:r>
              <a:rPr lang="en-US" sz="2400"/>
              <a:t>	</a:t>
            </a:r>
            <a:r>
              <a:rPr lang="en-US" sz="2400" b="1"/>
              <a:t>Electronic Code Book (ECB) mode</a:t>
            </a:r>
            <a:r>
              <a:rPr lang="en-US" sz="2400"/>
              <a:t>, </a:t>
            </a:r>
            <a:endParaRPr lang="en-US" sz="2400"/>
          </a:p>
          <a:p>
            <a:pPr>
              <a:buFont typeface="Wingdings"/>
              <a:defRPr/>
            </a:pPr>
            <a:r>
              <a:rPr lang="en-US" sz="2400"/>
              <a:t>	</a:t>
            </a:r>
            <a:r>
              <a:rPr lang="en-US" sz="2400" b="1"/>
              <a:t>Cipher Block Chaining (CBC) mode</a:t>
            </a:r>
            <a:r>
              <a:rPr lang="en-US" sz="2400"/>
              <a:t>, </a:t>
            </a:r>
            <a:endParaRPr lang="en-US" sz="2400"/>
          </a:p>
          <a:p>
            <a:pPr>
              <a:buFont typeface="Wingdings"/>
              <a:defRPr/>
            </a:pPr>
            <a:r>
              <a:rPr lang="en-US" sz="2400"/>
              <a:t>	</a:t>
            </a:r>
            <a:r>
              <a:rPr lang="en-US" sz="2400" b="1"/>
              <a:t>Cipher Feedback (CFB) mode</a:t>
            </a:r>
            <a:r>
              <a:rPr lang="en-US" sz="2400"/>
              <a:t>, </a:t>
            </a:r>
            <a:endParaRPr lang="en-US" sz="2400"/>
          </a:p>
          <a:p>
            <a:pPr>
              <a:buFont typeface="Wingdings"/>
              <a:defRPr/>
            </a:pPr>
            <a:r>
              <a:rPr lang="en-US" sz="2400"/>
              <a:t>	</a:t>
            </a:r>
            <a:r>
              <a:rPr lang="en-US" sz="2400" b="1"/>
              <a:t>output feedback (OFB) mode</a:t>
            </a:r>
            <a:r>
              <a:rPr lang="en-US" sz="2400"/>
              <a:t>, and</a:t>
            </a:r>
            <a:endParaRPr lang="en-US" sz="2400"/>
          </a:p>
          <a:p>
            <a:pPr>
              <a:buFont typeface="Wingdings"/>
              <a:defRPr/>
            </a:pPr>
            <a:r>
              <a:rPr lang="en-US" sz="2400"/>
              <a:t>	</a:t>
            </a:r>
            <a:r>
              <a:rPr lang="en-US" sz="2400" b="1"/>
              <a:t>Counter (CTR) mode</a:t>
            </a:r>
            <a:r>
              <a:rPr lang="en-US" sz="2400"/>
              <a:t>.</a:t>
            </a:r>
            <a:endParaRPr lang="en-US" sz="2400"/>
          </a:p>
          <a:p>
            <a:pPr marL="342900" indent="-342900">
              <a:buFont typeface="Wingdings"/>
              <a:buChar char=""/>
              <a:defRPr/>
            </a:pPr>
            <a:endParaRPr lang="en-US" sz="2400"/>
          </a:p>
          <a:p>
            <a:pPr marL="342900" indent="-342900">
              <a:buFont typeface="Wingdings"/>
              <a:buChar char=""/>
              <a:defRPr/>
            </a:pPr>
            <a:r>
              <a:rPr lang="en-US" sz="2400"/>
              <a:t>All of the </a:t>
            </a:r>
            <a:r>
              <a:rPr lang="en-US" sz="2400" b="1"/>
              <a:t>DES</a:t>
            </a:r>
            <a:r>
              <a:rPr lang="en-US" sz="2400"/>
              <a:t> modes operate on </a:t>
            </a:r>
            <a:r>
              <a:rPr lang="en-US" sz="2400" b="1"/>
              <a:t>64 bits</a:t>
            </a:r>
            <a:r>
              <a:rPr lang="en-US" sz="2400"/>
              <a:t> of plaintext at a time to generate </a:t>
            </a:r>
            <a:r>
              <a:rPr lang="en-US" sz="2400" b="1"/>
              <a:t>64-bit</a:t>
            </a:r>
            <a:r>
              <a:rPr lang="en-US" sz="2400"/>
              <a:t> blocks of ciphertext.</a:t>
            </a:r>
            <a:endParaRPr lang="en-US" sz="2400"/>
          </a:p>
          <a:p>
            <a:pPr marL="342900" indent="-342900">
              <a:buFont typeface="Wingdings"/>
              <a:buChar char=""/>
              <a:defRPr/>
            </a:pPr>
            <a:endParaRPr lang="en-US" sz="2400"/>
          </a:p>
          <a:p>
            <a:pPr marL="342900" indent="-342900">
              <a:buFont typeface="Wingdings"/>
              <a:buChar char=""/>
              <a:defRPr/>
            </a:pPr>
            <a:r>
              <a:rPr lang="en-US" sz="2400"/>
              <a:t>The key used by </a:t>
            </a:r>
            <a:r>
              <a:rPr lang="en-US" sz="2400" b="1"/>
              <a:t>DES</a:t>
            </a:r>
            <a:r>
              <a:rPr lang="en-US" sz="2400"/>
              <a:t> is </a:t>
            </a:r>
            <a:r>
              <a:rPr lang="en-US" sz="2400" b="1"/>
              <a:t>56</a:t>
            </a:r>
            <a:r>
              <a:rPr lang="en-US" sz="2400"/>
              <a:t> bits long.</a:t>
            </a:r>
            <a:endParaRPr lang="en-US" sz="2400"/>
          </a:p>
          <a:p>
            <a:pPr marL="342900" indent="-342900">
              <a:buFont typeface="Wingdings"/>
              <a:buChar char=""/>
              <a:defRPr/>
            </a:pPr>
            <a:endParaRPr lang="en-US" sz="2400"/>
          </a:p>
          <a:p>
            <a:pPr marL="342900" indent="-342900">
              <a:buFont typeface="Wingdings"/>
              <a:buChar char=""/>
              <a:defRPr/>
            </a:pPr>
            <a:r>
              <a:rPr lang="en-US" sz="2400" b="1"/>
              <a:t>DES</a:t>
            </a:r>
            <a:r>
              <a:rPr lang="en-US" sz="2400"/>
              <a:t> uses a long series of </a:t>
            </a:r>
            <a:r>
              <a:rPr lang="en-US" sz="2400" b="1"/>
              <a:t>exclusive OR (XOR)</a:t>
            </a:r>
            <a:r>
              <a:rPr lang="en-US" sz="2400"/>
              <a:t> operations to generate the ciphertext.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6849916"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295956913" name="Text Box 1"/>
          <p:cNvSpPr txBox="1"/>
          <p:nvPr/>
        </p:nvSpPr>
        <p:spPr bwMode="auto">
          <a:xfrm>
            <a:off x="457200" y="723900"/>
            <a:ext cx="8139430" cy="6369685"/>
          </a:xfrm>
          <a:prstGeom prst="rect">
            <a:avLst/>
          </a:prstGeom>
          <a:noFill/>
        </p:spPr>
        <p:txBody>
          <a:bodyPr wrap="square" rtlCol="0">
            <a:spAutoFit/>
          </a:bodyPr>
          <a:p>
            <a:pPr marL="342900" indent="-342900">
              <a:buFont typeface="Wingdings"/>
              <a:buChar char=""/>
              <a:defRPr/>
            </a:pPr>
            <a:r>
              <a:rPr lang="en-US" sz="2400" b="1"/>
              <a:t>Triple-DES</a:t>
            </a:r>
            <a:endParaRPr lang="en-US" sz="2400" b="1"/>
          </a:p>
          <a:p>
            <a:pPr marL="342900" indent="-342900">
              <a:buFont typeface="Wingdings"/>
              <a:buChar char=""/>
              <a:defRPr/>
            </a:pPr>
            <a:endParaRPr lang="en-US" sz="2400" b="1"/>
          </a:p>
          <a:p>
            <a:pPr marL="342900" indent="-342900">
              <a:buFont typeface="Wingdings"/>
              <a:buChar char=""/>
              <a:defRPr/>
            </a:pPr>
            <a:r>
              <a:rPr lang="en-US" sz="2400"/>
              <a:t>The Data Encryption Standard’s (DES) 56-bit key is no longer considered adequate in the face of modern cryptanalytic techniques and supercomputing power.</a:t>
            </a:r>
            <a:endParaRPr lang="en-US" sz="2400"/>
          </a:p>
          <a:p>
            <a:pPr marL="342900" indent="-342900">
              <a:buFont typeface="Wingdings"/>
              <a:buChar char=""/>
              <a:defRPr/>
            </a:pPr>
            <a:endParaRPr lang="en-US" sz="2400"/>
          </a:p>
          <a:p>
            <a:pPr marL="342900" indent="-342900">
              <a:buFont typeface="Wingdings"/>
              <a:buChar char=""/>
              <a:defRPr/>
            </a:pPr>
            <a:r>
              <a:rPr lang="en-US" sz="2400"/>
              <a:t>Double-DES was also introduced and has a key length of 112 bits, but there is a specific attack against Double-DES that reduces its work factor to about the same as DES.</a:t>
            </a:r>
            <a:endParaRPr lang="en-US" sz="2400"/>
          </a:p>
          <a:p>
            <a:pPr marL="342900" indent="-342900">
              <a:buFont typeface="Wingdings"/>
              <a:buChar char=""/>
              <a:defRPr/>
            </a:pPr>
            <a:endParaRPr lang="en-US" sz="2400"/>
          </a:p>
          <a:p>
            <a:pPr marL="342900" indent="-342900">
              <a:buFont typeface="Wingdings"/>
              <a:buChar char=""/>
              <a:defRPr/>
            </a:pPr>
            <a:r>
              <a:rPr lang="en-US" sz="2400"/>
              <a:t>Thus, it is no more secure than DES.</a:t>
            </a:r>
            <a:endParaRPr lang="en-US" sz="2400"/>
          </a:p>
          <a:p>
            <a:pPr marL="342900" indent="-342900">
              <a:buFont typeface="Wingdings"/>
              <a:buChar char=""/>
              <a:defRPr/>
            </a:pPr>
            <a:endParaRPr lang="en-US" sz="2400"/>
          </a:p>
          <a:p>
            <a:pPr marL="342900" indent="-342900">
              <a:buFont typeface="Wingdings"/>
              <a:buChar char=""/>
              <a:defRPr/>
            </a:pPr>
            <a:r>
              <a:rPr lang="en-US" sz="2400"/>
              <a:t>3DES uses 48 rounds in its computation, which makes it highly resistant to differential cryptanalysis.</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5421037"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780147541"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However, because of the extra work 3DES performs, there is a heavy performance hit. </a:t>
            </a:r>
            <a:endParaRPr lang="en-US" sz="2400"/>
          </a:p>
          <a:p>
            <a:pPr marL="342900" indent="-342900">
              <a:buFont typeface="Wingdings"/>
              <a:buChar char=""/>
              <a:defRPr/>
            </a:pPr>
            <a:endParaRPr lang="en-US" sz="2400"/>
          </a:p>
          <a:p>
            <a:pPr marL="342900" indent="-342900">
              <a:buFont typeface="Wingdings"/>
              <a:buChar char=""/>
              <a:defRPr/>
            </a:pPr>
            <a:r>
              <a:rPr lang="en-US" sz="2400"/>
              <a:t>It can take up to three times longer than DES to perform encryption and decryption.</a:t>
            </a:r>
            <a:endParaRPr lang="en-US" sz="2400"/>
          </a:p>
          <a:p>
            <a:pPr marL="342900" indent="-342900">
              <a:buFont typeface="Wingdings"/>
              <a:buChar char=""/>
              <a:defRPr/>
            </a:pPr>
            <a:endParaRPr lang="en-US" sz="2400"/>
          </a:p>
          <a:p>
            <a:pPr marL="342900" indent="-342900">
              <a:buFont typeface="Wingdings"/>
              <a:buChar char=""/>
              <a:defRPr/>
            </a:pPr>
            <a:r>
              <a:rPr lang="en-US" sz="2400" b="1"/>
              <a:t>3DES</a:t>
            </a:r>
            <a:r>
              <a:rPr lang="en-US" sz="2400"/>
              <a:t> can work in different modes, and the mode chosen dictates the number of keys used and what functions are carried out:</a:t>
            </a:r>
            <a:endParaRPr lang="en-US" sz="2400"/>
          </a:p>
          <a:p>
            <a:pPr marL="342900" indent="-342900">
              <a:buFont typeface="Wingdings"/>
              <a:buChar char=""/>
              <a:defRPr/>
            </a:pPr>
            <a:endParaRPr lang="en-US" sz="2400"/>
          </a:p>
          <a:p>
            <a:pPr marL="342900" indent="-342900">
              <a:buFont typeface="Wingdings"/>
              <a:buChar char=""/>
              <a:defRPr/>
            </a:pPr>
            <a:r>
              <a:rPr lang="en-US" sz="2400" b="1"/>
              <a:t>DES-EEE3</a:t>
            </a:r>
            <a:r>
              <a:rPr lang="en-US" sz="2400"/>
              <a:t> Uses three different keys for encryption, and the data is encrypted,encrypted, encrypted.</a:t>
            </a:r>
            <a:endParaRPr lang="en-US" sz="2400"/>
          </a:p>
          <a:p>
            <a:pPr marL="342900" indent="-342900">
              <a:buFont typeface="Wingdings"/>
              <a:buChar char=""/>
              <a:defRPr/>
            </a:pPr>
            <a:endParaRPr lang="en-US" sz="2400"/>
          </a:p>
          <a:p>
            <a:pPr marL="342900" indent="-342900">
              <a:buFont typeface="Wingdings"/>
              <a:buChar char=""/>
              <a:defRPr/>
            </a:pPr>
            <a:r>
              <a:rPr lang="en-US" sz="2400"/>
              <a:t>The Es indicate that there are three encryption operations, whereas the numeral 3 indicates that three different keys are used.</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5723936"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374229262"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DES-EEE3 has an effective key length of </a:t>
            </a:r>
            <a:r>
              <a:rPr lang="en-US" sz="2400" b="1"/>
              <a:t>168 bits.</a:t>
            </a:r>
            <a:endParaRPr lang="en-US" sz="2400" b="1"/>
          </a:p>
          <a:p>
            <a:pPr marL="342900" indent="-342900">
              <a:buFont typeface="Wingdings"/>
              <a:buChar char=""/>
              <a:defRPr/>
            </a:pPr>
            <a:endParaRPr lang="en-US" sz="2400"/>
          </a:p>
          <a:p>
            <a:pPr marL="342900" indent="-342900">
              <a:buFont typeface="Wingdings"/>
              <a:buChar char=""/>
              <a:defRPr/>
            </a:pPr>
            <a:r>
              <a:rPr lang="en-US" sz="2400" b="1"/>
              <a:t>DES-EDE3</a:t>
            </a:r>
            <a:r>
              <a:rPr lang="en-US" sz="2400"/>
              <a:t> Uses three different keys for encryption, and the data is encrypted,decrypted, encrypted.</a:t>
            </a:r>
            <a:endParaRPr lang="en-US" sz="2400"/>
          </a:p>
          <a:p>
            <a:pPr marL="342900" indent="-342900">
              <a:buFont typeface="Wingdings"/>
              <a:buChar char=""/>
              <a:defRPr/>
            </a:pPr>
            <a:endParaRPr lang="en-US" sz="2400"/>
          </a:p>
          <a:p>
            <a:pPr marL="342900" indent="-342900">
              <a:buFont typeface="Wingdings"/>
              <a:buChar char=""/>
              <a:defRPr/>
            </a:pPr>
            <a:r>
              <a:rPr lang="en-US" sz="2400"/>
              <a:t>This second variant (DES-EDE3) also uses three keys but replaces the second encryption operation with a decryption operation.</a:t>
            </a:r>
            <a:endParaRPr lang="en-US" sz="2400"/>
          </a:p>
          <a:p>
            <a:pPr marL="342900" indent="-342900">
              <a:buFont typeface="Wingdings"/>
              <a:buChar char=""/>
              <a:defRPr/>
            </a:pPr>
            <a:endParaRPr lang="en-US" sz="2400"/>
          </a:p>
          <a:p>
            <a:pPr marL="342900" indent="-342900">
              <a:buFont typeface="Wingdings"/>
              <a:buChar char=""/>
              <a:defRPr/>
            </a:pPr>
            <a:r>
              <a:rPr lang="en-US" sz="2400"/>
              <a:t>The decrypting portion here is decrypted with a different key. </a:t>
            </a:r>
            <a:endParaRPr lang="en-US" sz="2400"/>
          </a:p>
          <a:p>
            <a:pPr marL="342900" indent="-342900">
              <a:buFont typeface="Wingdings"/>
              <a:buChar char=""/>
              <a:defRPr/>
            </a:pPr>
            <a:endParaRPr lang="en-US" sz="2400"/>
          </a:p>
          <a:p>
            <a:pPr marL="342900" indent="-342900">
              <a:buFont typeface="Wingdings"/>
              <a:buChar char=""/>
              <a:defRPr/>
            </a:pPr>
            <a:r>
              <a:rPr lang="en-US" sz="2400"/>
              <a:t>When data is encrypted with one symmetric key and decrypted with a different symmetric key, it is jumbled even more. </a:t>
            </a: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8268547" name="Title 14337" descr="512a190070e642d880be1a6e74542f0b# #矩形 157"/>
          <p:cNvSpPr>
            <a:spLocks noGrp="1"/>
          </p:cNvSpPr>
          <p:nvPr>
            <p:ph type="title"/>
          </p:nvPr>
        </p:nvSpPr>
        <p:spPr bwMode="auto">
          <a:xfrm>
            <a:off x="457200" y="142240"/>
            <a:ext cx="8229600" cy="475615"/>
          </a:xfrm>
        </p:spPr>
        <p:txBody>
          <a:bodyPr anchor="ctr"/>
          <a:p>
            <a:pPr>
              <a:defRPr/>
            </a:pPr>
            <a:r>
              <a:rPr lang="en-US" sz="3200"/>
              <a:t>Cryptography</a:t>
            </a:r>
            <a:endParaRPr lang="en-US" sz="3200"/>
          </a:p>
        </p:txBody>
      </p:sp>
      <p:sp>
        <p:nvSpPr>
          <p:cNvPr id="919620438" name="Text Box 1"/>
          <p:cNvSpPr txBox="1"/>
          <p:nvPr/>
        </p:nvSpPr>
        <p:spPr bwMode="auto">
          <a:xfrm>
            <a:off x="457200" y="617855"/>
            <a:ext cx="8378190" cy="7108825"/>
          </a:xfrm>
          <a:prstGeom prst="rect">
            <a:avLst/>
          </a:prstGeom>
          <a:noFill/>
        </p:spPr>
        <p:txBody>
          <a:bodyPr wrap="square" rtlCol="0">
            <a:spAutoFit/>
          </a:bodyPr>
          <a:p>
            <a:pPr marL="342900" indent="-342900">
              <a:buFont typeface="Wingdings"/>
              <a:buChar char=""/>
              <a:defRPr/>
            </a:pPr>
            <a:r>
              <a:rPr lang="en-US" sz="2400"/>
              <a:t>So the data is not actually decrypted in the middle function; it is just run through a decryption process with a different key. </a:t>
            </a:r>
            <a:endParaRPr lang="en-US" sz="2400"/>
          </a:p>
          <a:p>
            <a:pPr marL="342900" indent="-342900">
              <a:buFont typeface="Wingdings"/>
              <a:buChar char=""/>
              <a:defRPr/>
            </a:pPr>
            <a:endParaRPr lang="en-US" sz="2400"/>
          </a:p>
          <a:p>
            <a:pPr marL="342900" indent="-342900">
              <a:buFont typeface="Wingdings"/>
              <a:buChar char=""/>
              <a:defRPr/>
            </a:pPr>
            <a:r>
              <a:rPr lang="en-US" sz="2400" b="1"/>
              <a:t>DES-EEE2</a:t>
            </a:r>
            <a:r>
              <a:rPr lang="en-US" sz="2400"/>
              <a:t> The same as DES-EEE3, but uses only two keys, and the first and third encryption processes use the same key.</a:t>
            </a:r>
            <a:endParaRPr lang="en-US" sz="2400"/>
          </a:p>
          <a:p>
            <a:pPr marL="342900" indent="-342900">
              <a:buFont typeface="Wingdings"/>
              <a:buChar char=""/>
              <a:defRPr/>
            </a:pPr>
            <a:endParaRPr lang="en-US" sz="2400"/>
          </a:p>
          <a:p>
            <a:pPr marL="342900" indent="-342900">
              <a:buFont typeface="Wingdings"/>
              <a:buChar char=""/>
              <a:defRPr/>
            </a:pPr>
            <a:r>
              <a:rPr lang="en-US" sz="2400" b="1"/>
              <a:t>DES-EDE2</a:t>
            </a:r>
            <a:r>
              <a:rPr lang="en-US" sz="2400"/>
              <a:t> The same as DES-EDE3, but uses only two keys, and the first and third encryption processes use the same key.</a:t>
            </a:r>
            <a:endParaRPr lang="en-US" sz="2400"/>
          </a:p>
          <a:p>
            <a:pPr marL="342900" indent="-342900">
              <a:buFont typeface="Wingdings"/>
              <a:buChar char=""/>
              <a:defRPr/>
            </a:pPr>
            <a:endParaRPr lang="en-US" sz="2400"/>
          </a:p>
          <a:p>
            <a:pPr marL="342900" indent="-342900">
              <a:buFont typeface="Wingdings"/>
              <a:buChar char=""/>
              <a:defRPr/>
            </a:pPr>
            <a:r>
              <a:rPr lang="en-US" sz="2400"/>
              <a:t>Both the </a:t>
            </a:r>
            <a:r>
              <a:rPr lang="en-US" sz="2400" b="1"/>
              <a:t>third</a:t>
            </a:r>
            <a:r>
              <a:rPr lang="en-US" sz="2400"/>
              <a:t> and </a:t>
            </a:r>
            <a:r>
              <a:rPr lang="en-US" sz="2400" b="1"/>
              <a:t>fourth</a:t>
            </a:r>
            <a:r>
              <a:rPr lang="en-US" sz="2400"/>
              <a:t> variants have an effective key length of </a:t>
            </a:r>
            <a:r>
              <a:rPr lang="en-US" sz="2400" b="1"/>
              <a:t>112 bits</a:t>
            </a:r>
            <a:r>
              <a:rPr lang="en-US" sz="2400"/>
              <a:t>.</a:t>
            </a:r>
            <a:endParaRPr lang="en-US" sz="2400"/>
          </a:p>
          <a:p>
            <a:pPr marL="342900" indent="-342900">
              <a:buFont typeface="Wingdings"/>
              <a:buChar char=""/>
              <a:defRPr/>
            </a:pPr>
            <a:endParaRPr lang="en-US" sz="2400"/>
          </a:p>
          <a:p>
            <a:pPr marL="342900" indent="-342900">
              <a:buFont typeface="Wingdings"/>
              <a:buChar char=""/>
              <a:defRPr/>
            </a:pPr>
            <a:r>
              <a:rPr lang="en-US" sz="2400"/>
              <a:t>Technically, there is a fifth variant of 3DES, </a:t>
            </a:r>
            <a:r>
              <a:rPr lang="en-US" sz="2400" b="1"/>
              <a:t>DES-EDE1</a:t>
            </a:r>
            <a:r>
              <a:rPr lang="en-US" sz="2400"/>
              <a:t>, which uses only one cryptographic key.</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687612"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526164369"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b="1"/>
              <a:t>Advanced Encryption Standard</a:t>
            </a:r>
            <a:endParaRPr lang="en-US" sz="2400" b="1"/>
          </a:p>
          <a:p>
            <a:pPr marL="342900" indent="-342900">
              <a:buFont typeface="Wingdings"/>
              <a:buChar char=""/>
              <a:defRPr/>
            </a:pPr>
            <a:endParaRPr lang="en-US" sz="2400" b="1"/>
          </a:p>
          <a:p>
            <a:pPr marL="342900" indent="-342900">
              <a:buFont typeface="Wingdings"/>
              <a:buChar char=""/>
              <a:defRPr/>
            </a:pPr>
            <a:r>
              <a:rPr lang="en-US" sz="2400"/>
              <a:t>After DES was used as an encryption standard for over 20 years and it was cracked in a relatively short time once the necessary technology was available.</a:t>
            </a:r>
            <a:endParaRPr lang="en-US" sz="2400"/>
          </a:p>
          <a:p>
            <a:pPr marL="342900" indent="-342900">
              <a:buFont typeface="Wingdings"/>
              <a:buChar char=""/>
              <a:defRPr/>
            </a:pPr>
            <a:endParaRPr lang="en-US" sz="2400"/>
          </a:p>
          <a:p>
            <a:pPr marL="342900" indent="-342900">
              <a:buFont typeface="Wingdings"/>
              <a:buChar char=""/>
              <a:defRPr/>
            </a:pPr>
            <a:r>
              <a:rPr lang="en-US" sz="2400"/>
              <a:t>NIST decided a new standard, the Advanced Encryption Standard (AES), needed to be put into place.</a:t>
            </a:r>
            <a:endParaRPr lang="en-US" sz="2400"/>
          </a:p>
          <a:p>
            <a:pPr marL="342900" indent="-342900">
              <a:buFont typeface="Wingdings"/>
              <a:buChar char=""/>
              <a:defRPr/>
            </a:pPr>
            <a:endParaRPr lang="en-US" sz="2400"/>
          </a:p>
          <a:p>
            <a:pPr marL="342900" indent="-342900">
              <a:buFont typeface="Wingdings"/>
              <a:buChar char=""/>
              <a:defRPr/>
            </a:pPr>
            <a:r>
              <a:rPr lang="en-US" sz="2400"/>
              <a:t>In January 1997, NIST announced its request for AES candidates and outlined the requirements in FIPS PUB 197. </a:t>
            </a:r>
            <a:endParaRPr lang="en-US" sz="2400"/>
          </a:p>
          <a:p>
            <a:pPr marL="342900" indent="-342900">
              <a:buFont typeface="Wingdings"/>
              <a:buChar char=""/>
              <a:defRPr/>
            </a:pPr>
            <a:endParaRPr lang="en-US" sz="2400"/>
          </a:p>
          <a:p>
            <a:pPr marL="342900" indent="-342900">
              <a:buFont typeface="Wingdings"/>
              <a:buChar char=""/>
              <a:defRPr/>
            </a:pPr>
            <a:r>
              <a:rPr lang="en-US" sz="2400"/>
              <a:t>AES was to be a symmetric block cipher supporting key sizes of 128, 192, and 256 bits.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8289075"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80376109" name="Text Box 1"/>
          <p:cNvSpPr txBox="1"/>
          <p:nvPr/>
        </p:nvSpPr>
        <p:spPr bwMode="auto">
          <a:xfrm>
            <a:off x="457200" y="723900"/>
            <a:ext cx="8456930" cy="7108825"/>
          </a:xfrm>
          <a:prstGeom prst="rect">
            <a:avLst/>
          </a:prstGeom>
          <a:noFill/>
        </p:spPr>
        <p:txBody>
          <a:bodyPr wrap="square" rtlCol="0">
            <a:spAutoFit/>
          </a:bodyPr>
          <a:p>
            <a:pPr marL="342900" indent="-342900">
              <a:buFont typeface="Wingdings"/>
              <a:buChar char=""/>
              <a:defRPr/>
            </a:pPr>
            <a:r>
              <a:rPr lang="en-US" sz="2400"/>
              <a:t>The following five algorithms were the finalists:</a:t>
            </a:r>
            <a:endParaRPr lang="en-US" sz="2400"/>
          </a:p>
          <a:p>
            <a:pPr marL="342900" indent="-342900">
              <a:buFont typeface="Wingdings"/>
              <a:buChar char=""/>
              <a:defRPr/>
            </a:pPr>
            <a:endParaRPr lang="en-US" sz="2400"/>
          </a:p>
          <a:p>
            <a:pPr marL="342900" indent="-342900">
              <a:buFont typeface="Wingdings"/>
              <a:buChar char=""/>
              <a:defRPr/>
            </a:pPr>
            <a:r>
              <a:rPr lang="en-US" sz="2400" b="1"/>
              <a:t>MARS</a:t>
            </a:r>
            <a:r>
              <a:rPr lang="en-US" sz="2400"/>
              <a:t> ---&gt;  Developed by the IBM team that created Lucifer</a:t>
            </a:r>
            <a:endParaRPr lang="en-US" sz="2400"/>
          </a:p>
          <a:p>
            <a:pPr marL="342900" indent="-342900">
              <a:buFont typeface="Wingdings"/>
              <a:buChar char=""/>
              <a:defRPr/>
            </a:pPr>
            <a:r>
              <a:rPr lang="en-US" sz="2400" b="1"/>
              <a:t>RC6</a:t>
            </a:r>
            <a:r>
              <a:rPr lang="en-US" sz="2400"/>
              <a:t> ---&gt; Developed by RSA Laboratories</a:t>
            </a:r>
            <a:endParaRPr lang="en-US" sz="2400"/>
          </a:p>
          <a:p>
            <a:pPr marL="342900" indent="-342900">
              <a:buFont typeface="Wingdings"/>
              <a:buChar char=""/>
              <a:defRPr/>
            </a:pPr>
            <a:r>
              <a:rPr lang="en-US" sz="2400" b="1"/>
              <a:t>Serpent</a:t>
            </a:r>
            <a:r>
              <a:rPr lang="en-US" sz="2400"/>
              <a:t> ---&gt; Developed by Ross Anderson, Eli Biham, and Lars Knudsen</a:t>
            </a:r>
            <a:endParaRPr lang="en-US" sz="2400"/>
          </a:p>
          <a:p>
            <a:pPr marL="342900" indent="-342900">
              <a:buFont typeface="Wingdings"/>
              <a:buChar char=""/>
              <a:defRPr/>
            </a:pPr>
            <a:r>
              <a:rPr lang="en-US" sz="2400" b="1"/>
              <a:t>Twofish</a:t>
            </a:r>
            <a:r>
              <a:rPr lang="en-US" sz="2400"/>
              <a:t> ---&gt; Developed by Counterpane Systems</a:t>
            </a:r>
            <a:endParaRPr lang="en-US" sz="2400"/>
          </a:p>
          <a:p>
            <a:pPr marL="342900" indent="-342900">
              <a:buFont typeface="Wingdings"/>
              <a:buChar char=""/>
              <a:defRPr/>
            </a:pPr>
            <a:r>
              <a:rPr lang="en-US" sz="2400" b="1"/>
              <a:t>Rijndael</a:t>
            </a:r>
            <a:r>
              <a:rPr lang="en-US" sz="2400"/>
              <a:t> ---&gt; Developed by Joan Daemen and Vincent Rijmen</a:t>
            </a:r>
            <a:endParaRPr lang="en-US" sz="2400"/>
          </a:p>
          <a:p>
            <a:pPr marL="342900" indent="-342900">
              <a:buFont typeface="Wingdings"/>
              <a:buChar char=""/>
              <a:defRPr/>
            </a:pPr>
            <a:endParaRPr lang="en-US" sz="2400"/>
          </a:p>
          <a:p>
            <a:pPr marL="342900" indent="-342900">
              <a:buFont typeface="Wingdings"/>
              <a:buChar char=""/>
              <a:defRPr/>
            </a:pPr>
            <a:r>
              <a:rPr lang="en-US" sz="2400"/>
              <a:t>Out of these contestants, </a:t>
            </a:r>
            <a:r>
              <a:rPr lang="en-US" sz="2400" b="1"/>
              <a:t>Rijndael</a:t>
            </a:r>
            <a:r>
              <a:rPr lang="en-US" sz="2400"/>
              <a:t> was </a:t>
            </a:r>
            <a:r>
              <a:rPr lang="en-US" sz="2400" b="1"/>
              <a:t>chosen</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The block sizes that Rijndael supports are 128, 192, and 256 bits. </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4409479"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751212834" name="Text Box 1"/>
          <p:cNvSpPr txBox="1"/>
          <p:nvPr/>
        </p:nvSpPr>
        <p:spPr bwMode="auto">
          <a:xfrm>
            <a:off x="457200" y="723900"/>
            <a:ext cx="8139430" cy="5262245"/>
          </a:xfrm>
          <a:prstGeom prst="rect">
            <a:avLst/>
          </a:prstGeom>
          <a:noFill/>
        </p:spPr>
        <p:txBody>
          <a:bodyPr wrap="square" rtlCol="0">
            <a:spAutoFit/>
          </a:bodyPr>
          <a:p>
            <a:pPr marL="342900" indent="-342900">
              <a:buFont typeface="Wingdings"/>
              <a:buChar char=""/>
              <a:defRPr/>
            </a:pPr>
            <a:r>
              <a:rPr lang="en-US" sz="2400"/>
              <a:t>The number of rounds depends upon the size of the block and the key length:</a:t>
            </a:r>
            <a:endParaRPr lang="en-US" sz="2400"/>
          </a:p>
          <a:p>
            <a:pPr marL="342900" indent="-342900">
              <a:buFont typeface="Wingdings"/>
              <a:buChar char=""/>
              <a:defRPr/>
            </a:pPr>
            <a:endParaRPr lang="en-US" sz="2400"/>
          </a:p>
          <a:p>
            <a:pPr marL="342900" indent="-342900">
              <a:buFont typeface="Wingdings"/>
              <a:buChar char=""/>
              <a:defRPr/>
            </a:pPr>
            <a:r>
              <a:rPr lang="en-US" sz="2400"/>
              <a:t>If both the </a:t>
            </a:r>
            <a:r>
              <a:rPr lang="en-US" sz="2400" b="1"/>
              <a:t>key</a:t>
            </a:r>
            <a:r>
              <a:rPr lang="en-US" sz="2400"/>
              <a:t> and </a:t>
            </a:r>
            <a:r>
              <a:rPr lang="en-US" sz="2400" b="1"/>
              <a:t>block size</a:t>
            </a:r>
            <a:r>
              <a:rPr lang="en-US" sz="2400"/>
              <a:t> are </a:t>
            </a:r>
            <a:r>
              <a:rPr lang="en-US" sz="2400" b="1"/>
              <a:t>128 bits</a:t>
            </a:r>
            <a:r>
              <a:rPr lang="en-US" sz="2400"/>
              <a:t>, there are </a:t>
            </a:r>
            <a:r>
              <a:rPr lang="en-US" sz="2400" b="1"/>
              <a:t>10 rounds</a:t>
            </a:r>
            <a:r>
              <a:rPr lang="en-US" sz="2400"/>
              <a:t>.</a:t>
            </a:r>
            <a:endParaRPr lang="en-US" sz="2400"/>
          </a:p>
          <a:p>
            <a:pPr marL="342900" indent="-342900">
              <a:buFont typeface="Wingdings"/>
              <a:buChar char=""/>
              <a:defRPr/>
            </a:pPr>
            <a:endParaRPr lang="en-US" sz="2400"/>
          </a:p>
          <a:p>
            <a:pPr marL="342900" indent="-342900">
              <a:buFont typeface="Wingdings"/>
              <a:buChar char=""/>
              <a:defRPr/>
            </a:pPr>
            <a:r>
              <a:rPr lang="en-US" sz="2400"/>
              <a:t>If both the </a:t>
            </a:r>
            <a:r>
              <a:rPr lang="en-US" sz="2400" b="1"/>
              <a:t>key</a:t>
            </a:r>
            <a:r>
              <a:rPr lang="en-US" sz="2400"/>
              <a:t> and </a:t>
            </a:r>
            <a:r>
              <a:rPr lang="en-US" sz="2400" b="1"/>
              <a:t>block size</a:t>
            </a:r>
            <a:r>
              <a:rPr lang="en-US" sz="2400"/>
              <a:t> are </a:t>
            </a:r>
            <a:r>
              <a:rPr lang="en-US" sz="2400" b="1"/>
              <a:t>192 bits</a:t>
            </a:r>
            <a:r>
              <a:rPr lang="en-US" sz="2400"/>
              <a:t>, there are </a:t>
            </a:r>
            <a:r>
              <a:rPr lang="en-US" sz="2400" b="1"/>
              <a:t>12 rounds</a:t>
            </a:r>
            <a:r>
              <a:rPr lang="en-US" sz="2400"/>
              <a:t>.</a:t>
            </a:r>
            <a:endParaRPr lang="en-US" sz="2400"/>
          </a:p>
          <a:p>
            <a:pPr marL="342900" indent="-342900">
              <a:buFont typeface="Wingdings"/>
              <a:buChar char=""/>
              <a:defRPr/>
            </a:pPr>
            <a:endParaRPr lang="en-US" sz="2400"/>
          </a:p>
          <a:p>
            <a:pPr marL="342900" indent="-342900">
              <a:buFont typeface="Wingdings"/>
              <a:buChar char=""/>
              <a:defRPr/>
            </a:pPr>
            <a:r>
              <a:rPr lang="en-US" sz="2400"/>
              <a:t>If both the </a:t>
            </a:r>
            <a:r>
              <a:rPr lang="en-US" sz="2400" b="1"/>
              <a:t>key</a:t>
            </a:r>
            <a:r>
              <a:rPr lang="en-US" sz="2400"/>
              <a:t> and </a:t>
            </a:r>
            <a:r>
              <a:rPr lang="en-US" sz="2400" b="1"/>
              <a:t>block size</a:t>
            </a:r>
            <a:r>
              <a:rPr lang="en-US" sz="2400"/>
              <a:t> are </a:t>
            </a:r>
            <a:r>
              <a:rPr lang="en-US" sz="2400" b="1"/>
              <a:t>256 bits</a:t>
            </a:r>
            <a:r>
              <a:rPr lang="en-US" sz="2400"/>
              <a:t>, there are </a:t>
            </a:r>
            <a:r>
              <a:rPr lang="en-US" sz="2400" b="1"/>
              <a:t>14 rounds</a:t>
            </a:r>
            <a:r>
              <a:rPr lang="en-US" sz="2400"/>
              <a:t>.</a:t>
            </a:r>
            <a:endParaRPr lang="en-US" sz="2400"/>
          </a:p>
          <a:p>
            <a:pPr marL="342900" indent="-342900">
              <a:buFont typeface="Wingdings"/>
              <a:buChar char=""/>
              <a:defRPr/>
            </a:pPr>
            <a:endParaRPr lang="en-US" sz="2400"/>
          </a:p>
          <a:p>
            <a:pPr marL="342900" indent="-342900">
              <a:buFont typeface="Wingdings"/>
              <a:buChar char=""/>
              <a:defRPr/>
            </a:pPr>
            <a:r>
              <a:rPr lang="en-US" sz="2400"/>
              <a:t>It has low memory requirements and has been constructed to easily defend against timing attacks.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5546858"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584460730"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b="1"/>
              <a:t>International Data Encryption Algorithm (IDEA)</a:t>
            </a:r>
            <a:endParaRPr lang="en-US" sz="2400" b="1"/>
          </a:p>
          <a:p>
            <a:pPr marL="342900" indent="-342900">
              <a:buFont typeface="Wingdings"/>
              <a:buChar char=""/>
              <a:defRPr/>
            </a:pPr>
            <a:endParaRPr lang="en-US" sz="2400"/>
          </a:p>
          <a:p>
            <a:pPr marL="342900" indent="-342900">
              <a:buFont typeface="Wingdings"/>
              <a:buChar char=""/>
              <a:defRPr/>
            </a:pPr>
            <a:r>
              <a:rPr lang="en-US" sz="2400"/>
              <a:t>International Data Encryption Algorithm (IDEA) is a block cipher and operates on 64-bit blocks of data.</a:t>
            </a:r>
            <a:endParaRPr lang="en-US" sz="2400"/>
          </a:p>
          <a:p>
            <a:pPr marL="342900" indent="-342900">
              <a:buFont typeface="Wingdings"/>
              <a:buChar char=""/>
              <a:defRPr/>
            </a:pPr>
            <a:endParaRPr lang="en-US" sz="2400"/>
          </a:p>
          <a:p>
            <a:pPr marL="342900" indent="-342900">
              <a:buFont typeface="Wingdings"/>
              <a:buChar char=""/>
              <a:defRPr/>
            </a:pPr>
            <a:r>
              <a:rPr lang="en-US" sz="2400"/>
              <a:t>The 64-bit data block is divided into 16 smaller blocks, and each has eight rounds of mathematical functions performed on it. </a:t>
            </a:r>
            <a:endParaRPr lang="en-US" sz="2400"/>
          </a:p>
          <a:p>
            <a:pPr marL="342900" indent="-342900">
              <a:buFont typeface="Wingdings"/>
              <a:buChar char=""/>
              <a:defRPr/>
            </a:pPr>
            <a:endParaRPr lang="en-US" sz="2400"/>
          </a:p>
          <a:p>
            <a:pPr marL="342900" indent="-342900">
              <a:buFont typeface="Wingdings"/>
              <a:buChar char=""/>
              <a:defRPr/>
            </a:pPr>
            <a:r>
              <a:rPr lang="en-US" sz="2400"/>
              <a:t>The key is 128 bits long, and IDEA is faster than DES when implemented in software.</a:t>
            </a:r>
            <a:endParaRPr lang="en-US" sz="2400"/>
          </a:p>
          <a:p>
            <a:pPr marL="342900" indent="-342900">
              <a:buFont typeface="Wingdings"/>
              <a:buChar char=""/>
              <a:defRPr/>
            </a:pPr>
            <a:endParaRPr lang="en-US" sz="2400"/>
          </a:p>
          <a:p>
            <a:pPr marL="342900" indent="-342900">
              <a:buFont typeface="Wingdings"/>
              <a:buChar char=""/>
              <a:defRPr/>
            </a:pPr>
            <a:r>
              <a:rPr lang="en-US" sz="2400"/>
              <a:t>This key is broken up in a series of operations into 52 16-bit subkeys.</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2594869"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2054627034"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The IDEA algorithm offers different modes similar to the modes described in the DES section, but it is considered harder to break than DES because it has a longer key size. </a:t>
            </a:r>
            <a:endParaRPr lang="en-US" sz="2400"/>
          </a:p>
          <a:p>
            <a:pPr marL="342900" indent="-342900">
              <a:buFont typeface="Wingdings"/>
              <a:buChar char=""/>
              <a:defRPr/>
            </a:pPr>
            <a:endParaRPr lang="en-US" sz="2400"/>
          </a:p>
          <a:p>
            <a:pPr marL="342900" indent="-342900">
              <a:buFont typeface="Wingdings"/>
              <a:buChar char=""/>
              <a:defRPr/>
            </a:pPr>
            <a:r>
              <a:rPr lang="en-US" sz="2400"/>
              <a:t>IDEA is used in PGP and other encryption software implementations. </a:t>
            </a:r>
            <a:endParaRPr lang="en-US" sz="2400"/>
          </a:p>
          <a:p>
            <a:pPr marL="342900" indent="-342900">
              <a:buFont typeface="Wingdings"/>
              <a:buChar char=""/>
              <a:defRPr/>
            </a:pPr>
            <a:endParaRPr lang="en-US" sz="2400"/>
          </a:p>
          <a:p>
            <a:pPr marL="342900" indent="-342900">
              <a:buFont typeface="Wingdings"/>
              <a:buChar char=""/>
              <a:defRPr/>
            </a:pPr>
            <a:r>
              <a:rPr lang="en-US" sz="2400"/>
              <a:t>It was thought to replace DES, but it is patented, meaning that licensing fees would have to be paid to use it.</a:t>
            </a:r>
            <a:endParaRPr lang="en-US" sz="2400"/>
          </a:p>
          <a:p>
            <a:pPr marL="342900" indent="-342900">
              <a:buFont typeface="Wingdings"/>
              <a:buChar char=""/>
              <a:defRPr/>
            </a:pPr>
            <a:endParaRPr lang="en-US" sz="2400"/>
          </a:p>
          <a:p>
            <a:pPr marL="342900" indent="-342900">
              <a:buFont typeface="Wingdings"/>
              <a:buChar char=""/>
              <a:defRPr/>
            </a:pPr>
            <a:r>
              <a:rPr lang="en-US" sz="2400"/>
              <a:t>However, the patent expired in 2012, and it is now available for unrestricted use.</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5432528"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322961112"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b="1"/>
              <a:t>Blowfish</a:t>
            </a:r>
            <a:endParaRPr lang="en-US" sz="2400" b="1"/>
          </a:p>
          <a:p>
            <a:pPr marL="342900" indent="-342900">
              <a:buFont typeface="Wingdings"/>
              <a:buChar char=""/>
              <a:defRPr/>
            </a:pPr>
            <a:endParaRPr lang="en-US" sz="2400" b="1"/>
          </a:p>
          <a:p>
            <a:pPr marL="342900" indent="-342900">
              <a:buFont typeface="Wingdings"/>
              <a:buChar char=""/>
              <a:defRPr/>
            </a:pPr>
            <a:r>
              <a:rPr lang="en-US" sz="2400" b="1"/>
              <a:t>Blowfish</a:t>
            </a:r>
            <a:r>
              <a:rPr lang="en-US" sz="2400"/>
              <a:t> is a block cipher that works on </a:t>
            </a:r>
            <a:r>
              <a:rPr lang="en-US" sz="2400" b="1"/>
              <a:t>64-bit blocks</a:t>
            </a:r>
            <a:r>
              <a:rPr lang="en-US" sz="2400"/>
              <a:t> of data. </a:t>
            </a:r>
            <a:endParaRPr lang="en-US" sz="2400"/>
          </a:p>
          <a:p>
            <a:pPr marL="342900" indent="-342900">
              <a:buFont typeface="Wingdings"/>
              <a:buChar char=""/>
              <a:defRPr/>
            </a:pPr>
            <a:endParaRPr lang="en-US" sz="2400"/>
          </a:p>
          <a:p>
            <a:pPr marL="342900" indent="-342900">
              <a:buFont typeface="Wingdings"/>
              <a:buChar char=""/>
              <a:defRPr/>
            </a:pPr>
            <a:r>
              <a:rPr lang="en-US" sz="2400"/>
              <a:t>The </a:t>
            </a:r>
            <a:r>
              <a:rPr lang="en-US" sz="2400" b="1"/>
              <a:t>key length</a:t>
            </a:r>
            <a:r>
              <a:rPr lang="en-US" sz="2400"/>
              <a:t> can be anywhere from </a:t>
            </a:r>
            <a:r>
              <a:rPr lang="en-US" sz="2400" b="1"/>
              <a:t>32 bits</a:t>
            </a:r>
            <a:r>
              <a:rPr lang="en-US" sz="2400"/>
              <a:t> up to </a:t>
            </a:r>
            <a:r>
              <a:rPr lang="en-US" sz="2400" b="1"/>
              <a:t>448 bits</a:t>
            </a:r>
            <a:r>
              <a:rPr lang="en-US" sz="2400"/>
              <a:t>, and the data blocks go through </a:t>
            </a:r>
            <a:r>
              <a:rPr lang="en-US" sz="2400" b="1"/>
              <a:t>16 rounds</a:t>
            </a:r>
            <a:r>
              <a:rPr lang="en-US" sz="2400"/>
              <a:t> of cryptographic functions.</a:t>
            </a:r>
            <a:endParaRPr lang="en-US" sz="2400"/>
          </a:p>
          <a:p>
            <a:pPr marL="342900" indent="-342900">
              <a:buFont typeface="Wingdings"/>
              <a:buChar char=""/>
              <a:defRPr/>
            </a:pPr>
            <a:endParaRPr lang="en-US" sz="2400"/>
          </a:p>
          <a:p>
            <a:pPr marL="342900" indent="-342900">
              <a:buFont typeface="Wingdings"/>
              <a:buChar char=""/>
              <a:defRPr/>
            </a:pPr>
            <a:r>
              <a:rPr lang="en-US" sz="2400"/>
              <a:t> </a:t>
            </a:r>
            <a:r>
              <a:rPr lang="en-US" sz="2400" b="1"/>
              <a:t>Bruce Schneier</a:t>
            </a:r>
            <a:r>
              <a:rPr lang="en-US" sz="2400"/>
              <a:t>, the creator of Blowfish, has stated, “Blowfish is unpatented, and will remain so in all countries. </a:t>
            </a:r>
            <a:endParaRPr lang="en-US" sz="2400"/>
          </a:p>
          <a:p>
            <a:pPr marL="342900" indent="-342900">
              <a:buFont typeface="Wingdings"/>
              <a:buChar char=""/>
              <a:defRPr/>
            </a:pPr>
            <a:endParaRPr lang="en-US" sz="2400"/>
          </a:p>
          <a:p>
            <a:pPr marL="342900" indent="-342900">
              <a:buFont typeface="Wingdings"/>
              <a:buChar char=""/>
              <a:defRPr/>
            </a:pPr>
            <a:r>
              <a:rPr lang="en-US" sz="2400"/>
              <a:t>The algorithm is hereby placed in the public domain, and can be freely used by anyone.”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1504434"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843059186" name="Text Box 1"/>
          <p:cNvSpPr txBox="1"/>
          <p:nvPr/>
        </p:nvSpPr>
        <p:spPr bwMode="auto">
          <a:xfrm>
            <a:off x="457200" y="723900"/>
            <a:ext cx="8378190" cy="6000750"/>
          </a:xfrm>
          <a:prstGeom prst="rect">
            <a:avLst/>
          </a:prstGeom>
          <a:noFill/>
        </p:spPr>
        <p:txBody>
          <a:bodyPr wrap="square" rtlCol="0">
            <a:spAutoFit/>
          </a:bodyPr>
          <a:p>
            <a:pPr marL="342900" indent="-342900">
              <a:buFont typeface="Wingdings"/>
              <a:buChar char=""/>
              <a:defRPr/>
            </a:pPr>
            <a:r>
              <a:rPr lang="en-US" sz="2400" b="1"/>
              <a:t>RC4</a:t>
            </a:r>
            <a:endParaRPr lang="en-US" sz="2400" b="1"/>
          </a:p>
          <a:p>
            <a:pPr marL="342900" indent="-342900">
              <a:buFont typeface="Wingdings"/>
              <a:buChar char=""/>
              <a:defRPr/>
            </a:pPr>
            <a:endParaRPr lang="en-US" sz="2400"/>
          </a:p>
          <a:p>
            <a:pPr marL="342900" indent="-342900">
              <a:buFont typeface="Wingdings"/>
              <a:buChar char=""/>
              <a:defRPr/>
            </a:pPr>
            <a:r>
              <a:rPr lang="en-US" sz="2400"/>
              <a:t>RC4 is one of the most commonly implemented stream ciphers.</a:t>
            </a:r>
            <a:endParaRPr lang="en-US" sz="2400"/>
          </a:p>
          <a:p>
            <a:pPr marL="342900" indent="-342900">
              <a:buFont typeface="Wingdings"/>
              <a:buChar char=""/>
              <a:defRPr/>
            </a:pPr>
            <a:endParaRPr lang="en-US" sz="2400"/>
          </a:p>
          <a:p>
            <a:pPr marL="342900" indent="-342900">
              <a:buFont typeface="Wingdings"/>
              <a:buChar char=""/>
              <a:defRPr/>
            </a:pPr>
            <a:r>
              <a:rPr lang="en-US" sz="2400"/>
              <a:t>It has a variable key size, is used in the Secure Sockets Layer (SSL) protocol, and was (improperly) implemented in the 802.11 WEP protocol standard. </a:t>
            </a:r>
            <a:endParaRPr lang="en-US" sz="2400"/>
          </a:p>
          <a:p>
            <a:pPr marL="342900" indent="-342900">
              <a:buFont typeface="Wingdings"/>
              <a:buChar char=""/>
              <a:defRPr/>
            </a:pPr>
            <a:endParaRPr lang="en-US" sz="2400"/>
          </a:p>
          <a:p>
            <a:pPr marL="342900" indent="-342900">
              <a:buFont typeface="Wingdings"/>
              <a:buChar char=""/>
              <a:defRPr/>
            </a:pPr>
            <a:r>
              <a:rPr lang="en-US" sz="2400"/>
              <a:t>RC4 was developed in 1987 by Ron Rivest and was considered a trade secret of RSA Data Security, Inc., until someone posted the source code on a mailing list. </a:t>
            </a:r>
            <a:endParaRPr lang="en-US" sz="2400"/>
          </a:p>
          <a:p>
            <a:pPr marL="342900" indent="-342900">
              <a:buFont typeface="Wingdings"/>
              <a:buChar char=""/>
              <a:defRPr/>
            </a:pPr>
            <a:endParaRPr lang="en-US" sz="2400"/>
          </a:p>
          <a:p>
            <a:pPr marL="342900" indent="-342900">
              <a:buFont typeface="Wingdings"/>
              <a:buChar char=""/>
              <a:defRPr/>
            </a:pPr>
            <a:r>
              <a:rPr lang="en-US" sz="2400"/>
              <a:t>The stolen algorithm is sometimes implemented and referred to as ArcFour or ARC4 because the title RC4 is trademarked.</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3168182"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861723984" name="Text Box 1"/>
          <p:cNvSpPr txBox="1"/>
          <p:nvPr/>
        </p:nvSpPr>
        <p:spPr bwMode="auto">
          <a:xfrm>
            <a:off x="457200" y="723900"/>
            <a:ext cx="8378190" cy="6369685"/>
          </a:xfrm>
          <a:prstGeom prst="rect">
            <a:avLst/>
          </a:prstGeom>
          <a:noFill/>
        </p:spPr>
        <p:txBody>
          <a:bodyPr wrap="square" rtlCol="0">
            <a:spAutoFit/>
          </a:bodyPr>
          <a:p>
            <a:pPr marL="342900" indent="-342900">
              <a:buFont typeface="Wingdings"/>
              <a:buChar char=""/>
              <a:defRPr/>
            </a:pPr>
            <a:r>
              <a:rPr lang="en-US" sz="2400"/>
              <a:t>The algorithm is very simple, fast, and efficient, which is why it became so popular.</a:t>
            </a:r>
            <a:endParaRPr lang="en-US" sz="2400"/>
          </a:p>
          <a:p>
            <a:pPr marL="342900" indent="-342900">
              <a:buFont typeface="Wingdings"/>
              <a:buChar char=""/>
              <a:defRPr/>
            </a:pPr>
            <a:endParaRPr lang="en-US" sz="2400"/>
          </a:p>
          <a:p>
            <a:pPr marL="342900" indent="-342900">
              <a:buFont typeface="Wingdings"/>
              <a:buChar char=""/>
              <a:defRPr/>
            </a:pPr>
            <a:r>
              <a:rPr lang="en-US" sz="2400"/>
              <a:t>But it is vulnerable to modification attacks. </a:t>
            </a:r>
            <a:endParaRPr lang="en-US" sz="2400"/>
          </a:p>
          <a:p>
            <a:pPr marL="342900" indent="-342900">
              <a:buFont typeface="Wingdings"/>
              <a:buChar char=""/>
              <a:defRPr/>
            </a:pPr>
            <a:endParaRPr lang="en-US" sz="2400"/>
          </a:p>
          <a:p>
            <a:pPr marL="342900" indent="-342900">
              <a:buFont typeface="Wingdings"/>
              <a:buChar char=""/>
              <a:defRPr/>
            </a:pPr>
            <a:r>
              <a:rPr lang="en-US" sz="2400"/>
              <a:t>This is one reason that IEEE 802.11i moved from the RC4 algorithm to the AES algorithm.</a:t>
            </a:r>
            <a:endParaRPr lang="en-US" sz="2400"/>
          </a:p>
          <a:p>
            <a:pPr marL="342900" indent="-342900">
              <a:buFont typeface="Wingdings"/>
              <a:buChar char=""/>
              <a:defRPr/>
            </a:pPr>
            <a:endParaRPr lang="en-US" sz="2400"/>
          </a:p>
          <a:p>
            <a:pPr marL="342900" indent="-342900">
              <a:buFont typeface="Wingdings"/>
              <a:buChar char=""/>
              <a:defRPr/>
            </a:pPr>
            <a:r>
              <a:rPr lang="en-US" sz="2400" b="1"/>
              <a:t>RC5</a:t>
            </a:r>
            <a:endParaRPr lang="en-US" sz="2400" b="1"/>
          </a:p>
          <a:p>
            <a:pPr marL="342900" indent="-342900">
              <a:buFont typeface="Wingdings"/>
              <a:buChar char=""/>
              <a:defRPr/>
            </a:pPr>
            <a:endParaRPr lang="en-US" sz="2400"/>
          </a:p>
          <a:p>
            <a:pPr marL="342900" indent="-342900">
              <a:buFont typeface="Wingdings"/>
              <a:buChar char=""/>
              <a:defRPr/>
            </a:pPr>
            <a:r>
              <a:rPr lang="en-US" sz="2400"/>
              <a:t>RC5 is a block cipher that has a variety of parameters it can use for block size, key size, and the number of rounds used.</a:t>
            </a:r>
            <a:endParaRPr lang="en-US" sz="2400"/>
          </a:p>
          <a:p>
            <a:pPr marL="342900" indent="-342900">
              <a:buFont typeface="Wingdings"/>
              <a:buChar char=""/>
              <a:defRPr/>
            </a:pPr>
            <a:endParaRPr lang="en-US" sz="2400"/>
          </a:p>
          <a:p>
            <a:pPr marL="342900" indent="-342900">
              <a:buFont typeface="Wingdings"/>
              <a:buChar char=""/>
              <a:defRPr/>
            </a:pPr>
            <a:r>
              <a:rPr lang="en-US" sz="2400"/>
              <a:t>It was created by Ron Rivest. </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6234409"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243859240" name="Text Box 1"/>
          <p:cNvSpPr txBox="1"/>
          <p:nvPr/>
        </p:nvSpPr>
        <p:spPr bwMode="auto">
          <a:xfrm>
            <a:off x="457200" y="723900"/>
            <a:ext cx="8378190" cy="6000750"/>
          </a:xfrm>
          <a:prstGeom prst="rect">
            <a:avLst/>
          </a:prstGeom>
          <a:noFill/>
        </p:spPr>
        <p:txBody>
          <a:bodyPr wrap="square" rtlCol="0">
            <a:spAutoFit/>
          </a:bodyPr>
          <a:p>
            <a:pPr marL="342900" indent="-342900">
              <a:buFont typeface="Wingdings"/>
              <a:buChar char=""/>
              <a:defRPr/>
            </a:pPr>
            <a:r>
              <a:rPr lang="en-US" sz="2400"/>
              <a:t>The block sizes used in this algorithm are 32, 64, or 128 bits, and the key size goes up to 2,048 bits.</a:t>
            </a:r>
            <a:endParaRPr lang="en-US" sz="2400"/>
          </a:p>
          <a:p>
            <a:pPr marL="342900" indent="-342900">
              <a:buFont typeface="Wingdings"/>
              <a:buChar char=""/>
              <a:defRPr/>
            </a:pPr>
            <a:endParaRPr lang="en-US" sz="2400"/>
          </a:p>
          <a:p>
            <a:pPr marL="342900" indent="-342900">
              <a:buFont typeface="Wingdings"/>
              <a:buChar char=""/>
              <a:defRPr/>
            </a:pPr>
            <a:r>
              <a:rPr lang="en-US" sz="2400"/>
              <a:t>The number of rounds used for encryption and decryption is also variable.</a:t>
            </a:r>
            <a:endParaRPr lang="en-US" sz="2400"/>
          </a:p>
          <a:p>
            <a:pPr marL="342900" indent="-342900">
              <a:buFont typeface="Wingdings"/>
              <a:buChar char=""/>
              <a:defRPr/>
            </a:pPr>
            <a:endParaRPr lang="en-US" sz="2400"/>
          </a:p>
          <a:p>
            <a:pPr marL="342900" indent="-342900">
              <a:buFont typeface="Wingdings"/>
              <a:buChar char=""/>
              <a:defRPr/>
            </a:pPr>
            <a:r>
              <a:rPr lang="en-US" sz="2400"/>
              <a:t>The number of rounds can go up to 255.</a:t>
            </a:r>
            <a:endParaRPr lang="en-US" sz="2400"/>
          </a:p>
          <a:p>
            <a:pPr marL="342900" indent="-342900">
              <a:buFont typeface="Wingdings"/>
              <a:buChar char=""/>
              <a:defRPr/>
            </a:pPr>
            <a:endParaRPr lang="en-US" sz="2400"/>
          </a:p>
          <a:p>
            <a:pPr marL="342900" indent="-342900">
              <a:buFont typeface="Wingdings"/>
              <a:buChar char=""/>
              <a:defRPr/>
            </a:pPr>
            <a:r>
              <a:rPr lang="en-US" sz="2400"/>
              <a:t>In some resources, you may run across rc5-w/r/b or RC5-32/12/16. </a:t>
            </a:r>
            <a:endParaRPr lang="en-US" sz="2400"/>
          </a:p>
          <a:p>
            <a:pPr marL="342900" indent="-342900">
              <a:buFont typeface="Wingdings"/>
              <a:buChar char=""/>
              <a:defRPr/>
            </a:pPr>
            <a:endParaRPr lang="en-US" sz="2400"/>
          </a:p>
          <a:p>
            <a:pPr marL="342900" indent="-342900">
              <a:buFont typeface="Wingdings"/>
              <a:buChar char=""/>
              <a:defRPr/>
            </a:pPr>
            <a:r>
              <a:rPr lang="en-US" sz="2400"/>
              <a:t>This is a type of shorthand that describes the configuration of the algorithm:</a:t>
            </a:r>
            <a:endParaRPr lang="en-US" sz="2400"/>
          </a:p>
          <a:p>
            <a:pPr marL="342900" indent="-342900">
              <a:buFont typeface="Wingdings"/>
              <a:buChar char=""/>
              <a:defRPr/>
            </a:pPr>
            <a:endParaRPr lang="en-US" sz="2400"/>
          </a:p>
          <a:p>
            <a:pPr marL="342900" indent="-342900">
              <a:buFont typeface="Wingdings"/>
              <a:buChar char=""/>
              <a:defRPr/>
            </a:pPr>
            <a:r>
              <a:rPr lang="en-US" sz="2400"/>
              <a:t>w = Word size, in bits, which can be 16, 32, or 64 bits in length</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1105836"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668890026"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a:t>r = Number of rounds, which can be 0 to 255</a:t>
            </a:r>
            <a:endParaRPr lang="en-US" sz="2400"/>
          </a:p>
          <a:p>
            <a:pPr marL="342900" indent="-342900">
              <a:buFont typeface="Wingdings"/>
              <a:buChar char=""/>
              <a:defRPr/>
            </a:pPr>
            <a:endParaRPr lang="en-US" sz="2400"/>
          </a:p>
          <a:p>
            <a:pPr marL="342900" indent="-342900">
              <a:buFont typeface="Wingdings"/>
              <a:buChar char=""/>
              <a:defRPr/>
            </a:pPr>
            <a:r>
              <a:rPr lang="en-US" sz="2400"/>
              <a:t>b = Key size, in bytes</a:t>
            </a:r>
            <a:endParaRPr lang="en-US" sz="2400"/>
          </a:p>
          <a:p>
            <a:pPr marL="342900" indent="-342900">
              <a:buFont typeface="Wingdings"/>
              <a:buChar char=""/>
              <a:defRPr/>
            </a:pPr>
            <a:endParaRPr lang="en-US" sz="2400"/>
          </a:p>
          <a:p>
            <a:pPr marL="342900" indent="-342900">
              <a:buFont typeface="Wingdings"/>
              <a:buChar char=""/>
              <a:defRPr/>
            </a:pPr>
            <a:r>
              <a:rPr lang="en-US" sz="2400"/>
              <a:t>So RC5-32/12/16 would mean the following:</a:t>
            </a:r>
            <a:endParaRPr lang="en-US" sz="2400"/>
          </a:p>
          <a:p>
            <a:pPr marL="342900" indent="-342900">
              <a:buFont typeface="Wingdings"/>
              <a:buChar char=""/>
              <a:defRPr/>
            </a:pPr>
            <a:endParaRPr lang="en-US" sz="2400"/>
          </a:p>
          <a:p>
            <a:pPr marL="342900" indent="-342900">
              <a:buFont typeface="Wingdings"/>
              <a:buChar char=""/>
              <a:defRPr/>
            </a:pPr>
            <a:r>
              <a:rPr lang="en-US" sz="2400"/>
              <a:t>32-bit words, which means it encrypts 64-bit data blocks</a:t>
            </a:r>
            <a:endParaRPr lang="en-US" sz="2400"/>
          </a:p>
          <a:p>
            <a:pPr marL="342900" indent="-342900">
              <a:buFont typeface="Wingdings"/>
              <a:buChar char=""/>
              <a:defRPr/>
            </a:pPr>
            <a:endParaRPr lang="en-US" sz="2400"/>
          </a:p>
          <a:p>
            <a:pPr marL="342900" indent="-342900">
              <a:buFont typeface="Wingdings"/>
              <a:buChar char=""/>
              <a:defRPr/>
            </a:pPr>
            <a:r>
              <a:rPr lang="en-US" sz="2400"/>
              <a:t>Using 12 rounds</a:t>
            </a:r>
            <a:endParaRPr lang="en-US" sz="2400"/>
          </a:p>
          <a:p>
            <a:pPr marL="342900" indent="-342900">
              <a:buFont typeface="Wingdings"/>
              <a:buChar char=""/>
              <a:defRPr/>
            </a:pPr>
            <a:endParaRPr lang="en-US" sz="2400"/>
          </a:p>
          <a:p>
            <a:pPr marL="342900" indent="-342900">
              <a:buFont typeface="Wingdings"/>
              <a:buChar char=""/>
              <a:defRPr/>
            </a:pPr>
            <a:r>
              <a:rPr lang="en-US" sz="2400"/>
              <a:t>With a 16-byte (128-bit) key</a:t>
            </a:r>
            <a:endParaRPr lang="en-US" sz="2400"/>
          </a:p>
          <a:p>
            <a:pPr marL="342900" indent="-342900">
              <a:buFont typeface="Wingdings"/>
              <a:buChar char=""/>
              <a:defRPr/>
            </a:pPr>
            <a:endParaRPr lang="en-US" sz="2400"/>
          </a:p>
          <a:p>
            <a:pPr marL="342900" indent="-342900">
              <a:buFont typeface="Wingdings"/>
              <a:buChar char=""/>
              <a:defRPr/>
            </a:pPr>
            <a:r>
              <a:rPr lang="en-US" sz="2400"/>
              <a:t>A developer configures these parameters (words, number of rounds, key size) for the algorithm for specific implementations.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9689940"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792184722"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a:t>The existence of these parameters gives developers extensive flexibility. There were some modifications of the RC5 algorithm to increase the overall speed, the result of which is RC6.</a:t>
            </a:r>
            <a:endParaRPr lang="en-US" sz="2400"/>
          </a:p>
          <a:p>
            <a:pPr marL="342900" indent="-342900">
              <a:buFont typeface="Wingdings"/>
              <a:buChar char=""/>
              <a:defRPr/>
            </a:pPr>
            <a:endParaRPr lang="en-US" sz="2400"/>
          </a:p>
          <a:p>
            <a:pPr marL="342900" indent="-342900">
              <a:buFont typeface="Wingdings"/>
              <a:buChar char=""/>
              <a:defRPr/>
            </a:pPr>
            <a:r>
              <a:rPr lang="en-US" sz="2400" b="1"/>
              <a:t>RC6</a:t>
            </a:r>
            <a:endParaRPr lang="en-US" sz="2400" b="1"/>
          </a:p>
          <a:p>
            <a:pPr marL="342900" indent="-342900">
              <a:buFont typeface="Wingdings"/>
              <a:buChar char=""/>
              <a:defRPr/>
            </a:pPr>
            <a:endParaRPr lang="en-US" sz="2400" b="1"/>
          </a:p>
          <a:p>
            <a:pPr marL="342900" indent="-342900">
              <a:buFont typeface="Wingdings"/>
              <a:buChar char=""/>
              <a:defRPr/>
            </a:pPr>
            <a:r>
              <a:rPr lang="en-US" sz="2400"/>
              <a:t>RC6 is a block cipher that was built upon RC5, so it has all the same attributes as RC5.</a:t>
            </a:r>
            <a:endParaRPr lang="en-US" sz="2400"/>
          </a:p>
          <a:p>
            <a:pPr marL="342900" indent="-342900">
              <a:buFont typeface="Wingdings"/>
              <a:buChar char=""/>
              <a:defRPr/>
            </a:pPr>
            <a:endParaRPr lang="en-US" sz="2400"/>
          </a:p>
          <a:p>
            <a:pPr marL="342900" indent="-342900">
              <a:buFont typeface="Wingdings"/>
              <a:buChar char=""/>
              <a:defRPr/>
            </a:pPr>
            <a:r>
              <a:rPr lang="en-US" sz="2400"/>
              <a:t>The algorithm was developed mainly to be submitted as AES, but Rijndael was chosen instead. </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9817734"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360680660"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b="1"/>
              <a:t>Twofish</a:t>
            </a:r>
            <a:endParaRPr lang="en-US" sz="2400" b="1"/>
          </a:p>
          <a:p>
            <a:pPr marL="342900" indent="-342900">
              <a:buFont typeface="Wingdings"/>
              <a:buChar char=""/>
              <a:defRPr/>
            </a:pPr>
            <a:endParaRPr lang="en-US" sz="2400"/>
          </a:p>
          <a:p>
            <a:pPr marL="342900" indent="-342900">
              <a:buFont typeface="Wingdings"/>
              <a:buChar char=""/>
              <a:defRPr/>
            </a:pPr>
            <a:r>
              <a:rPr lang="en-US" sz="2400"/>
              <a:t>The Twofish algorithm developed by Bruce Schneier (also the creator of Blowfish) was another one of the AES finalists.</a:t>
            </a:r>
            <a:endParaRPr lang="en-US" sz="2400"/>
          </a:p>
          <a:p>
            <a:pPr marL="342900" indent="-342900">
              <a:buFont typeface="Wingdings"/>
              <a:buChar char=""/>
              <a:defRPr/>
            </a:pPr>
            <a:endParaRPr lang="en-US" sz="2400"/>
          </a:p>
          <a:p>
            <a:pPr marL="342900" indent="-342900">
              <a:buFont typeface="Wingdings"/>
              <a:buChar char=""/>
              <a:defRPr/>
            </a:pPr>
            <a:r>
              <a:rPr lang="en-US" sz="2400"/>
              <a:t>Like Rijndael, Twofish is a block cipher.</a:t>
            </a:r>
            <a:endParaRPr lang="en-US" sz="2400"/>
          </a:p>
          <a:p>
            <a:pPr marL="342900" indent="-342900">
              <a:buFont typeface="Wingdings"/>
              <a:buChar char=""/>
              <a:defRPr/>
            </a:pPr>
            <a:endParaRPr lang="en-US" sz="2400"/>
          </a:p>
          <a:p>
            <a:pPr marL="342900" indent="-342900">
              <a:buFont typeface="Wingdings"/>
              <a:buChar char=""/>
              <a:defRPr/>
            </a:pPr>
            <a:r>
              <a:rPr lang="en-US" sz="2400"/>
              <a:t>It operates on 128-bit blocks of data and is capable of using</a:t>
            </a:r>
            <a:endParaRPr lang="en-US" sz="2400"/>
          </a:p>
          <a:p>
            <a:pPr marL="342900" indent="-342900">
              <a:buFont typeface="Wingdings"/>
              <a:buChar char=""/>
              <a:defRPr/>
            </a:pPr>
            <a:endParaRPr lang="en-US" sz="2400"/>
          </a:p>
          <a:p>
            <a:pPr marL="342900" indent="-342900">
              <a:buFont typeface="Wingdings"/>
              <a:buChar char=""/>
              <a:defRPr/>
            </a:pPr>
            <a:r>
              <a:rPr lang="en-US" sz="2400"/>
              <a:t>cryptographic keys up to 256 bits in length.</a:t>
            </a:r>
            <a:endParaRPr lang="en-US" sz="2400"/>
          </a:p>
          <a:p>
            <a:pPr marL="342900" indent="-342900">
              <a:buFont typeface="Wingdings"/>
              <a:buChar char=""/>
              <a:defRPr/>
            </a:pPr>
            <a:endParaRPr lang="en-US" sz="2400"/>
          </a:p>
          <a:p>
            <a:pPr marL="342900" indent="-342900">
              <a:buFont typeface="Wingdings"/>
              <a:buChar char=""/>
              <a:defRPr/>
            </a:pPr>
            <a:r>
              <a:rPr lang="en-US" sz="2400"/>
              <a:t>Twofish uses two techniques not found in other algorithms: </a:t>
            </a: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6463419" name="Title 14337" descr="512a190070e642d880be1a6e74542f0b# #矩形 157"/>
          <p:cNvSpPr>
            <a:spLocks noGrp="1"/>
          </p:cNvSpPr>
          <p:nvPr>
            <p:ph type="title"/>
          </p:nvPr>
        </p:nvSpPr>
        <p:spPr bwMode="auto">
          <a:xfrm>
            <a:off x="457200" y="274955"/>
            <a:ext cx="8229600" cy="408940"/>
          </a:xfrm>
        </p:spPr>
        <p:txBody>
          <a:bodyPr anchor="ctr"/>
          <a:p>
            <a:pPr>
              <a:defRPr/>
            </a:pPr>
            <a:r>
              <a:rPr lang="en-US" sz="3200"/>
              <a:t>Cryptography</a:t>
            </a:r>
            <a:endParaRPr lang="en-US" sz="3200"/>
          </a:p>
        </p:txBody>
      </p:sp>
      <p:sp>
        <p:nvSpPr>
          <p:cNvPr id="1617557766" name="Text Box 1"/>
          <p:cNvSpPr txBox="1"/>
          <p:nvPr/>
        </p:nvSpPr>
        <p:spPr bwMode="auto">
          <a:xfrm>
            <a:off x="457200" y="723900"/>
            <a:ext cx="8139430" cy="3784600"/>
          </a:xfrm>
          <a:prstGeom prst="rect">
            <a:avLst/>
          </a:prstGeom>
          <a:noFill/>
        </p:spPr>
        <p:txBody>
          <a:bodyPr wrap="square" rtlCol="0">
            <a:spAutoFit/>
          </a:bodyPr>
          <a:p>
            <a:pPr marL="342900" indent="-342900">
              <a:buFont typeface="Wingdings"/>
              <a:buChar char=""/>
              <a:defRPr/>
            </a:pPr>
            <a:r>
              <a:rPr lang="en-US" sz="2400" b="1"/>
              <a:t>Prewhitening</a:t>
            </a:r>
            <a:r>
              <a:rPr lang="en-US" sz="2400"/>
              <a:t> involves XORing the plaintext with a separate subkey before the first round of encryption. </a:t>
            </a:r>
            <a:endParaRPr lang="en-US" sz="2400"/>
          </a:p>
          <a:p>
            <a:pPr marL="342900" indent="-342900">
              <a:buFont typeface="Wingdings"/>
              <a:buChar char=""/>
              <a:defRPr/>
            </a:pPr>
            <a:endParaRPr lang="en-US" sz="2400"/>
          </a:p>
          <a:p>
            <a:pPr marL="342900" indent="-342900">
              <a:buFont typeface="Wingdings"/>
              <a:buChar char=""/>
              <a:defRPr/>
            </a:pPr>
            <a:r>
              <a:rPr lang="en-US" sz="2400" b="1"/>
              <a:t>Postwhitening</a:t>
            </a:r>
            <a:r>
              <a:rPr lang="en-US" sz="2400"/>
              <a:t> uses a similar operation after the 16th round of encryption.</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p:txBody>
      </p:sp>
      <p:pic>
        <p:nvPicPr>
          <p:cNvPr id="1134064195" name="Content Placeholder 2"/>
          <p:cNvPicPr>
            <a:picLocks noChangeAspect="1"/>
          </p:cNvPicPr>
          <p:nvPr>
            <p:ph idx="1"/>
          </p:nvPr>
        </p:nvPicPr>
        <p:blipFill rotWithShape="1">
          <a:blip r:embed="rId3">
            <a:extLst>
              <a:ext uri="{96DAC541-7B7A-43D3-8B79-37D633B846F1}">
                <asvg:svgBlip xmlns:asvg="http://schemas.microsoft.com/office/drawing/2016/SVG/main" r:embed="rId4"/>
              </a:ext>
            </a:extLst>
          </a:blip>
          <a:stretch/>
        </p:blipFill>
        <p:spPr bwMode="auto">
          <a:xfrm>
            <a:off x="1414145" y="2779395"/>
            <a:ext cx="6035675" cy="385254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4553661"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281641099" name="Text Box 1"/>
          <p:cNvSpPr txBox="1"/>
          <p:nvPr/>
        </p:nvSpPr>
        <p:spPr bwMode="auto">
          <a:xfrm>
            <a:off x="457200" y="723900"/>
            <a:ext cx="8418195" cy="6000750"/>
          </a:xfrm>
          <a:prstGeom prst="rect">
            <a:avLst/>
          </a:prstGeom>
          <a:noFill/>
        </p:spPr>
        <p:txBody>
          <a:bodyPr wrap="square" rtlCol="0">
            <a:spAutoFit/>
          </a:bodyPr>
          <a:p>
            <a:pPr marL="342900" indent="-342900">
              <a:buFont typeface="Wingdings"/>
              <a:buChar char=""/>
              <a:defRPr/>
            </a:pPr>
            <a:r>
              <a:rPr lang="en-US" sz="2400" b="1"/>
              <a:t>Skipjack</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The Skipjack algorithm was approved for use by the U.S. government in Federal Information Processing Standard (FIPS) 185, the Escrowed Encryption Standard (EES).</a:t>
            </a:r>
            <a:endParaRPr lang="en-US" sz="2400"/>
          </a:p>
          <a:p>
            <a:pPr marL="342900" indent="-342900">
              <a:buFont typeface="Wingdings"/>
              <a:buChar char=""/>
              <a:defRPr/>
            </a:pPr>
            <a:endParaRPr lang="en-US" sz="2400"/>
          </a:p>
          <a:p>
            <a:pPr marL="342900" indent="-342900">
              <a:buFont typeface="Wingdings"/>
              <a:buChar char=""/>
              <a:defRPr/>
            </a:pPr>
            <a:r>
              <a:rPr lang="en-US" sz="2400"/>
              <a:t>Like many block ​ciphers, Skipjack operates on 64-bit blocks of text.</a:t>
            </a:r>
            <a:endParaRPr lang="en-US" sz="2400"/>
          </a:p>
          <a:p>
            <a:pPr marL="342900" indent="-342900">
              <a:buFont typeface="Wingdings"/>
              <a:buChar char=""/>
              <a:defRPr/>
            </a:pPr>
            <a:endParaRPr lang="en-US" sz="2400"/>
          </a:p>
          <a:p>
            <a:pPr marL="342900" indent="-342900">
              <a:buFont typeface="Wingdings"/>
              <a:buChar char=""/>
              <a:defRPr/>
            </a:pPr>
            <a:r>
              <a:rPr lang="en-US" sz="2400"/>
              <a:t>It uses an 80-bit key and supports the same four modes of operation supported by DES.</a:t>
            </a:r>
            <a:endParaRPr lang="en-US" sz="2400"/>
          </a:p>
          <a:p>
            <a:pPr marL="342900" indent="-342900">
              <a:buFont typeface="Wingdings"/>
              <a:buChar char=""/>
              <a:defRPr/>
            </a:pPr>
            <a:r>
              <a:rPr lang="en-US" sz="2400"/>
              <a:t>it supports the escrow of encryption keys. Two government agencies, the National Institute of Standards and Technology (NIST) and the Department of the Treasury, hold a portion of the information required to reconstruct a Skipjack key.</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2016075"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939823973" name="Text Box 1"/>
          <p:cNvSpPr txBox="1"/>
          <p:nvPr/>
        </p:nvSpPr>
        <p:spPr bwMode="auto">
          <a:xfrm>
            <a:off x="457200" y="723900"/>
            <a:ext cx="8229600" cy="6000750"/>
          </a:xfrm>
          <a:prstGeom prst="rect">
            <a:avLst/>
          </a:prstGeom>
          <a:noFill/>
        </p:spPr>
        <p:txBody>
          <a:bodyPr wrap="square" rtlCol="0">
            <a:spAutoFit/>
          </a:bodyPr>
          <a:p>
            <a:pPr marL="342900" indent="-342900">
              <a:buFont typeface="Wingdings"/>
              <a:buChar char=""/>
              <a:defRPr/>
            </a:pPr>
            <a:r>
              <a:rPr lang="en-US" sz="2400" b="1"/>
              <a:t>Diffie-Hellman Algorithm</a:t>
            </a:r>
            <a:endParaRPr lang="en-US" sz="2400" b="1"/>
          </a:p>
          <a:p>
            <a:pPr marL="342900" indent="-342900">
              <a:buFont typeface="Wingdings"/>
              <a:buChar char=""/>
              <a:defRPr/>
            </a:pPr>
            <a:endParaRPr lang="en-US" sz="2400"/>
          </a:p>
          <a:p>
            <a:pPr marL="342900" indent="-342900">
              <a:buFont typeface="Wingdings"/>
              <a:buChar char=""/>
              <a:defRPr/>
            </a:pPr>
            <a:r>
              <a:rPr lang="en-US" sz="2400"/>
              <a:t>The first group to address the shortfalls of symmetric key cryptography decided to attack the issue of secure distribution of the symmetric key. </a:t>
            </a:r>
            <a:endParaRPr lang="en-US" sz="2400"/>
          </a:p>
          <a:p>
            <a:pPr marL="342900" indent="-342900">
              <a:buFont typeface="Wingdings"/>
              <a:buChar char=""/>
              <a:defRPr/>
            </a:pPr>
            <a:endParaRPr lang="en-US" sz="2400"/>
          </a:p>
          <a:p>
            <a:pPr marL="342900" indent="-342900">
              <a:buFont typeface="Wingdings"/>
              <a:buChar char=""/>
              <a:defRPr/>
            </a:pPr>
            <a:r>
              <a:rPr lang="en-US" sz="2400"/>
              <a:t>Whitfield Diffie and Martin Hellman worked on this problem and ended up developing the first asymmetric key agreement algorithm, called, Diffie-Hellman.</a:t>
            </a:r>
            <a:endParaRPr lang="en-US" sz="2400"/>
          </a:p>
          <a:p>
            <a:pPr marL="342900" indent="-342900">
              <a:buFont typeface="Wingdings"/>
              <a:buChar char=""/>
              <a:defRPr/>
            </a:pPr>
            <a:endParaRPr lang="en-US" sz="2400"/>
          </a:p>
          <a:p>
            <a:pPr marL="342900" indent="-342900">
              <a:buFont typeface="Wingdings"/>
              <a:buChar char=""/>
              <a:defRPr/>
            </a:pPr>
            <a:r>
              <a:rPr lang="en-US" sz="2400"/>
              <a:t>Secure RPC (S-RPC) employs Diffie–Hellman for key exchange.</a:t>
            </a:r>
            <a:endParaRPr lang="en-US" sz="2400"/>
          </a:p>
          <a:p>
            <a:pPr marL="342900" indent="-342900">
              <a:buFont typeface="Wingdings"/>
              <a:buChar char=""/>
              <a:defRPr/>
            </a:pPr>
            <a:endParaRPr lang="en-US" sz="2400"/>
          </a:p>
          <a:p>
            <a:pPr marL="342900" indent="-342900">
              <a:buFont typeface="Wingdings"/>
              <a:buChar char=""/>
              <a:defRPr/>
            </a:pPr>
            <a:r>
              <a:rPr lang="en-US" sz="2400"/>
              <a:t>The communicating parties (we’ll call them Bob and Alice) agree on two large numbers: p (which is a prime number) and g (which is an integer) such that 1 &lt; g &lt; p.</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54150439"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506904811"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a:t>Bob chooses a random large integer r and performs the following calculation:  </a:t>
            </a:r>
            <a:endParaRPr lang="en-US" sz="2400"/>
          </a:p>
          <a:p>
            <a:pPr>
              <a:buFont typeface="Wingdings"/>
              <a:defRPr/>
            </a:pPr>
            <a:r>
              <a:rPr lang="en-US" sz="2400"/>
              <a:t>			</a:t>
            </a:r>
            <a:r>
              <a:rPr lang="en-US" sz="2400" b="1"/>
              <a:t>R = g</a:t>
            </a:r>
            <a:r>
              <a:rPr lang="en-US" sz="2400" b="1" baseline="30000"/>
              <a:t>r</a:t>
            </a:r>
            <a:r>
              <a:rPr lang="en-US" sz="2400" b="1"/>
              <a:t> mod p</a:t>
            </a:r>
            <a:endParaRPr lang="en-US" sz="2400" b="1"/>
          </a:p>
          <a:p>
            <a:pPr marL="342900" indent="-342900">
              <a:buFont typeface="Wingdings"/>
              <a:buChar char=""/>
              <a:defRPr/>
            </a:pPr>
            <a:endParaRPr lang="en-US" sz="2400"/>
          </a:p>
          <a:p>
            <a:pPr marL="342900" indent="-342900">
              <a:buFont typeface="Wingdings"/>
              <a:buChar char=""/>
              <a:defRPr/>
            </a:pPr>
            <a:r>
              <a:rPr lang="en-US" sz="2400"/>
              <a:t>Alice chooses a random large integer s and performs the following calculation:</a:t>
            </a:r>
            <a:endParaRPr lang="en-US" sz="2400"/>
          </a:p>
          <a:p>
            <a:pPr marL="342900" indent="-342900">
              <a:buFont typeface="Wingdings"/>
              <a:buChar char=""/>
              <a:defRPr/>
            </a:pPr>
            <a:endParaRPr lang="en-US" sz="2400"/>
          </a:p>
          <a:p>
            <a:pPr lvl="1">
              <a:buFont typeface="Wingdings"/>
              <a:defRPr/>
            </a:pPr>
            <a:r>
              <a:rPr lang="en-US" sz="2400"/>
              <a:t>			</a:t>
            </a:r>
            <a:r>
              <a:rPr lang="en-US" sz="2400" b="1"/>
              <a:t>S = g</a:t>
            </a:r>
            <a:r>
              <a:rPr lang="en-US" sz="2400" b="1" baseline="30000"/>
              <a:t>s</a:t>
            </a:r>
            <a:r>
              <a:rPr lang="en-US" sz="2400" b="1"/>
              <a:t> mod p</a:t>
            </a:r>
            <a:endParaRPr lang="en-US" sz="2400" b="1"/>
          </a:p>
          <a:p>
            <a:pPr lvl="1">
              <a:buFont typeface="Wingdings"/>
              <a:defRPr/>
            </a:pPr>
            <a:endParaRPr lang="en-US" sz="2400"/>
          </a:p>
          <a:p>
            <a:pPr marL="342900" indent="-342900">
              <a:buFont typeface="Wingdings"/>
              <a:buChar char=""/>
              <a:defRPr/>
            </a:pPr>
            <a:r>
              <a:rPr lang="en-US" sz="2400"/>
              <a:t>Bob sends R to Alice and Alice sends S to Richard.</a:t>
            </a:r>
            <a:endParaRPr lang="en-US" sz="2400"/>
          </a:p>
          <a:p>
            <a:pPr marL="342900" indent="-342900">
              <a:buFont typeface="Wingdings"/>
              <a:buChar char=""/>
              <a:defRPr/>
            </a:pPr>
            <a:endParaRPr lang="en-US" sz="2400"/>
          </a:p>
          <a:p>
            <a:pPr marL="342900" indent="-342900">
              <a:buFont typeface="Wingdings"/>
              <a:buChar char=""/>
              <a:defRPr/>
            </a:pPr>
            <a:r>
              <a:rPr lang="en-US" sz="2400"/>
              <a:t>Bob then performs the following calculation:  </a:t>
            </a:r>
            <a:endParaRPr lang="en-US" sz="2400"/>
          </a:p>
          <a:p>
            <a:pPr marL="342900" indent="-342900">
              <a:buFont typeface="Wingdings"/>
              <a:buChar char=""/>
              <a:defRPr/>
            </a:pPr>
            <a:endParaRPr lang="en-US" sz="2400"/>
          </a:p>
          <a:p>
            <a:pPr>
              <a:buFont typeface="Wingdings"/>
              <a:defRPr/>
            </a:pPr>
            <a:r>
              <a:rPr lang="en-US" sz="2400"/>
              <a:t>			</a:t>
            </a:r>
            <a:r>
              <a:rPr lang="en-US" sz="2400" b="1"/>
              <a:t>K = S</a:t>
            </a:r>
            <a:r>
              <a:rPr lang="en-US" sz="2400" b="1" baseline="30000"/>
              <a:t>r</a:t>
            </a:r>
            <a:r>
              <a:rPr lang="en-US" sz="2400" b="1"/>
              <a:t> mod p</a:t>
            </a:r>
            <a:endParaRPr lang="en-US" sz="2400" b="1"/>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9210683"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768095542" name="Text Box 1"/>
          <p:cNvSpPr txBox="1"/>
          <p:nvPr/>
        </p:nvSpPr>
        <p:spPr bwMode="auto">
          <a:xfrm>
            <a:off x="457200" y="723900"/>
            <a:ext cx="8139430" cy="6369685"/>
          </a:xfrm>
          <a:prstGeom prst="rect">
            <a:avLst/>
          </a:prstGeom>
          <a:noFill/>
        </p:spPr>
        <p:txBody>
          <a:bodyPr wrap="square" rtlCol="0">
            <a:spAutoFit/>
          </a:bodyPr>
          <a:p>
            <a:pPr marL="342900" indent="-342900">
              <a:buFont typeface="Wingdings"/>
              <a:buChar char=""/>
              <a:defRPr/>
            </a:pPr>
            <a:r>
              <a:rPr lang="en-US" sz="2400"/>
              <a:t>Alice then performs the following calculation: </a:t>
            </a:r>
            <a:endParaRPr lang="en-US" sz="2400"/>
          </a:p>
          <a:p>
            <a:pPr marL="342900" indent="-342900">
              <a:buFont typeface="Wingdings"/>
              <a:buChar char=""/>
              <a:defRPr/>
            </a:pPr>
            <a:endParaRPr lang="en-US" sz="2400"/>
          </a:p>
          <a:p>
            <a:pPr>
              <a:buFont typeface="Wingdings"/>
              <a:defRPr/>
            </a:pPr>
            <a:r>
              <a:rPr lang="en-US" sz="2400"/>
              <a:t>		 </a:t>
            </a:r>
            <a:r>
              <a:rPr lang="en-US" sz="2400" b="1"/>
              <a:t>K = R</a:t>
            </a:r>
            <a:r>
              <a:rPr lang="en-US" sz="2400" b="1" baseline="30000"/>
              <a:t>s</a:t>
            </a:r>
            <a:r>
              <a:rPr lang="en-US" sz="2400" b="1"/>
              <a:t> mod p</a:t>
            </a:r>
            <a:endParaRPr lang="en-US" sz="2400" b="1"/>
          </a:p>
          <a:p>
            <a:pPr marL="342900" indent="-342900">
              <a:buFont typeface="Wingdings"/>
              <a:buChar char=""/>
              <a:defRPr/>
            </a:pPr>
            <a:endParaRPr lang="en-US" sz="2400"/>
          </a:p>
          <a:p>
            <a:pPr marL="342900" indent="-342900">
              <a:buFont typeface="Wingdings"/>
              <a:buChar char=""/>
              <a:defRPr/>
            </a:pPr>
            <a:r>
              <a:rPr lang="en-US" sz="2400"/>
              <a:t>At this point, Richard and Sue both have the same value, K, and can use this for secret key communication between the two parties.</a:t>
            </a:r>
            <a:endParaRPr lang="en-US" sz="2400"/>
          </a:p>
          <a:p>
            <a:pPr marL="342900" indent="-342900">
              <a:buFont typeface="Wingdings"/>
              <a:buChar char=""/>
              <a:defRPr/>
            </a:pPr>
            <a:endParaRPr lang="en-US" sz="2400"/>
          </a:p>
          <a:p>
            <a:pPr marL="342900" indent="-342900">
              <a:buFont typeface="Wingdings"/>
              <a:buChar char=""/>
              <a:defRPr/>
            </a:pPr>
            <a:r>
              <a:rPr lang="en-US" sz="2400"/>
              <a:t>Example. </a:t>
            </a:r>
            <a:endParaRPr lang="en-US" sz="2400"/>
          </a:p>
          <a:p>
            <a:pPr marL="342900" indent="-342900">
              <a:buFont typeface="Wingdings"/>
              <a:buChar char=""/>
              <a:defRPr/>
            </a:pPr>
            <a:endParaRPr lang="en-US" sz="2400"/>
          </a:p>
          <a:p>
            <a:pPr marL="342900" indent="-342900">
              <a:buFont typeface="Wingdings"/>
              <a:buChar char=""/>
              <a:defRPr/>
            </a:pPr>
            <a:r>
              <a:rPr lang="en-US" sz="2400"/>
              <a:t>Bob and Alice agree on pr</a:t>
            </a:r>
            <a:r>
              <a:rPr lang="en-IN" sz="2400"/>
              <a:t>i</a:t>
            </a:r>
            <a:r>
              <a:rPr lang="en-US" sz="2400"/>
              <a:t>me number P =11 and integer g=8 which satisfies the condition 1&lt; g &lt; p.</a:t>
            </a:r>
            <a:endParaRPr lang="en-US" sz="2400"/>
          </a:p>
          <a:p>
            <a:pPr marL="342900" indent="-342900">
              <a:buFont typeface="Wingdings"/>
              <a:buChar char=""/>
              <a:defRPr/>
            </a:pPr>
            <a:endParaRPr lang="en-US" sz="2400"/>
          </a:p>
          <a:p>
            <a:pPr marL="342900" indent="-342900">
              <a:buFont typeface="Wingdings"/>
              <a:buChar char=""/>
              <a:defRPr/>
            </a:pPr>
            <a:r>
              <a:rPr lang="en-US" sz="2400"/>
              <a:t>Now Bob decides </a:t>
            </a:r>
            <a:r>
              <a:rPr lang="en-US" sz="2400" b="1"/>
              <a:t>r = 2</a:t>
            </a:r>
            <a:r>
              <a:rPr lang="en-US" sz="2400"/>
              <a:t> and calculates using </a:t>
            </a:r>
            <a:endParaRPr lang="en-US" sz="2400"/>
          </a:p>
          <a:p>
            <a:pPr lvl="2">
              <a:buFont typeface="Wingdings"/>
              <a:defRPr/>
            </a:pPr>
            <a:r>
              <a:rPr lang="en-US" sz="2400" b="1"/>
              <a:t>R = g</a:t>
            </a:r>
            <a:r>
              <a:rPr lang="en-US" sz="2400" b="1" baseline="30000"/>
              <a:t>r</a:t>
            </a:r>
            <a:r>
              <a:rPr lang="en-US" sz="2400" b="1"/>
              <a:t> mod p</a:t>
            </a:r>
            <a:endParaRPr lang="en-US" sz="2400" b="1"/>
          </a:p>
          <a:p>
            <a:pPr lvl="2">
              <a:buFont typeface="Wingdings"/>
              <a:defRPr/>
            </a:pPr>
            <a:r>
              <a:rPr lang="en-US" sz="2400" b="1"/>
              <a:t>R = 8 </a:t>
            </a:r>
            <a:r>
              <a:rPr lang="en-US" sz="2400" b="1" baseline="30000"/>
              <a:t>2</a:t>
            </a:r>
            <a:r>
              <a:rPr lang="en-US" sz="2400" b="1"/>
              <a:t> mod 11 = 64 mod 11 = 9</a:t>
            </a:r>
            <a:endParaRPr lang="en-US" sz="2400" b="1"/>
          </a:p>
          <a:p>
            <a:pPr marL="1257300" lvl="2"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7674669"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815285299"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Alice decides s = 3 and calculates using </a:t>
            </a:r>
            <a:endParaRPr lang="en-US" sz="2400"/>
          </a:p>
          <a:p>
            <a:pPr lvl="2">
              <a:buFont typeface="Wingdings"/>
              <a:defRPr/>
            </a:pPr>
            <a:r>
              <a:rPr lang="en-US" sz="2400" b="1"/>
              <a:t>                S = g</a:t>
            </a:r>
            <a:r>
              <a:rPr lang="en-US" sz="2400" b="1" baseline="30000"/>
              <a:t>s</a:t>
            </a:r>
            <a:r>
              <a:rPr lang="en-US" sz="2400" b="1"/>
              <a:t> mod p</a:t>
            </a:r>
            <a:endParaRPr lang="en-US" sz="2400" b="1"/>
          </a:p>
          <a:p>
            <a:pPr lvl="2">
              <a:buFont typeface="Wingdings"/>
              <a:defRPr/>
            </a:pPr>
            <a:r>
              <a:rPr lang="en-US" sz="2400" b="1"/>
              <a:t>	     S = 8 </a:t>
            </a:r>
            <a:r>
              <a:rPr lang="en-US" sz="2400" b="1" baseline="30000"/>
              <a:t>3</a:t>
            </a:r>
            <a:r>
              <a:rPr lang="en-US" sz="2400" b="1"/>
              <a:t> mod 11 = 512 mod 11 = 6</a:t>
            </a:r>
            <a:endParaRPr lang="en-US" sz="2400" b="1"/>
          </a:p>
          <a:p>
            <a:pPr marL="342900" indent="-342900">
              <a:buFont typeface="Wingdings"/>
              <a:buChar char=""/>
              <a:defRPr/>
            </a:pPr>
            <a:endParaRPr lang="en-US" sz="2400"/>
          </a:p>
          <a:p>
            <a:pPr marL="342900" indent="-342900">
              <a:buFont typeface="Wingdings"/>
              <a:buChar char=""/>
              <a:defRPr/>
            </a:pPr>
            <a:r>
              <a:rPr lang="en-US" sz="2400"/>
              <a:t>Now Bob gives value of R to Alice and Alice gives value of S to Bob.</a:t>
            </a:r>
            <a:endParaRPr lang="en-US" sz="2400"/>
          </a:p>
          <a:p>
            <a:pPr marL="342900" indent="-342900">
              <a:buFont typeface="Wingdings"/>
              <a:buChar char=""/>
              <a:defRPr/>
            </a:pPr>
            <a:endParaRPr lang="en-US" sz="2400"/>
          </a:p>
          <a:p>
            <a:pPr marL="342900" indent="-342900">
              <a:buFont typeface="Wingdings"/>
              <a:buChar char=""/>
              <a:defRPr/>
            </a:pPr>
            <a:r>
              <a:rPr lang="en-US" sz="2400"/>
              <a:t>Now Bob calculates K using </a:t>
            </a:r>
            <a:endParaRPr lang="en-US" sz="2400"/>
          </a:p>
          <a:p>
            <a:pPr lvl="2">
              <a:buFont typeface="Wingdings"/>
              <a:defRPr/>
            </a:pPr>
            <a:r>
              <a:rPr lang="en-US" sz="2400" b="1"/>
              <a:t>                K = S</a:t>
            </a:r>
            <a:r>
              <a:rPr lang="en-US" sz="2400" b="1" baseline="30000"/>
              <a:t>r</a:t>
            </a:r>
            <a:r>
              <a:rPr lang="en-US" sz="2400" b="1"/>
              <a:t> mod p</a:t>
            </a:r>
            <a:endParaRPr lang="en-US" sz="2400" b="1"/>
          </a:p>
          <a:p>
            <a:pPr lvl="2">
              <a:buFont typeface="Wingdings"/>
              <a:defRPr/>
            </a:pPr>
            <a:r>
              <a:rPr lang="en-US" sz="2400" b="1"/>
              <a:t>	     K = 6</a:t>
            </a:r>
            <a:r>
              <a:rPr lang="en-US" sz="2400" b="1" baseline="30000"/>
              <a:t>2</a:t>
            </a:r>
            <a:r>
              <a:rPr lang="en-US" sz="2400" b="1"/>
              <a:t> mod 11 = 36 mod 11 = 3</a:t>
            </a:r>
            <a:endParaRPr lang="en-US" sz="2400"/>
          </a:p>
          <a:p>
            <a:pPr marL="342900" indent="-342900">
              <a:buFont typeface="Wingdings"/>
              <a:buChar char=""/>
              <a:defRPr/>
            </a:pPr>
            <a:endParaRPr lang="en-US" sz="2400"/>
          </a:p>
          <a:p>
            <a:pPr marL="342900" indent="-342900">
              <a:buFont typeface="Wingdings"/>
              <a:buChar char=""/>
              <a:defRPr/>
            </a:pPr>
            <a:r>
              <a:rPr lang="en-US" sz="2400"/>
              <a:t>Now Alice calculates K using </a:t>
            </a:r>
            <a:endParaRPr lang="en-US" sz="2400"/>
          </a:p>
          <a:p>
            <a:pPr lvl="4">
              <a:buFont typeface="Wingdings"/>
              <a:defRPr/>
            </a:pPr>
            <a:r>
              <a:rPr lang="en-US" sz="2400" b="1"/>
              <a:t>     K = R</a:t>
            </a:r>
            <a:r>
              <a:rPr lang="en-US" sz="2400" b="1" baseline="30000"/>
              <a:t>s</a:t>
            </a:r>
            <a:r>
              <a:rPr lang="en-US" sz="2400" b="1"/>
              <a:t> mod p</a:t>
            </a:r>
            <a:endParaRPr lang="en-US" sz="2400" b="1"/>
          </a:p>
          <a:p>
            <a:pPr lvl="4">
              <a:buFont typeface="Wingdings"/>
              <a:defRPr/>
            </a:pPr>
            <a:r>
              <a:rPr lang="en-US" sz="2400" b="1"/>
              <a:t>     K = 9</a:t>
            </a:r>
            <a:r>
              <a:rPr lang="en-US" sz="2400" b="1" baseline="30000"/>
              <a:t>3</a:t>
            </a:r>
            <a:r>
              <a:rPr lang="en-US" sz="2400" b="1"/>
              <a:t> mod 11 = 729 mod 11 = 3</a:t>
            </a:r>
            <a:endParaRPr lang="en-US" sz="2400" b="1"/>
          </a:p>
          <a:p>
            <a:pPr marL="342900" indent="-342900">
              <a:buFont typeface="Wingdings"/>
              <a:buChar char=""/>
              <a:defRPr/>
            </a:pPr>
            <a:endParaRPr lang="en-US" sz="2400" b="1"/>
          </a:p>
          <a:p>
            <a:pPr marL="342900" indent="-342900">
              <a:buFont typeface="Wingdings"/>
              <a:buChar char=""/>
              <a:defRPr/>
            </a:pPr>
            <a:r>
              <a:rPr lang="en-US" sz="2400"/>
              <a:t>Thus they have got the same key now.</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8666096"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634005073" name="Text Box 1"/>
          <p:cNvSpPr txBox="1"/>
          <p:nvPr/>
        </p:nvSpPr>
        <p:spPr bwMode="auto">
          <a:xfrm>
            <a:off x="457200" y="723900"/>
            <a:ext cx="8139430" cy="6369685"/>
          </a:xfrm>
          <a:prstGeom prst="rect">
            <a:avLst/>
          </a:prstGeom>
          <a:noFill/>
        </p:spPr>
        <p:txBody>
          <a:bodyPr wrap="square" rtlCol="0">
            <a:spAutoFit/>
          </a:bodyPr>
          <a:p>
            <a:pPr marL="342900" indent="-342900">
              <a:buFont typeface="Wingdings"/>
              <a:buChar char=""/>
              <a:defRPr/>
            </a:pPr>
            <a:r>
              <a:rPr lang="en-US" sz="2400"/>
              <a:t>The same calculations can be performed by using Public and private key's.</a:t>
            </a:r>
            <a:endParaRPr lang="en-US" sz="2400"/>
          </a:p>
          <a:p>
            <a:pPr marL="342900" indent="-342900">
              <a:buFont typeface="Wingdings"/>
              <a:buChar char=""/>
              <a:defRPr/>
            </a:pPr>
            <a:endParaRPr lang="en-US" sz="2400"/>
          </a:p>
          <a:p>
            <a:pPr marL="342900" indent="-342900">
              <a:buFont typeface="Wingdings"/>
              <a:buChar char=""/>
              <a:defRPr/>
            </a:pPr>
            <a:r>
              <a:rPr lang="en-US" sz="2400"/>
              <a:t>The Diffie-Hellman algorithm enables two systems to generate a symmetric key securely without requiring a previous relationship or prior arrangements.</a:t>
            </a:r>
            <a:endParaRPr lang="en-US" sz="2400"/>
          </a:p>
          <a:p>
            <a:pPr marL="342900" indent="-342900">
              <a:buFont typeface="Wingdings"/>
              <a:buChar char=""/>
              <a:defRPr/>
            </a:pPr>
            <a:endParaRPr lang="en-US" sz="2400"/>
          </a:p>
          <a:p>
            <a:pPr marL="342900" indent="-342900">
              <a:buFont typeface="Wingdings"/>
              <a:buChar char=""/>
              <a:defRPr/>
            </a:pPr>
            <a:r>
              <a:rPr lang="en-US" sz="2400"/>
              <a:t>The algorithm allows for key distribution, but does not provide encryption or digital signature functionality. </a:t>
            </a:r>
            <a:endParaRPr lang="en-US" sz="2400"/>
          </a:p>
          <a:p>
            <a:pPr marL="342900" indent="-342900">
              <a:buFont typeface="Wingdings"/>
              <a:buChar char=""/>
              <a:defRPr/>
            </a:pPr>
            <a:endParaRPr lang="en-US" sz="2400"/>
          </a:p>
          <a:p>
            <a:pPr marL="342900" indent="-342900">
              <a:buFont typeface="Wingdings"/>
              <a:buChar char=""/>
              <a:defRPr/>
            </a:pPr>
            <a:r>
              <a:rPr lang="en-US" sz="2400"/>
              <a:t>The algorithm is based on the difficulty of calculating discrete logarithms in a finite field.</a:t>
            </a:r>
            <a:endParaRPr lang="en-US" sz="2400"/>
          </a:p>
          <a:p>
            <a:pPr>
              <a:buFont typeface="Wingdings"/>
              <a:defRPr/>
            </a:pPr>
            <a:endParaRPr lang="en-US" sz="2400"/>
          </a:p>
          <a:p>
            <a:pPr marL="342900" indent="-342900">
              <a:buFont typeface="Wingdings"/>
              <a:buChar char=""/>
              <a:defRPr/>
            </a:pPr>
            <a:r>
              <a:rPr lang="en-US" sz="2400"/>
              <a:t> </a:t>
            </a:r>
            <a:r>
              <a:rPr lang="en-US" sz="2400"/>
              <a:t>The original Diffie-Hellman algorithm is vulnerable to a man-in-the-middle attack, because no authentication occurs before public keys are exchanged.</a:t>
            </a: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6888878" name="Title 14337" descr="512a190070e642d880be1a6e74542f0b# #矩形 157"/>
          <p:cNvSpPr>
            <a:spLocks noGrp="1"/>
          </p:cNvSpPr>
          <p:nvPr>
            <p:ph type="title"/>
          </p:nvPr>
        </p:nvSpPr>
        <p:spPr bwMode="auto"/>
        <p:txBody>
          <a:bodyPr anchor="ctr"/>
          <a:p>
            <a:pPr>
              <a:defRPr/>
            </a:pPr>
            <a:r>
              <a:rPr lang="en-US" sz="3200"/>
              <a:t>Cryptography</a:t>
            </a:r>
            <a:endParaRPr lang="en-US" sz="3200"/>
          </a:p>
        </p:txBody>
      </p:sp>
      <p:pic>
        <p:nvPicPr>
          <p:cNvPr id="1527411965" name="Content Placeholder 2"/>
          <p:cNvPicPr>
            <a:picLocks noChangeAspect="1"/>
          </p:cNvPicPr>
          <p:nvPr>
            <p:ph idx="1"/>
          </p:nvPr>
        </p:nvPicPr>
        <p:blipFill rotWithShape="1">
          <a:blip r:embed="rId3"/>
          <a:stretch/>
        </p:blipFill>
        <p:spPr bwMode="auto">
          <a:xfrm>
            <a:off x="768350" y="1339215"/>
            <a:ext cx="7473950" cy="50355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7816801"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729634676" name="Text Box 1"/>
          <p:cNvSpPr txBox="1"/>
          <p:nvPr/>
        </p:nvSpPr>
        <p:spPr bwMode="auto">
          <a:xfrm>
            <a:off x="457200" y="723900"/>
            <a:ext cx="8364855" cy="6000750"/>
          </a:xfrm>
          <a:prstGeom prst="rect">
            <a:avLst/>
          </a:prstGeom>
          <a:noFill/>
        </p:spPr>
        <p:txBody>
          <a:bodyPr wrap="square" rtlCol="0">
            <a:spAutoFit/>
          </a:bodyPr>
          <a:p>
            <a:pPr marL="342900" indent="-342900">
              <a:buFont typeface="Wingdings"/>
              <a:buChar char=""/>
              <a:defRPr/>
            </a:pPr>
            <a:r>
              <a:rPr lang="en-US" sz="2400" b="1"/>
              <a:t>RSA</a:t>
            </a:r>
            <a:endParaRPr lang="en-US" sz="2400" b="1"/>
          </a:p>
          <a:p>
            <a:pPr marL="342900" indent="-342900">
              <a:buFont typeface="Wingdings"/>
              <a:buChar char=""/>
              <a:defRPr/>
            </a:pPr>
            <a:endParaRPr lang="en-US" sz="2400"/>
          </a:p>
          <a:p>
            <a:pPr marL="342900" indent="-342900">
              <a:buFont typeface="Wingdings"/>
              <a:buChar char=""/>
              <a:defRPr/>
            </a:pPr>
            <a:r>
              <a:rPr lang="en-US" sz="2400"/>
              <a:t>RSA, named after its inventors Ron Rivest, Adi Shamir, and Leonard Adleman, is a public key algorithm that is the most popular when it comes to asymmetric algorithms.</a:t>
            </a:r>
            <a:endParaRPr lang="en-US" sz="2400"/>
          </a:p>
          <a:p>
            <a:pPr marL="342900" indent="-342900">
              <a:buFont typeface="Wingdings"/>
              <a:buChar char=""/>
              <a:defRPr/>
            </a:pPr>
            <a:endParaRPr lang="en-US" sz="2400"/>
          </a:p>
          <a:p>
            <a:pPr marL="342900" indent="-342900">
              <a:buFont typeface="Wingdings"/>
              <a:buChar char=""/>
              <a:defRPr/>
            </a:pPr>
            <a:r>
              <a:rPr lang="en-US" sz="2400"/>
              <a:t>RSA is a worldwide de facto standard and can be used for digital signatures, key exchange, and encryption.</a:t>
            </a:r>
            <a:endParaRPr lang="en-US" sz="2400"/>
          </a:p>
          <a:p>
            <a:pPr marL="342900" indent="-342900">
              <a:buFont typeface="Wingdings"/>
              <a:buChar char=""/>
              <a:defRPr/>
            </a:pPr>
            <a:endParaRPr lang="en-US" sz="2400"/>
          </a:p>
          <a:p>
            <a:pPr marL="342900" indent="-342900">
              <a:buFont typeface="Wingdings"/>
              <a:buChar char=""/>
              <a:defRPr/>
            </a:pPr>
            <a:r>
              <a:rPr lang="en-US" sz="2400"/>
              <a:t>It was developed in 1978 at MIT and provides authentication as well as key encryption.</a:t>
            </a:r>
            <a:endParaRPr lang="en-US" sz="2400"/>
          </a:p>
          <a:p>
            <a:pPr marL="342900" indent="-342900">
              <a:buFont typeface="Wingdings"/>
              <a:buChar char=""/>
              <a:defRPr/>
            </a:pPr>
            <a:endParaRPr lang="en-US" sz="2400"/>
          </a:p>
          <a:p>
            <a:pPr marL="342900" indent="-342900">
              <a:buFont typeface="Wingdings"/>
              <a:buChar char=""/>
              <a:defRPr/>
            </a:pPr>
            <a:r>
              <a:rPr lang="en-US" sz="2400"/>
              <a:t>The security of this algorithm comes from the difficulty of factoring large numbers into their original prime numbers.</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2330240"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990599868" name="Text Box 1"/>
          <p:cNvSpPr txBox="1"/>
          <p:nvPr/>
        </p:nvSpPr>
        <p:spPr bwMode="auto">
          <a:xfrm>
            <a:off x="457200" y="723900"/>
            <a:ext cx="8364855" cy="6000750"/>
          </a:xfrm>
          <a:prstGeom prst="rect">
            <a:avLst/>
          </a:prstGeom>
          <a:noFill/>
        </p:spPr>
        <p:txBody>
          <a:bodyPr wrap="square" rtlCol="0">
            <a:spAutoFit/>
          </a:bodyPr>
          <a:p>
            <a:pPr marL="342900" indent="-342900">
              <a:buFont typeface="Wingdings"/>
              <a:buChar char=""/>
              <a:defRPr/>
            </a:pPr>
            <a:r>
              <a:rPr lang="en-US" sz="2400"/>
              <a:t>The public and private keys are functions of a pair of large prime numbers.</a:t>
            </a:r>
            <a:endParaRPr lang="en-US" sz="2400"/>
          </a:p>
          <a:p>
            <a:pPr marL="342900" indent="-342900">
              <a:buFont typeface="Wingdings"/>
              <a:buChar char=""/>
              <a:defRPr/>
            </a:pPr>
            <a:endParaRPr lang="en-US" sz="2400"/>
          </a:p>
          <a:p>
            <a:pPr marL="342900" indent="-342900">
              <a:buFont typeface="Wingdings"/>
              <a:buChar char=""/>
              <a:defRPr/>
            </a:pPr>
            <a:r>
              <a:rPr lang="en-US" sz="2400"/>
              <a:t>A prime number is a positive whole number whose only factors (i.e., integer divisors) are 1 and the number itself.</a:t>
            </a:r>
            <a:endParaRPr lang="en-US" sz="2400"/>
          </a:p>
          <a:p>
            <a:pPr marL="342900" indent="-342900">
              <a:buFont typeface="Wingdings"/>
              <a:buChar char=""/>
              <a:defRPr/>
            </a:pPr>
            <a:endParaRPr lang="en-US" sz="2400"/>
          </a:p>
          <a:p>
            <a:pPr marL="342900" indent="-342900">
              <a:buFont typeface="Wingdings"/>
              <a:buChar char=""/>
              <a:defRPr/>
            </a:pPr>
            <a:r>
              <a:rPr lang="en-US" sz="2400"/>
              <a:t>One advantage of using RSA is that it can be used for encryption and digital signatures. Using its one-way function, RSA provides encryption and signature verification, and the inverse direction performs decryption and signature generation.</a:t>
            </a:r>
            <a:endParaRPr lang="en-US" sz="2400"/>
          </a:p>
          <a:p>
            <a:pPr marL="342900" indent="-342900">
              <a:buFont typeface="Wingdings"/>
              <a:buChar char=""/>
              <a:defRPr/>
            </a:pPr>
            <a:r>
              <a:rPr lang="en-US" sz="2400"/>
              <a:t>RSA has been implemented in applications; in operating systems by Microsoft, Apple, Sun, and Novell; and at the hardware level in network interface cards, secure telephones, and smart cards. </a:t>
            </a: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5651417"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659665793" name="Text Box 1"/>
          <p:cNvSpPr txBox="1"/>
          <p:nvPr/>
        </p:nvSpPr>
        <p:spPr bwMode="auto">
          <a:xfrm>
            <a:off x="457200" y="723900"/>
            <a:ext cx="8364855" cy="6000750"/>
          </a:xfrm>
          <a:prstGeom prst="rect">
            <a:avLst/>
          </a:prstGeom>
          <a:noFill/>
        </p:spPr>
        <p:txBody>
          <a:bodyPr wrap="square" rtlCol="0">
            <a:spAutoFit/>
          </a:bodyPr>
          <a:p>
            <a:pPr marL="342900" indent="-342900">
              <a:buFont typeface="Wingdings"/>
              <a:buChar char=""/>
              <a:defRPr/>
            </a:pPr>
            <a:r>
              <a:rPr lang="en-US" sz="2400"/>
              <a:t>It can be used as a key exchange protocol, meaning it is used to encrypt the symmetric key to get it securely to its destination. </a:t>
            </a:r>
            <a:endParaRPr lang="en-US" sz="2400"/>
          </a:p>
          <a:p>
            <a:pPr marL="342900" indent="-342900">
              <a:buFont typeface="Wingdings"/>
              <a:buChar char=""/>
              <a:defRPr/>
            </a:pPr>
            <a:endParaRPr lang="en-US" sz="2400"/>
          </a:p>
          <a:p>
            <a:pPr marL="342900" indent="-342900">
              <a:buFont typeface="Wingdings"/>
              <a:buChar char=""/>
              <a:defRPr/>
            </a:pPr>
            <a:r>
              <a:rPr lang="en-US" sz="2400"/>
              <a:t>The following sequence describes how the RSA algorithm comes up with the keys in the first place:</a:t>
            </a:r>
            <a:endParaRPr lang="en-US" sz="2400"/>
          </a:p>
          <a:p>
            <a:pPr marL="342900" indent="-342900">
              <a:buFont typeface="Wingdings"/>
              <a:buChar char=""/>
              <a:defRPr/>
            </a:pPr>
            <a:endParaRPr lang="en-US" sz="2400"/>
          </a:p>
          <a:p>
            <a:pPr>
              <a:buFont typeface="Wingdings"/>
              <a:defRPr/>
            </a:pPr>
            <a:r>
              <a:rPr lang="en-US" sz="2400"/>
              <a:t>1. Choose two random large prime numbers, p and q.</a:t>
            </a:r>
            <a:endParaRPr lang="en-US" sz="2400"/>
          </a:p>
          <a:p>
            <a:pPr>
              <a:buFont typeface="Wingdings"/>
              <a:defRPr/>
            </a:pPr>
            <a:endParaRPr lang="en-US" sz="2400"/>
          </a:p>
          <a:p>
            <a:pPr>
              <a:buFont typeface="Wingdings"/>
              <a:defRPr/>
            </a:pPr>
            <a:r>
              <a:rPr lang="en-US" sz="2400"/>
              <a:t>2. Generate the product of these numbers: n = pq.</a:t>
            </a:r>
            <a:endParaRPr lang="en-US" sz="2400"/>
          </a:p>
          <a:p>
            <a:pPr>
              <a:buFont typeface="Wingdings"/>
              <a:defRPr/>
            </a:pPr>
            <a:r>
              <a:rPr lang="en-US" sz="2400"/>
              <a:t>n is used as the modulus.</a:t>
            </a:r>
            <a:endParaRPr lang="en-US" sz="2400"/>
          </a:p>
          <a:p>
            <a:pPr>
              <a:buFont typeface="Wingdings"/>
              <a:defRPr/>
            </a:pPr>
            <a:endParaRPr lang="en-US" sz="2400"/>
          </a:p>
          <a:p>
            <a:pPr>
              <a:buFont typeface="Wingdings"/>
              <a:defRPr/>
            </a:pPr>
            <a:r>
              <a:rPr lang="en-US" sz="2400"/>
              <a:t>3. Choose a random integer e (the public key) that is greater than 1 but less than (p – 1)(q – 1) i.e. less than n.</a:t>
            </a:r>
            <a:endParaRPr lang="en-US" sz="2400"/>
          </a:p>
          <a:p>
            <a:pPr>
              <a:buFont typeface="Wingdings"/>
              <a:defRPr/>
            </a:pPr>
            <a:endParaRPr lang="en-US" sz="2400"/>
          </a:p>
          <a:p>
            <a:pPr>
              <a:buFont typeface="Wingdings"/>
              <a:defRPr/>
            </a:pPr>
            <a:r>
              <a:rPr lang="en-US" sz="2400"/>
              <a:t>Make sure that e and (p – 1)(q – 1) are relatively prime.</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0297251"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503649638" name="Text Box 1"/>
          <p:cNvSpPr txBox="1"/>
          <p:nvPr/>
        </p:nvSpPr>
        <p:spPr bwMode="auto">
          <a:xfrm>
            <a:off x="457200" y="723900"/>
            <a:ext cx="8364855" cy="5631179"/>
          </a:xfrm>
          <a:prstGeom prst="rect">
            <a:avLst/>
          </a:prstGeom>
          <a:noFill/>
        </p:spPr>
        <p:txBody>
          <a:bodyPr wrap="square" rtlCol="0">
            <a:spAutoFit/>
          </a:bodyPr>
          <a:p>
            <a:pPr>
              <a:buFont typeface="Wingdings"/>
              <a:defRPr/>
            </a:pPr>
            <a:r>
              <a:rPr lang="en-US" sz="2400"/>
              <a:t>4. Compute the corresponding private key, d, such that de – 1 is a multiple of (p – 1)(q – 1).</a:t>
            </a:r>
            <a:endParaRPr lang="en-US" sz="2400"/>
          </a:p>
          <a:p>
            <a:pPr>
              <a:buFont typeface="Wingdings"/>
              <a:defRPr/>
            </a:pPr>
            <a:endParaRPr lang="en-US" sz="2400"/>
          </a:p>
          <a:p>
            <a:pPr>
              <a:buFont typeface="Wingdings"/>
              <a:defRPr/>
            </a:pPr>
            <a:r>
              <a:rPr lang="en-US" sz="2400"/>
              <a:t>5. The public key = (n, e).</a:t>
            </a:r>
            <a:endParaRPr lang="en-US" sz="2400"/>
          </a:p>
          <a:p>
            <a:pPr>
              <a:buFont typeface="Wingdings"/>
              <a:defRPr/>
            </a:pPr>
            <a:endParaRPr lang="en-US" sz="2400"/>
          </a:p>
          <a:p>
            <a:pPr>
              <a:buFont typeface="Wingdings"/>
              <a:defRPr/>
            </a:pPr>
            <a:r>
              <a:rPr lang="en-US" sz="2400"/>
              <a:t>6. The private key = (n, d).</a:t>
            </a:r>
            <a:endParaRPr lang="en-US" sz="2400"/>
          </a:p>
          <a:p>
            <a:pPr>
              <a:buFont typeface="Wingdings"/>
              <a:defRPr/>
            </a:pPr>
            <a:endParaRPr lang="en-US" sz="2400"/>
          </a:p>
          <a:p>
            <a:pPr>
              <a:buFont typeface="Wingdings"/>
              <a:defRPr/>
            </a:pPr>
            <a:r>
              <a:rPr lang="en-US" sz="2400"/>
              <a:t>7. The original prime numbers p and q are discarded securely.</a:t>
            </a:r>
            <a:endParaRPr lang="en-US" sz="2400"/>
          </a:p>
          <a:p>
            <a:pPr marL="342900" indent="-342900">
              <a:buFont typeface="Wingdings"/>
              <a:buChar char=""/>
              <a:defRPr/>
            </a:pPr>
            <a:r>
              <a:rPr lang="en-US" sz="2400"/>
              <a:t>If you need to encrypt message m with your public key (e, n), the following formula is carried out:</a:t>
            </a:r>
            <a:endParaRPr lang="en-US" sz="2400"/>
          </a:p>
          <a:p>
            <a:pPr>
              <a:buFont typeface="Wingdings"/>
              <a:defRPr/>
            </a:pPr>
            <a:r>
              <a:rPr lang="en-US" sz="2400"/>
              <a:t>                           </a:t>
            </a:r>
            <a:r>
              <a:rPr lang="en-US" sz="2400" b="1"/>
              <a:t>C = m</a:t>
            </a:r>
            <a:r>
              <a:rPr lang="en-US" sz="2400" b="1" baseline="30000"/>
              <a:t>e</a:t>
            </a:r>
            <a:r>
              <a:rPr lang="en-US" sz="2400" b="1"/>
              <a:t> mod n</a:t>
            </a:r>
            <a:endParaRPr lang="en-US" sz="2400" b="1"/>
          </a:p>
          <a:p>
            <a:pPr marL="342900" indent="-342900">
              <a:buFont typeface="Wingdings"/>
              <a:buChar char=""/>
              <a:defRPr/>
            </a:pPr>
            <a:r>
              <a:rPr lang="en-US" sz="2400"/>
              <a:t>Then you need to decrypt the message with your private key (d), so the following formula is carried out:</a:t>
            </a:r>
            <a:endParaRPr lang="en-US" sz="2400"/>
          </a:p>
          <a:p>
            <a:pPr>
              <a:buFont typeface="Wingdings"/>
              <a:defRPr/>
            </a:pPr>
            <a:r>
              <a:rPr lang="en-US" sz="2400"/>
              <a:t>                            </a:t>
            </a:r>
            <a:r>
              <a:rPr lang="en-US" sz="2400" b="1"/>
              <a:t>M = c</a:t>
            </a:r>
            <a:r>
              <a:rPr lang="en-US" sz="2400" b="1" baseline="30000"/>
              <a:t>d</a:t>
            </a:r>
            <a:r>
              <a:rPr lang="en-US" sz="2400" b="1"/>
              <a:t> mod n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6668644" name="Title 14337" descr="512a190070e642d880be1a6e74542f0b# #矩形 157"/>
          <p:cNvSpPr>
            <a:spLocks noGrp="1"/>
          </p:cNvSpPr>
          <p:nvPr>
            <p:ph type="title"/>
          </p:nvPr>
        </p:nvSpPr>
        <p:spPr bwMode="auto">
          <a:xfrm>
            <a:off x="457200" y="142240"/>
            <a:ext cx="8229600" cy="462280"/>
          </a:xfrm>
        </p:spPr>
        <p:txBody>
          <a:bodyPr anchor="ctr"/>
          <a:p>
            <a:pPr>
              <a:defRPr/>
            </a:pPr>
            <a:r>
              <a:rPr lang="en-US" sz="3200"/>
              <a:t>Cryptography</a:t>
            </a:r>
            <a:endParaRPr lang="en-US" sz="3200"/>
          </a:p>
        </p:txBody>
      </p:sp>
      <p:sp>
        <p:nvSpPr>
          <p:cNvPr id="1608967963" name="Text Box 1"/>
          <p:cNvSpPr txBox="1"/>
          <p:nvPr/>
        </p:nvSpPr>
        <p:spPr bwMode="auto">
          <a:xfrm>
            <a:off x="457200" y="604520"/>
            <a:ext cx="8139430" cy="6369685"/>
          </a:xfrm>
          <a:prstGeom prst="rect">
            <a:avLst/>
          </a:prstGeom>
          <a:noFill/>
        </p:spPr>
        <p:txBody>
          <a:bodyPr wrap="square" rtlCol="0">
            <a:spAutoFit/>
          </a:bodyPr>
          <a:p>
            <a:pPr marL="342900" indent="-342900">
              <a:buFont typeface="Wingdings"/>
              <a:buChar char=""/>
              <a:defRPr/>
            </a:pPr>
            <a:r>
              <a:rPr lang="en-US" sz="2400" b="1"/>
              <a:t>One-Way Functions</a:t>
            </a:r>
            <a:endParaRPr lang="en-US" sz="2400" b="1"/>
          </a:p>
          <a:p>
            <a:pPr marL="342900" indent="-342900">
              <a:buFont typeface="Wingdings"/>
              <a:buChar char=""/>
              <a:defRPr/>
            </a:pPr>
            <a:endParaRPr lang="en-US" sz="2400"/>
          </a:p>
          <a:p>
            <a:pPr marL="342900" indent="-342900">
              <a:buFont typeface="Wingdings"/>
              <a:buChar char=""/>
              <a:defRPr/>
            </a:pPr>
            <a:r>
              <a:rPr lang="en-US" sz="2400"/>
              <a:t>A </a:t>
            </a:r>
            <a:r>
              <a:rPr lang="en-US" sz="2400" b="1"/>
              <a:t>one-way function</a:t>
            </a:r>
            <a:r>
              <a:rPr lang="en-US" sz="2400"/>
              <a:t> is a mathematical function that is easier to compute in one direction than in the opposite direction.</a:t>
            </a:r>
            <a:endParaRPr lang="en-US" sz="2400"/>
          </a:p>
          <a:p>
            <a:pPr marL="342900" indent="-342900">
              <a:buFont typeface="Wingdings"/>
              <a:buChar char=""/>
              <a:defRPr/>
            </a:pPr>
            <a:endParaRPr lang="en-US" sz="2400"/>
          </a:p>
          <a:p>
            <a:pPr marL="342900" indent="-342900">
              <a:buFont typeface="Wingdings"/>
              <a:buChar char=""/>
              <a:defRPr/>
            </a:pPr>
            <a:r>
              <a:rPr lang="en-US" sz="2400"/>
              <a:t>When a one-way function is carried out in the easy direction, encryption and digital signature verification functionality are available. </a:t>
            </a:r>
            <a:endParaRPr lang="en-US" sz="2400"/>
          </a:p>
          <a:p>
            <a:pPr marL="342900" indent="-342900">
              <a:buFont typeface="Wingdings"/>
              <a:buChar char=""/>
              <a:defRPr/>
            </a:pPr>
            <a:endParaRPr lang="en-US" sz="2400"/>
          </a:p>
          <a:p>
            <a:pPr marL="342900" indent="-342900">
              <a:buFont typeface="Wingdings"/>
              <a:buChar char=""/>
              <a:defRPr/>
            </a:pPr>
            <a:r>
              <a:rPr lang="en-US" sz="2400"/>
              <a:t>When the one-way function is carried out in the hard direction, decryption and signature generation functionality are available.</a:t>
            </a:r>
            <a:endParaRPr lang="en-US" sz="2400"/>
          </a:p>
          <a:p>
            <a:pPr marL="342900" indent="-342900">
              <a:buFont typeface="Wingdings"/>
              <a:buChar char=""/>
              <a:defRPr/>
            </a:pPr>
            <a:endParaRPr lang="en-US" sz="2400"/>
          </a:p>
          <a:p>
            <a:pPr marL="342900" indent="-342900">
              <a:buFont typeface="Wingdings"/>
              <a:buChar char=""/>
              <a:defRPr/>
            </a:pPr>
            <a:r>
              <a:rPr lang="en-US" sz="2400"/>
              <a:t>This means only the public key can carry out encryption and signature verification and only the private key can carry out decryption and signature generation.</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7122544"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094694131"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b="1"/>
              <a:t>El Gamal</a:t>
            </a:r>
            <a:endParaRPr lang="en-US" sz="2400" b="1"/>
          </a:p>
          <a:p>
            <a:pPr marL="342900" indent="-342900">
              <a:buFont typeface="Wingdings"/>
              <a:buChar char=""/>
              <a:defRPr/>
            </a:pPr>
            <a:r>
              <a:rPr lang="en-US" sz="2400"/>
              <a:t>In 1985, Dr. T. El Gamal published an article describing how the mathematical principles behind the Diffie–Hellman key exchange algorithm could be extended to support an entire public key cryptosystem used for encrypting and decrypting messages.</a:t>
            </a:r>
            <a:endParaRPr lang="en-US" sz="2400"/>
          </a:p>
          <a:p>
            <a:pPr marL="342900" indent="-342900">
              <a:buFont typeface="Wingdings"/>
              <a:buChar char=""/>
              <a:defRPr/>
            </a:pPr>
            <a:endParaRPr lang="en-US" sz="2400"/>
          </a:p>
          <a:p>
            <a:pPr marL="342900" indent="-342900">
              <a:buFont typeface="Wingdings"/>
              <a:buChar char=""/>
              <a:defRPr/>
            </a:pPr>
            <a:r>
              <a:rPr lang="en-US" sz="2400"/>
              <a:t>El Gamal is a public key algorithm that can be used for digital signatures, encryption, and key exchange.</a:t>
            </a:r>
            <a:endParaRPr lang="en-US" sz="2400"/>
          </a:p>
          <a:p>
            <a:pPr marL="342900" indent="-342900">
              <a:buFont typeface="Wingdings"/>
              <a:buChar char=""/>
              <a:defRPr/>
            </a:pPr>
            <a:endParaRPr lang="en-US" sz="2400"/>
          </a:p>
          <a:p>
            <a:pPr marL="342900" indent="-342900">
              <a:buFont typeface="Wingdings"/>
              <a:buChar char=""/>
              <a:defRPr/>
            </a:pPr>
            <a:r>
              <a:rPr lang="en-US" sz="2400"/>
              <a:t>It is based not on the difficulty of factoring large numbers, but on calculating discrete logarithms in a finite field. </a:t>
            </a:r>
            <a:endParaRPr lang="en-US" sz="2400"/>
          </a:p>
          <a:p>
            <a:pPr marL="342900" indent="-342900">
              <a:buFont typeface="Wingdings"/>
              <a:buChar char=""/>
              <a:defRPr/>
            </a:pPr>
            <a:endParaRPr lang="en-US" sz="2400"/>
          </a:p>
          <a:p>
            <a:pPr marL="342900" indent="-342900">
              <a:buFont typeface="Wingdings"/>
              <a:buChar char=""/>
              <a:defRPr/>
            </a:pPr>
            <a:r>
              <a:rPr lang="en-US" sz="2400"/>
              <a:t>A discrete logarithm is the power to which we must raise a given integer in order to get another given integer.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7804634"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331656842"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In other words, if b and g are integers, then k is the logarithm in the equation</a:t>
            </a:r>
            <a:r>
              <a:rPr lang="en-US" sz="2400" b="1"/>
              <a:t> b</a:t>
            </a:r>
            <a:r>
              <a:rPr lang="en-US" sz="2400" b="1" baseline="30000"/>
              <a:t>k</a:t>
            </a:r>
            <a:r>
              <a:rPr lang="en-US" sz="2400" b="1"/>
              <a:t> = g.</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a:t>When the numbers are large, calculating the logarithm becomes very difficult.</a:t>
            </a:r>
            <a:endParaRPr lang="en-US" sz="2400"/>
          </a:p>
          <a:p>
            <a:pPr marL="342900" indent="-342900">
              <a:buFont typeface="Wingdings"/>
              <a:buChar char=""/>
              <a:defRPr/>
            </a:pPr>
            <a:endParaRPr lang="en-US" sz="2400"/>
          </a:p>
          <a:p>
            <a:pPr marL="342900" indent="-342900">
              <a:buFont typeface="Wingdings"/>
              <a:buChar char=""/>
              <a:defRPr/>
            </a:pPr>
            <a:r>
              <a:rPr lang="en-US" sz="2400"/>
              <a:t>In fact, we know of no efficient way of doing this using modern computers. </a:t>
            </a:r>
            <a:endParaRPr lang="en-US" sz="2400"/>
          </a:p>
          <a:p>
            <a:pPr marL="342900" indent="-342900">
              <a:buFont typeface="Wingdings"/>
              <a:buChar char=""/>
              <a:defRPr/>
            </a:pPr>
            <a:endParaRPr lang="en-US" sz="2400"/>
          </a:p>
          <a:p>
            <a:pPr marL="342900" indent="-342900">
              <a:buFont typeface="Wingdings"/>
              <a:buChar char=""/>
              <a:defRPr/>
            </a:pPr>
            <a:r>
              <a:rPr lang="en-US" sz="2400"/>
              <a:t>This is what makes discrete logarithms useful in cryptography. </a:t>
            </a:r>
            <a:endParaRPr lang="en-US" sz="2400"/>
          </a:p>
          <a:p>
            <a:pPr marL="342900" indent="-342900">
              <a:buFont typeface="Wingdings"/>
              <a:buChar char=""/>
              <a:defRPr/>
            </a:pPr>
            <a:endParaRPr lang="en-US" sz="2400"/>
          </a:p>
          <a:p>
            <a:pPr marL="342900" indent="-342900">
              <a:buFont typeface="Wingdings"/>
              <a:buChar char=""/>
              <a:defRPr/>
            </a:pPr>
            <a:r>
              <a:rPr lang="en-US" sz="2400"/>
              <a:t>El Gamal is actually an extension of the Diffie-Hellman algorithm.</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306426"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432241648"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Although El Gamal provides the same type of functionality as some of the other asymmetric algorithms, its main drawback is performance.</a:t>
            </a:r>
            <a:endParaRPr lang="en-US" sz="2400"/>
          </a:p>
          <a:p>
            <a:pPr marL="342900" indent="-342900">
              <a:buFont typeface="Wingdings"/>
              <a:buChar char=""/>
              <a:defRPr/>
            </a:pPr>
            <a:endParaRPr lang="en-US" sz="2400"/>
          </a:p>
          <a:p>
            <a:pPr marL="342900" indent="-342900">
              <a:buFont typeface="Wingdings"/>
              <a:buChar char=""/>
              <a:defRPr/>
            </a:pPr>
            <a:r>
              <a:rPr lang="en-US" sz="2400"/>
              <a:t>When compared to other algorithms, this algorithm is usually the slowest.</a:t>
            </a:r>
            <a:endParaRPr lang="en-US" sz="2400"/>
          </a:p>
          <a:p>
            <a:pPr marL="342900" indent="-342900">
              <a:buFont typeface="Wingdings"/>
              <a:buChar char=""/>
              <a:defRPr/>
            </a:pPr>
            <a:endParaRPr lang="en-US" sz="2400"/>
          </a:p>
          <a:p>
            <a:pPr marL="342900" indent="-342900">
              <a:buFont typeface="Wingdings"/>
              <a:buChar char=""/>
              <a:defRPr/>
            </a:pPr>
            <a:r>
              <a:rPr lang="en-US" sz="2400" b="1"/>
              <a:t>Elliptic Curve Cryptosystems</a:t>
            </a:r>
            <a:endParaRPr lang="en-US" sz="2400" b="1"/>
          </a:p>
          <a:p>
            <a:pPr marL="342900" indent="-342900">
              <a:buFont typeface="Wingdings"/>
              <a:buChar char=""/>
              <a:defRPr/>
            </a:pPr>
            <a:endParaRPr lang="en-US" sz="2400"/>
          </a:p>
          <a:p>
            <a:pPr marL="342900" indent="-342900">
              <a:buFont typeface="Wingdings"/>
              <a:buChar char=""/>
              <a:defRPr/>
            </a:pPr>
            <a:r>
              <a:rPr lang="en-US" sz="2400"/>
              <a:t>Elliptic curves are rich mathematical structures that have shown usefulness in many different types of applications. </a:t>
            </a:r>
            <a:endParaRPr lang="en-US" sz="2400"/>
          </a:p>
          <a:p>
            <a:pPr marL="342900" indent="-342900">
              <a:buFont typeface="Wingdings"/>
              <a:buChar char=""/>
              <a:defRPr/>
            </a:pPr>
            <a:endParaRPr lang="en-US" sz="2400"/>
          </a:p>
          <a:p>
            <a:pPr marL="342900" indent="-342900">
              <a:buFont typeface="Wingdings"/>
              <a:buChar char=""/>
              <a:defRPr/>
            </a:pPr>
            <a:r>
              <a:rPr lang="en-US" sz="2400"/>
              <a:t>An elliptic curve cryptosystem (ECC) provides much of the same functionality RSA provides: digital signatures, secure key distribution, and encryption.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6686225" name="Title 14337" descr="512a190070e642d880be1a6e74542f0b# #矩形 157"/>
          <p:cNvSpPr>
            <a:spLocks noGrp="1"/>
          </p:cNvSpPr>
          <p:nvPr>
            <p:ph type="title"/>
          </p:nvPr>
        </p:nvSpPr>
        <p:spPr bwMode="auto"/>
        <p:txBody>
          <a:bodyPr anchor="ctr"/>
          <a:p>
            <a:pPr>
              <a:defRPr/>
            </a:pPr>
            <a:r>
              <a:rPr lang="en-US" sz="3200"/>
              <a:t>Cryptography</a:t>
            </a:r>
            <a:endParaRPr lang="en-US" sz="3200"/>
          </a:p>
        </p:txBody>
      </p:sp>
      <p:sp>
        <p:nvSpPr>
          <p:cNvPr id="1183806349" name="Text Box 1"/>
          <p:cNvSpPr txBox="1"/>
          <p:nvPr/>
        </p:nvSpPr>
        <p:spPr bwMode="auto">
          <a:xfrm>
            <a:off x="457200" y="723900"/>
            <a:ext cx="8139430" cy="3046095"/>
          </a:xfrm>
          <a:prstGeom prst="rect">
            <a:avLst/>
          </a:prstGeom>
          <a:noFill/>
        </p:spPr>
        <p:txBody>
          <a:bodyPr wrap="square" rtlCol="0">
            <a:spAutoFit/>
          </a:bodyPr>
          <a:p>
            <a:pPr marL="342900" indent="-342900">
              <a:buFont typeface="Wingdings"/>
              <a:buChar char=""/>
              <a:defRPr/>
            </a:pPr>
            <a:endParaRPr lang="en-US" sz="2400"/>
          </a:p>
          <a:p>
            <a:pPr marL="342900" indent="-342900">
              <a:buFont typeface="Wingdings"/>
              <a:buChar char=""/>
              <a:defRPr/>
            </a:pPr>
            <a:r>
              <a:rPr lang="en-US" sz="2400"/>
              <a:t>One differing factor is ECC’s efficiency. ECC is more efficient than RSA and any other asymmetric algorithm.</a:t>
            </a: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a:p>
            <a:pPr marL="342900" indent="-342900">
              <a:buFont typeface="Wingdings"/>
              <a:buChar char=""/>
              <a:defRPr/>
            </a:pPr>
            <a:endParaRPr lang="en-US" sz="2400"/>
          </a:p>
        </p:txBody>
      </p:sp>
      <p:pic>
        <p:nvPicPr>
          <p:cNvPr id="1945102350" name="Content Placeholder 2"/>
          <p:cNvPicPr>
            <a:picLocks noChangeAspect="1"/>
          </p:cNvPicPr>
          <p:nvPr>
            <p:ph idx="1"/>
          </p:nvPr>
        </p:nvPicPr>
        <p:blipFill rotWithShape="1">
          <a:blip r:embed="rId3"/>
          <a:stretch/>
        </p:blipFill>
        <p:spPr bwMode="auto">
          <a:xfrm>
            <a:off x="939800" y="2103755"/>
            <a:ext cx="6683375" cy="43281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8551017"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979216365"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In this field of mathematics, points on the curve compose a structure called a group. </a:t>
            </a:r>
            <a:endParaRPr lang="en-US" sz="2400"/>
          </a:p>
          <a:p>
            <a:pPr marL="342900" indent="-342900">
              <a:buFont typeface="Wingdings"/>
              <a:buChar char=""/>
              <a:defRPr/>
            </a:pPr>
            <a:endParaRPr lang="en-US" sz="2400"/>
          </a:p>
          <a:p>
            <a:pPr marL="342900" indent="-342900">
              <a:buFont typeface="Wingdings"/>
              <a:buChar char=""/>
              <a:defRPr/>
            </a:pPr>
            <a:r>
              <a:rPr lang="en-US" sz="2400"/>
              <a:t>These points are the values used in mathematical formulas for ECC’s encryption and decryption processes.</a:t>
            </a:r>
            <a:endParaRPr lang="en-US" sz="2400"/>
          </a:p>
          <a:p>
            <a:pPr marL="342900" indent="-342900">
              <a:buFont typeface="Wingdings"/>
              <a:buChar char=""/>
              <a:defRPr/>
            </a:pPr>
            <a:endParaRPr lang="en-US" sz="2400"/>
          </a:p>
          <a:p>
            <a:pPr marL="342900" indent="-342900">
              <a:buFont typeface="Wingdings"/>
              <a:buChar char=""/>
              <a:defRPr/>
            </a:pPr>
            <a:r>
              <a:rPr lang="en-US" sz="2400"/>
              <a:t>The algorithm computes discrete logarithms of elliptic curves, which is different from calculating discrete logarithms in a finite field (which is what Diffie-Hellman and El Gamal use).</a:t>
            </a:r>
            <a:endParaRPr lang="en-US" sz="2400"/>
          </a:p>
          <a:p>
            <a:pPr marL="342900" indent="-342900">
              <a:buFont typeface="Wingdings"/>
              <a:buChar char=""/>
              <a:defRPr/>
            </a:pPr>
            <a:endParaRPr lang="en-US" sz="2400"/>
          </a:p>
          <a:p>
            <a:pPr marL="342900" indent="-342900">
              <a:buFont typeface="Wingdings"/>
              <a:buChar char=""/>
              <a:defRPr/>
            </a:pPr>
            <a:r>
              <a:rPr lang="en-US" sz="2400"/>
              <a:t>Some devices have limited processing capacity, storage, power supply, and bandwidth, such as wireless devices and cellular telephones. </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4738459"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55118717" name="Text Box 1"/>
          <p:cNvSpPr txBox="1"/>
          <p:nvPr/>
        </p:nvSpPr>
        <p:spPr bwMode="auto">
          <a:xfrm>
            <a:off x="457200" y="723900"/>
            <a:ext cx="8139430" cy="4523105"/>
          </a:xfrm>
          <a:prstGeom prst="rect">
            <a:avLst/>
          </a:prstGeom>
          <a:noFill/>
        </p:spPr>
        <p:txBody>
          <a:bodyPr wrap="square" rtlCol="0">
            <a:spAutoFit/>
          </a:bodyPr>
          <a:p>
            <a:pPr marL="342900" indent="-342900">
              <a:buFont typeface="Wingdings"/>
              <a:buChar char=""/>
              <a:defRPr/>
            </a:pPr>
            <a:r>
              <a:rPr lang="en-US" sz="2400"/>
              <a:t>With these types of devices, efficiency of resource use is very important. </a:t>
            </a:r>
            <a:endParaRPr lang="en-US" sz="2400"/>
          </a:p>
          <a:p>
            <a:pPr marL="342900" indent="-342900">
              <a:buFont typeface="Wingdings"/>
              <a:buChar char=""/>
              <a:defRPr/>
            </a:pPr>
            <a:endParaRPr lang="en-US" sz="2400"/>
          </a:p>
          <a:p>
            <a:pPr marL="342900" indent="-342900">
              <a:buFont typeface="Wingdings"/>
              <a:buChar char=""/>
              <a:defRPr/>
            </a:pPr>
            <a:r>
              <a:rPr lang="en-US" sz="2400"/>
              <a:t>ECC provides encryption functionality, requiring a smaller percentage of the resources compared to RSA and other algorithms, so it is used in these types of devices.</a:t>
            </a:r>
            <a:endParaRPr lang="en-US" sz="2400"/>
          </a:p>
          <a:p>
            <a:pPr marL="342900" indent="-342900">
              <a:buFont typeface="Wingdings"/>
              <a:buChar char=""/>
              <a:defRPr/>
            </a:pPr>
            <a:endParaRPr lang="en-US" sz="2400"/>
          </a:p>
          <a:p>
            <a:pPr marL="342900" indent="-342900">
              <a:buFont typeface="Wingdings"/>
              <a:buChar char=""/>
              <a:defRPr/>
            </a:pPr>
            <a:r>
              <a:rPr lang="en-US" sz="2400"/>
              <a:t>In most cases, the longer the key, the more protection that is provided, but ECC can provide the same level of protection with a key size that is shorter than what RSA requires.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7893910"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780423417" name="Text Box 1"/>
          <p:cNvSpPr txBox="1"/>
          <p:nvPr/>
        </p:nvSpPr>
        <p:spPr bwMode="auto">
          <a:xfrm>
            <a:off x="457200" y="723900"/>
            <a:ext cx="8444865" cy="6000750"/>
          </a:xfrm>
          <a:prstGeom prst="rect">
            <a:avLst/>
          </a:prstGeom>
          <a:noFill/>
        </p:spPr>
        <p:txBody>
          <a:bodyPr wrap="square" rtlCol="0">
            <a:spAutoFit/>
          </a:bodyPr>
          <a:p>
            <a:pPr marL="342900" indent="-342900">
              <a:buFont typeface="Wingdings"/>
              <a:buChar char=""/>
              <a:defRPr/>
            </a:pPr>
            <a:r>
              <a:rPr lang="en-US" sz="2400" b="1"/>
              <a:t>Knapsack</a:t>
            </a:r>
            <a:endParaRPr lang="en-US" sz="2400" b="1"/>
          </a:p>
          <a:p>
            <a:pPr marL="342900" indent="-342900">
              <a:buFont typeface="Wingdings"/>
              <a:buChar char=""/>
              <a:defRPr/>
            </a:pPr>
            <a:endParaRPr lang="en-US" sz="2400"/>
          </a:p>
          <a:p>
            <a:pPr marL="342900" indent="-342900">
              <a:buFont typeface="Wingdings"/>
              <a:buChar char=""/>
              <a:defRPr/>
            </a:pPr>
            <a:r>
              <a:rPr lang="en-US" sz="2400"/>
              <a:t>Over the years, different versions of knapsack algorithms have arisen. </a:t>
            </a:r>
            <a:endParaRPr lang="en-US" sz="2400"/>
          </a:p>
          <a:p>
            <a:pPr marL="342900" indent="-342900">
              <a:buFont typeface="Wingdings"/>
              <a:buChar char=""/>
              <a:defRPr/>
            </a:pPr>
            <a:endParaRPr lang="en-US" sz="2400"/>
          </a:p>
          <a:p>
            <a:pPr marL="342900" indent="-342900">
              <a:buFont typeface="Wingdings"/>
              <a:buChar char=""/>
              <a:defRPr/>
            </a:pPr>
            <a:r>
              <a:rPr lang="en-US" sz="2400"/>
              <a:t>The first to be developed, Merkle-Hellman, could be used only for encryption, but it was later improved upon to provide digital signature capabilities. </a:t>
            </a:r>
            <a:endParaRPr lang="en-US" sz="2400"/>
          </a:p>
          <a:p>
            <a:pPr marL="342900" indent="-342900">
              <a:buFont typeface="Wingdings"/>
              <a:buChar char=""/>
              <a:defRPr/>
            </a:pPr>
            <a:endParaRPr lang="en-US" sz="2400"/>
          </a:p>
          <a:p>
            <a:pPr marL="342900" indent="-342900">
              <a:buFont typeface="Wingdings"/>
              <a:buChar char=""/>
              <a:defRPr/>
            </a:pPr>
            <a:r>
              <a:rPr lang="en-US" sz="2400"/>
              <a:t>These types of algorithms are based on the “knapsack problem,” a mathematical dilemma that poses the following question: If you have several different items, each having its own weight, is it possible to add these items to a knapsack so the knapsack has a specific weight?</a:t>
            </a:r>
            <a:endParaRPr lang="en-US" sz="2400"/>
          </a:p>
          <a:p>
            <a:pPr marL="342900" indent="-342900">
              <a:buFont typeface="Wingdings"/>
              <a:buChar char=""/>
              <a:defRPr/>
            </a:pPr>
            <a:r>
              <a:rPr lang="en-US" sz="2400"/>
              <a:t>This algorithm was </a:t>
            </a:r>
            <a:r>
              <a:rPr lang="en-US" sz="2400" b="1"/>
              <a:t>discovered</a:t>
            </a:r>
            <a:r>
              <a:rPr lang="en-US" sz="2400"/>
              <a:t> to </a:t>
            </a:r>
            <a:r>
              <a:rPr lang="en-US" sz="2400" b="1"/>
              <a:t>be insecure</a:t>
            </a:r>
            <a:r>
              <a:rPr lang="en-US" sz="2400"/>
              <a:t> and is not currently used in cryptosystems.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750154"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006883442"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b="1"/>
              <a:t>Message Integrity</a:t>
            </a:r>
            <a:endParaRPr lang="en-US" sz="2400" b="1"/>
          </a:p>
          <a:p>
            <a:pPr marL="342900" indent="-342900">
              <a:buFont typeface="Wingdings"/>
              <a:buChar char=""/>
              <a:defRPr/>
            </a:pPr>
            <a:endParaRPr lang="en-US" sz="2400" b="1"/>
          </a:p>
          <a:p>
            <a:pPr marL="342900" indent="-342900">
              <a:buFont typeface="Wingdings"/>
              <a:buChar char=""/>
              <a:defRPr/>
            </a:pPr>
            <a:r>
              <a:rPr lang="en-US" sz="2400"/>
              <a:t>Parity bits and cyclic redundancy check (CRC) functions have been used in protocols to detect modifications in streams of bits as they are passed from one computer to another, but they can usually detect only unintentional modifications. </a:t>
            </a:r>
            <a:endParaRPr lang="en-US" sz="2400"/>
          </a:p>
          <a:p>
            <a:pPr marL="342900" indent="-342900">
              <a:buFont typeface="Wingdings"/>
              <a:buChar char=""/>
              <a:defRPr/>
            </a:pPr>
            <a:endParaRPr lang="en-US" sz="2400"/>
          </a:p>
          <a:p>
            <a:pPr marL="342900" indent="-342900">
              <a:buFont typeface="Wingdings"/>
              <a:buChar char=""/>
              <a:defRPr/>
            </a:pPr>
            <a:r>
              <a:rPr lang="en-US" sz="2400"/>
              <a:t>Parity bits cannot identify whether a message was captured by an intruder, altered, and then sent on to the intended destination.</a:t>
            </a:r>
            <a:endParaRPr lang="en-US" sz="2400"/>
          </a:p>
          <a:p>
            <a:pPr marL="342900" indent="-342900">
              <a:buFont typeface="Wingdings"/>
              <a:buChar char=""/>
              <a:defRPr/>
            </a:pPr>
            <a:endParaRPr lang="en-US" sz="2400"/>
          </a:p>
          <a:p>
            <a:pPr marL="342900" indent="-342900">
              <a:buFont typeface="Wingdings"/>
              <a:buChar char=""/>
              <a:defRPr/>
            </a:pPr>
            <a:r>
              <a:rPr lang="en-US" sz="2400"/>
              <a:t>The intruder can just recalculate a new parity value that includes his changes, and the receiver would never know the difference. </a:t>
            </a: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0259584"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940400932"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For this type of protection, hash algorithms are required to successfully detect intentional and unintentional unauthorized modifications to data. </a:t>
            </a:r>
            <a:endParaRPr lang="en-US" sz="2400"/>
          </a:p>
          <a:p>
            <a:pPr marL="342900" indent="-342900">
              <a:buFont typeface="Wingdings"/>
              <a:buChar char=""/>
              <a:defRPr/>
            </a:pPr>
            <a:endParaRPr lang="en-US" sz="2400"/>
          </a:p>
          <a:p>
            <a:pPr marL="342900" indent="-342900">
              <a:buFont typeface="Wingdings"/>
              <a:buChar char=""/>
              <a:defRPr/>
            </a:pPr>
            <a:r>
              <a:rPr lang="en-US" sz="2400" b="1"/>
              <a:t>The One-Way Hash</a:t>
            </a:r>
            <a:endParaRPr lang="en-US" sz="2400" b="1"/>
          </a:p>
          <a:p>
            <a:pPr marL="342900" indent="-342900">
              <a:buFont typeface="Wingdings"/>
              <a:buChar char=""/>
              <a:defRPr/>
            </a:pPr>
            <a:endParaRPr lang="en-US" sz="2400" b="1"/>
          </a:p>
          <a:p>
            <a:pPr marL="342900" indent="-342900">
              <a:buFont typeface="Wingdings"/>
              <a:buChar char=""/>
              <a:defRPr/>
            </a:pPr>
            <a:r>
              <a:rPr lang="en-US" sz="2400"/>
              <a:t>A one-way hash is a function that takes a variable-length string (a message) and produces a fixed-length value called a hash value.</a:t>
            </a:r>
            <a:endParaRPr lang="en-US" sz="2400"/>
          </a:p>
          <a:p>
            <a:pPr marL="342900" indent="-342900">
              <a:buFont typeface="Wingdings"/>
              <a:buChar char=""/>
              <a:defRPr/>
            </a:pPr>
            <a:endParaRPr lang="en-US" sz="2400"/>
          </a:p>
          <a:p>
            <a:pPr marL="342900" indent="-342900">
              <a:buFont typeface="Wingdings"/>
              <a:buChar char=""/>
              <a:defRPr/>
            </a:pPr>
            <a:r>
              <a:rPr lang="en-US" sz="2400"/>
              <a:t>The hashing algorithm is not a secret—it is publicly known. </a:t>
            </a:r>
            <a:endParaRPr lang="en-US" sz="2400"/>
          </a:p>
          <a:p>
            <a:pPr marL="342900" indent="-342900">
              <a:buFont typeface="Wingdings"/>
              <a:buChar char=""/>
              <a:defRPr/>
            </a:pPr>
            <a:endParaRPr lang="en-US" sz="2400"/>
          </a:p>
          <a:p>
            <a:pPr marL="342900" indent="-342900">
              <a:buFont typeface="Wingdings"/>
              <a:buChar char=""/>
              <a:defRPr/>
            </a:pPr>
            <a:r>
              <a:rPr lang="en-US" sz="2400"/>
              <a:t>The secrecy of the oneway hashing function is its “one-wayness.” </a:t>
            </a: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6145320"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538278455"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a:t>The function is run in only one direction, not the other direction. </a:t>
            </a:r>
            <a:endParaRPr lang="en-US" sz="2400"/>
          </a:p>
          <a:p>
            <a:pPr marL="342900" indent="-342900">
              <a:buFont typeface="Wingdings"/>
              <a:buChar char=""/>
              <a:defRPr/>
            </a:pPr>
            <a:endParaRPr lang="en-US" sz="2400"/>
          </a:p>
          <a:p>
            <a:pPr marL="342900" indent="-342900">
              <a:buFont typeface="Wingdings"/>
              <a:buChar char=""/>
              <a:defRPr/>
            </a:pPr>
            <a:r>
              <a:rPr lang="en-US" sz="2400"/>
              <a:t>This is different from the one-way function used in public key.</a:t>
            </a:r>
            <a:endParaRPr lang="en-US" sz="2400"/>
          </a:p>
          <a:p>
            <a:pPr marL="342900" indent="-342900">
              <a:buFont typeface="Wingdings"/>
              <a:buChar char=""/>
              <a:defRPr/>
            </a:pPr>
            <a:endParaRPr lang="en-US" sz="2400"/>
          </a:p>
          <a:p>
            <a:pPr marL="342900" indent="-342900">
              <a:buFont typeface="Wingdings"/>
              <a:buChar char=""/>
              <a:defRPr/>
            </a:pPr>
            <a:r>
              <a:rPr lang="en-US" sz="2400"/>
              <a:t>The one-way hash functions are never used in reverse; they create a hash value and call it a day. </a:t>
            </a:r>
            <a:endParaRPr lang="en-US" sz="2400"/>
          </a:p>
          <a:p>
            <a:pPr marL="342900" indent="-342900">
              <a:buFont typeface="Wingdings"/>
              <a:buChar char=""/>
              <a:defRPr/>
            </a:pPr>
            <a:endParaRPr lang="en-US" sz="2400"/>
          </a:p>
          <a:p>
            <a:pPr marL="342900" indent="-342900">
              <a:buFont typeface="Wingdings"/>
              <a:buChar char=""/>
              <a:defRPr/>
            </a:pPr>
            <a:r>
              <a:rPr lang="en-US" sz="2400"/>
              <a:t>The receiver does not attempt to reverse the process at the other end, but instead runs the same hashing function one way and compares the two results.</a:t>
            </a:r>
            <a:endParaRPr lang="en-US" sz="2400"/>
          </a:p>
          <a:p>
            <a:pPr marL="342900" indent="-342900">
              <a:buFont typeface="Wingdings"/>
              <a:buChar char=""/>
              <a:defRPr/>
            </a:pPr>
            <a:endParaRPr lang="en-US" sz="2400"/>
          </a:p>
          <a:p>
            <a:pPr marL="342900" indent="-342900">
              <a:buFont typeface="Wingdings"/>
              <a:buChar char=""/>
              <a:defRPr/>
            </a:pPr>
            <a:r>
              <a:rPr lang="en-US" sz="2400"/>
              <a:t>The hashing one-way function takes place without the use of any keys.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5230566" name="Title 14337" descr="512a190070e642d880be1a6e74542f0b# #矩形 157"/>
          <p:cNvSpPr>
            <a:spLocks noGrp="1"/>
          </p:cNvSpPr>
          <p:nvPr>
            <p:ph type="title"/>
          </p:nvPr>
        </p:nvSpPr>
        <p:spPr bwMode="auto">
          <a:xfrm flipH="0" flipV="0">
            <a:off x="457200" y="274637"/>
            <a:ext cx="8229600" cy="449262"/>
          </a:xfrm>
        </p:spPr>
        <p:txBody>
          <a:bodyPr anchor="ctr"/>
          <a:p>
            <a:pPr>
              <a:defRPr/>
            </a:pPr>
            <a:r>
              <a:rPr lang="en-US" sz="3200"/>
              <a:t>Cryptography</a:t>
            </a:r>
            <a:endParaRPr lang="en-US" sz="3200"/>
          </a:p>
        </p:txBody>
      </p:sp>
      <p:sp>
        <p:nvSpPr>
          <p:cNvPr id="1787899553" name="Text Box 1"/>
          <p:cNvSpPr txBox="1"/>
          <p:nvPr/>
        </p:nvSpPr>
        <p:spPr bwMode="auto">
          <a:xfrm>
            <a:off x="457200" y="723900"/>
            <a:ext cx="8139430" cy="3046095"/>
          </a:xfrm>
          <a:prstGeom prst="rect">
            <a:avLst/>
          </a:prstGeom>
          <a:noFill/>
        </p:spPr>
        <p:txBody>
          <a:bodyPr wrap="square" rtlCol="0">
            <a:spAutoFit/>
          </a:bodyPr>
          <a:p>
            <a:pPr marL="342900" indent="-342900">
              <a:buFont typeface="Wingdings"/>
              <a:buChar char=""/>
              <a:defRPr/>
            </a:pPr>
            <a:r>
              <a:rPr lang="en-US" sz="2400"/>
              <a:t>A Message Authentication Code (MAC) function is an authentication scheme derived by applying a secret key to a message in some form. </a:t>
            </a:r>
            <a:endParaRPr lang="en-US" sz="2400"/>
          </a:p>
          <a:p>
            <a:pPr marL="342900" indent="-342900">
              <a:buFont typeface="Wingdings"/>
              <a:buChar char=""/>
              <a:defRPr/>
            </a:pPr>
            <a:endParaRPr lang="en-US" sz="2400"/>
          </a:p>
          <a:p>
            <a:pPr marL="342900" indent="-342900">
              <a:buFont typeface="Wingdings"/>
              <a:buChar char=""/>
              <a:defRPr/>
            </a:pPr>
            <a:r>
              <a:rPr lang="en-US" sz="2400"/>
              <a:t>The three basic types of MAC functions are: a </a:t>
            </a:r>
            <a:r>
              <a:rPr lang="en-US" sz="2400" b="1"/>
              <a:t>hash MAC (HMAC), CBC-MAC, and CMAC</a:t>
            </a:r>
            <a:r>
              <a:rPr lang="en-US" sz="2400"/>
              <a:t>.</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pic>
        <p:nvPicPr>
          <p:cNvPr id="1972963718" name="Content Placeholder 2"/>
          <p:cNvPicPr>
            <a:picLocks noChangeAspect="1"/>
          </p:cNvPicPr>
          <p:nvPr>
            <p:ph idx="1"/>
          </p:nvPr>
        </p:nvPicPr>
        <p:blipFill rotWithShape="1">
          <a:blip r:embed="rId3"/>
          <a:stretch/>
        </p:blipFill>
        <p:spPr bwMode="auto">
          <a:xfrm>
            <a:off x="932180" y="3106420"/>
            <a:ext cx="7146290" cy="359537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4222718"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817188416" name="Text Box 1"/>
          <p:cNvSpPr txBox="1"/>
          <p:nvPr/>
        </p:nvSpPr>
        <p:spPr bwMode="auto">
          <a:xfrm>
            <a:off x="457200" y="723900"/>
            <a:ext cx="8139430" cy="4523105"/>
          </a:xfrm>
          <a:prstGeom prst="rect">
            <a:avLst/>
          </a:prstGeom>
          <a:noFill/>
        </p:spPr>
        <p:txBody>
          <a:bodyPr wrap="square" rtlCol="0">
            <a:spAutoFit/>
          </a:bodyPr>
          <a:p>
            <a:pPr marL="342900" indent="-342900">
              <a:buFont typeface="Wingdings"/>
              <a:buChar char=""/>
              <a:defRPr/>
            </a:pPr>
            <a:r>
              <a:rPr lang="en-US" sz="2400"/>
              <a:t>The hashing process works as below:</a:t>
            </a:r>
            <a:endParaRPr lang="en-US" sz="2400"/>
          </a:p>
          <a:p>
            <a:pPr marL="342900" indent="-342900">
              <a:buFont typeface="Wingdings"/>
              <a:buChar char=""/>
              <a:defRPr/>
            </a:pPr>
            <a:endParaRPr lang="en-US" sz="2400"/>
          </a:p>
          <a:p>
            <a:pPr>
              <a:buFont typeface="Wingdings"/>
              <a:defRPr/>
            </a:pPr>
            <a:r>
              <a:rPr lang="en-US" sz="2400"/>
              <a:t>1. The sender puts the message through a hashing function.</a:t>
            </a:r>
            <a:endParaRPr lang="en-US" sz="2400"/>
          </a:p>
          <a:p>
            <a:pPr>
              <a:buFont typeface="Wingdings"/>
              <a:defRPr/>
            </a:pPr>
            <a:r>
              <a:rPr lang="en-US" sz="2400"/>
              <a:t>2. A message digest value is generated.</a:t>
            </a:r>
            <a:endParaRPr lang="en-US" sz="2400"/>
          </a:p>
          <a:p>
            <a:pPr>
              <a:buFont typeface="Wingdings"/>
              <a:defRPr/>
            </a:pPr>
            <a:r>
              <a:rPr lang="en-US" sz="2400"/>
              <a:t>3. The message digest is appended to the message.</a:t>
            </a:r>
            <a:endParaRPr lang="en-US" sz="2400"/>
          </a:p>
          <a:p>
            <a:pPr>
              <a:buFont typeface="Wingdings"/>
              <a:defRPr/>
            </a:pPr>
            <a:r>
              <a:rPr lang="en-US" sz="2400"/>
              <a:t>4. The sender sends the message to the receiver.</a:t>
            </a:r>
            <a:endParaRPr lang="en-US" sz="2400"/>
          </a:p>
          <a:p>
            <a:pPr>
              <a:buFont typeface="Wingdings"/>
              <a:defRPr/>
            </a:pPr>
            <a:r>
              <a:rPr lang="en-US" sz="2400"/>
              <a:t>5. The receiver puts the message through a hashing function.</a:t>
            </a:r>
            <a:endParaRPr lang="en-US" sz="2400"/>
          </a:p>
          <a:p>
            <a:pPr>
              <a:buFont typeface="Wingdings"/>
              <a:defRPr/>
            </a:pPr>
            <a:r>
              <a:rPr lang="en-US" sz="2400"/>
              <a:t>6. The receiver generates her own message digest value.</a:t>
            </a:r>
            <a:endParaRPr lang="en-US" sz="2400"/>
          </a:p>
          <a:p>
            <a:pPr>
              <a:buFont typeface="Wingdings"/>
              <a:defRPr/>
            </a:pPr>
            <a:r>
              <a:rPr lang="en-US" sz="2400"/>
              <a:t>7. The receiver compares the two message digest values. If they are the same, the message has not been altered.</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8631812"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587264729"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The HMAC function works as below:</a:t>
            </a:r>
            <a:endParaRPr lang="en-US" sz="2400"/>
          </a:p>
          <a:p>
            <a:pPr marL="342900" indent="-342900">
              <a:buFont typeface="Wingdings"/>
              <a:buChar char=""/>
              <a:defRPr/>
            </a:pPr>
            <a:endParaRPr lang="en-US" sz="2400"/>
          </a:p>
          <a:p>
            <a:pPr>
              <a:buFont typeface="Wingdings"/>
              <a:defRPr/>
            </a:pPr>
            <a:r>
              <a:rPr lang="en-US" sz="2400"/>
              <a:t>1. The sender concatenates a symmetric key with the message.</a:t>
            </a:r>
            <a:endParaRPr lang="en-US" sz="2400"/>
          </a:p>
          <a:p>
            <a:pPr>
              <a:buFont typeface="Wingdings"/>
              <a:defRPr/>
            </a:pPr>
            <a:r>
              <a:rPr lang="en-US" sz="2400"/>
              <a:t>2. The result is put through a hashing algorithm.</a:t>
            </a:r>
            <a:endParaRPr lang="en-US" sz="2400"/>
          </a:p>
          <a:p>
            <a:pPr>
              <a:buFont typeface="Wingdings"/>
              <a:defRPr/>
            </a:pPr>
            <a:r>
              <a:rPr lang="en-US" sz="2400"/>
              <a:t>3. A MAC value is generated.</a:t>
            </a:r>
            <a:endParaRPr lang="en-US" sz="2400"/>
          </a:p>
          <a:p>
            <a:pPr>
              <a:buFont typeface="Wingdings"/>
              <a:defRPr/>
            </a:pPr>
            <a:r>
              <a:rPr lang="en-US" sz="2400"/>
              <a:t>4. The MAC value is appended to the message.</a:t>
            </a:r>
            <a:endParaRPr lang="en-US" sz="2400"/>
          </a:p>
          <a:p>
            <a:pPr>
              <a:buFont typeface="Wingdings"/>
              <a:defRPr/>
            </a:pPr>
            <a:r>
              <a:rPr lang="en-US" sz="2400"/>
              <a:t>5. The sender sends the message to the receiver. (Just the message with the attached MAC value. The sender does not send the symmetric key with the message.)</a:t>
            </a:r>
            <a:endParaRPr lang="en-US" sz="2400"/>
          </a:p>
          <a:p>
            <a:pPr>
              <a:buFont typeface="Wingdings"/>
              <a:defRPr/>
            </a:pPr>
            <a:r>
              <a:rPr lang="en-US" sz="2400"/>
              <a:t>6. The receiver concatenates a symmetric key with the message.</a:t>
            </a:r>
            <a:endParaRPr lang="en-US" sz="2400"/>
          </a:p>
          <a:p>
            <a:pPr>
              <a:buFont typeface="Wingdings"/>
              <a:defRPr/>
            </a:pPr>
            <a:r>
              <a:rPr lang="en-US" sz="2400"/>
              <a:t>7. The receiver puts the results through a hashing algorithm and generates her own MAC value.</a:t>
            </a:r>
            <a:endParaRPr lang="en-US" sz="2400"/>
          </a:p>
          <a:p>
            <a:pPr>
              <a:buFont typeface="Wingdings"/>
              <a:defRPr/>
            </a:pPr>
            <a:r>
              <a:rPr lang="en-US" sz="2400"/>
              <a:t>8. The receiver compares the two MAC values. If they are the same, the message has not been modified.</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1402221"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31945355"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a:t>This type of technology requires the sender and receiver to have the same symmetric key.</a:t>
            </a:r>
            <a:endParaRPr lang="en-US" sz="2400"/>
          </a:p>
          <a:p>
            <a:pPr marL="342900" indent="-342900">
              <a:buFont typeface="Wingdings"/>
              <a:buChar char=""/>
              <a:defRPr/>
            </a:pPr>
            <a:endParaRPr lang="en-US" sz="2400"/>
          </a:p>
          <a:p>
            <a:pPr marL="342900" indent="-342900">
              <a:buFont typeface="Wingdings"/>
              <a:buChar char=""/>
              <a:defRPr/>
            </a:pPr>
            <a:r>
              <a:rPr lang="en-US" sz="2400"/>
              <a:t>The HMAC function does not involve getting the symmetric key to the destination securely. </a:t>
            </a:r>
            <a:endParaRPr lang="en-US" sz="2400"/>
          </a:p>
          <a:p>
            <a:pPr marL="342900" indent="-342900">
              <a:buFont typeface="Wingdings"/>
              <a:buChar char=""/>
              <a:defRPr/>
            </a:pPr>
            <a:endParaRPr lang="en-US" sz="2400"/>
          </a:p>
          <a:p>
            <a:pPr marL="342900" indent="-342900">
              <a:buFont typeface="Wingdings"/>
              <a:buChar char=""/>
              <a:defRPr/>
            </a:pPr>
            <a:r>
              <a:rPr lang="en-US" sz="2400" b="1"/>
              <a:t>CBC-MAC</a:t>
            </a:r>
            <a:endParaRPr lang="en-US" sz="2400" b="1"/>
          </a:p>
          <a:p>
            <a:pPr marL="342900" indent="-342900">
              <a:buFont typeface="Wingdings"/>
              <a:buChar char=""/>
              <a:defRPr/>
            </a:pPr>
            <a:endParaRPr lang="en-US" sz="2400"/>
          </a:p>
          <a:p>
            <a:pPr marL="342900" indent="-342900">
              <a:buFont typeface="Wingdings"/>
              <a:buChar char=""/>
              <a:defRPr/>
            </a:pPr>
            <a:r>
              <a:rPr lang="en-US" sz="2400"/>
              <a:t>If a Cipher Block Chaining Message Authentication Code (CBC-MAC) is being used, the message is encrypted with a symmetric block cipher in CBC mode, and the output of the final block of ciphertext is used as the MAC. </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0101519"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2082829708" name="Text Box 1"/>
          <p:cNvSpPr txBox="1"/>
          <p:nvPr/>
        </p:nvSpPr>
        <p:spPr bwMode="auto">
          <a:xfrm>
            <a:off x="457200" y="723899"/>
            <a:ext cx="8392604" cy="2652119"/>
          </a:xfrm>
          <a:prstGeom prst="rect">
            <a:avLst/>
          </a:prstGeom>
          <a:noFill/>
        </p:spPr>
        <p:txBody>
          <a:bodyPr wrap="square" rtlCol="0">
            <a:spAutoFit/>
          </a:bodyPr>
          <a:p>
            <a:pPr marL="342900" indent="-342900">
              <a:buFont typeface="Wingdings"/>
              <a:buChar char=""/>
              <a:defRPr/>
            </a:pPr>
            <a:r>
              <a:rPr lang="en-US" sz="2400" b="1"/>
              <a:t>MD4</a:t>
            </a:r>
            <a:endParaRPr lang="en-US" sz="2400" b="1"/>
          </a:p>
          <a:p>
            <a:pPr marL="342900" indent="-342900">
              <a:buFont typeface="Wingdings"/>
              <a:buChar char=""/>
              <a:defRPr/>
            </a:pPr>
            <a:r>
              <a:rPr lang="en-US" sz="2400"/>
              <a:t>MD4 is a one-way hash function designed by Ron Rivest. It also produces a 128-bit message digest value.</a:t>
            </a:r>
            <a:endParaRPr lang="en-US" sz="2400"/>
          </a:p>
          <a:p>
            <a:pPr marL="342900" indent="-342900">
              <a:buFont typeface="Wingdings"/>
              <a:buChar char=""/>
              <a:defRPr/>
            </a:pPr>
            <a:endParaRPr lang="en-US" sz="2400"/>
          </a:p>
          <a:p>
            <a:pPr marL="342900" indent="-342900">
              <a:buFont typeface="Wingdings"/>
              <a:buChar char=""/>
              <a:defRPr/>
            </a:pPr>
            <a:r>
              <a:rPr lang="en-US" sz="2400"/>
              <a:t> It was used for high-speed computation in software implementations and was optimized for microprocessors. It is no longer considered secure.</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6517721"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023712002"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b="1"/>
              <a:t>MD5</a:t>
            </a:r>
            <a:endParaRPr lang="en-US" sz="2400" b="1"/>
          </a:p>
          <a:p>
            <a:pPr marL="342900" indent="-342900">
              <a:buFont typeface="Wingdings"/>
              <a:buChar char=""/>
              <a:defRPr/>
            </a:pPr>
            <a:endParaRPr lang="en-US" sz="2400"/>
          </a:p>
          <a:p>
            <a:pPr marL="342900" indent="-342900">
              <a:buFont typeface="Wingdings"/>
              <a:buChar char=""/>
              <a:defRPr/>
            </a:pPr>
            <a:r>
              <a:rPr lang="en-US" sz="2400"/>
              <a:t>MD5 was also created by Ron Rivest and is the newer version of MD4. </a:t>
            </a:r>
            <a:endParaRPr lang="en-US" sz="2400"/>
          </a:p>
          <a:p>
            <a:pPr marL="342900" indent="-342900">
              <a:buFont typeface="Wingdings"/>
              <a:buChar char=""/>
              <a:defRPr/>
            </a:pPr>
            <a:endParaRPr lang="en-US" sz="2400"/>
          </a:p>
          <a:p>
            <a:pPr marL="342900" indent="-342900">
              <a:buFont typeface="Wingdings"/>
              <a:buChar char=""/>
              <a:defRPr/>
            </a:pPr>
            <a:r>
              <a:rPr lang="en-US" sz="2400"/>
              <a:t>It still produces a 128-bit hash, but the algorithm is more complex, which makes it harder to break.</a:t>
            </a:r>
            <a:endParaRPr lang="en-US" sz="2400"/>
          </a:p>
          <a:p>
            <a:pPr marL="342900" indent="-342900">
              <a:buFont typeface="Wingdings"/>
              <a:buChar char=""/>
              <a:defRPr/>
            </a:pPr>
            <a:endParaRPr lang="en-US" sz="2400"/>
          </a:p>
          <a:p>
            <a:pPr marL="342900" indent="-342900">
              <a:buFont typeface="Wingdings"/>
              <a:buChar char=""/>
              <a:defRPr/>
            </a:pPr>
            <a:r>
              <a:rPr lang="en-US" sz="2400"/>
              <a:t>MD5 added a fourth round of operations to be performed during the hashing functions and makes several of its mathematical operations carry out more steps or more complexity to provide a higher level of security.</a:t>
            </a:r>
            <a:endParaRPr lang="en-US" sz="2400"/>
          </a:p>
          <a:p>
            <a:pPr marL="342900" indent="-342900">
              <a:buFont typeface="Wingdings"/>
              <a:buChar char=""/>
              <a:defRPr/>
            </a:pPr>
            <a:endParaRPr lang="en-US" sz="2400"/>
          </a:p>
          <a:p>
            <a:pPr>
              <a:buFont typeface="Wingdings"/>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4728284"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733480291"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Recent research has shown MD5 to be subject to collision attacks, and it is therefore no longer suitable for applications like SSL certificates and digital signatures that require collision attack resistance.</a:t>
            </a:r>
            <a:endParaRPr lang="en-US" sz="2400"/>
          </a:p>
          <a:p>
            <a:pPr marL="342900" indent="-342900">
              <a:buFont typeface="Wingdings"/>
              <a:buChar char=""/>
              <a:defRPr/>
            </a:pPr>
            <a:endParaRPr lang="en-US" sz="2400"/>
          </a:p>
          <a:p>
            <a:pPr marL="342900" indent="-342900">
              <a:buFont typeface="Wingdings"/>
              <a:buChar char=""/>
              <a:defRPr/>
            </a:pPr>
            <a:r>
              <a:rPr lang="en-US" sz="2400" b="1"/>
              <a:t>SHA</a:t>
            </a:r>
            <a:endParaRPr lang="en-US" sz="2400" b="1"/>
          </a:p>
          <a:p>
            <a:pPr marL="342900" indent="-342900">
              <a:buFont typeface="Wingdings"/>
              <a:buChar char=""/>
              <a:defRPr/>
            </a:pPr>
            <a:endParaRPr lang="en-US" sz="2400" b="1"/>
          </a:p>
          <a:p>
            <a:pPr marL="342900" indent="-342900">
              <a:buFont typeface="Wingdings"/>
              <a:buChar char=""/>
              <a:defRPr/>
            </a:pPr>
            <a:r>
              <a:rPr lang="en-US" sz="2400"/>
              <a:t>SHA was designed by NSA and published by NIST to be used with the Digital Signature Standard (DSS).</a:t>
            </a:r>
            <a:endParaRPr lang="en-US" sz="2400"/>
          </a:p>
          <a:p>
            <a:pPr marL="342900" indent="-342900">
              <a:buFont typeface="Wingdings"/>
              <a:buChar char=""/>
              <a:defRPr/>
            </a:pPr>
            <a:endParaRPr lang="en-US" sz="2400"/>
          </a:p>
          <a:p>
            <a:pPr marL="342900" indent="-342900">
              <a:buFont typeface="Wingdings"/>
              <a:buChar char=""/>
              <a:defRPr/>
            </a:pPr>
            <a:r>
              <a:rPr lang="en-US" sz="2400"/>
              <a:t>SHA produces a 160-bit hash value, or message digest. This is then inputted into an asymmetric algorithm, which computes the signature for a message.</a:t>
            </a:r>
            <a:endParaRPr lang="en-US" sz="2400"/>
          </a:p>
          <a:p>
            <a:pPr marL="342900" indent="-342900">
              <a:buFont typeface="Wingdings"/>
              <a:buChar char=""/>
              <a:defRPr/>
            </a:pPr>
            <a:endParaRPr lang="en-US" sz="2400"/>
          </a:p>
          <a:p>
            <a:pPr marL="342900" indent="-342900">
              <a:buFont typeface="Wingdings"/>
              <a:buChar char=""/>
              <a:defRPr/>
            </a:pPr>
            <a:r>
              <a:rPr lang="en-US" sz="2400"/>
              <a:t>SHA is similar to MD4. </a:t>
            </a: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8392637"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263956730" name="Text Box 1"/>
          <p:cNvSpPr txBox="1"/>
          <p:nvPr/>
        </p:nvSpPr>
        <p:spPr bwMode="auto">
          <a:xfrm>
            <a:off x="457200" y="617855"/>
            <a:ext cx="8378190" cy="6369685"/>
          </a:xfrm>
          <a:prstGeom prst="rect">
            <a:avLst/>
          </a:prstGeom>
          <a:noFill/>
        </p:spPr>
        <p:txBody>
          <a:bodyPr wrap="square" rtlCol="0">
            <a:spAutoFit/>
          </a:bodyPr>
          <a:p>
            <a:pPr marL="342900" indent="-342900">
              <a:buFont typeface="Wingdings"/>
              <a:buChar char=""/>
              <a:defRPr/>
            </a:pPr>
            <a:r>
              <a:rPr lang="en-US" sz="2400"/>
              <a:t>It has some extra mathematical functions and produces a 160-bit hash instead of a 128-bit hash, which makes it more resistant to brute-force attacks, including birthday attacks.</a:t>
            </a:r>
            <a:endParaRPr lang="en-US" sz="2400"/>
          </a:p>
          <a:p>
            <a:pPr marL="342900" indent="-342900">
              <a:buFont typeface="Wingdings"/>
              <a:buChar char=""/>
              <a:defRPr/>
            </a:pPr>
            <a:endParaRPr lang="en-US" sz="2400"/>
          </a:p>
          <a:p>
            <a:pPr marL="342900" indent="-342900">
              <a:buFont typeface="Wingdings"/>
              <a:buChar char=""/>
              <a:defRPr/>
            </a:pPr>
            <a:r>
              <a:rPr lang="en-US" sz="2400"/>
              <a:t>SHA was improved upon and renamed SHA-1.</a:t>
            </a:r>
            <a:endParaRPr lang="en-US" sz="2400"/>
          </a:p>
          <a:p>
            <a:pPr marL="342900" indent="-342900">
              <a:buFont typeface="Wingdings"/>
              <a:buChar char=""/>
              <a:defRPr/>
            </a:pPr>
            <a:endParaRPr lang="en-US" sz="2400"/>
          </a:p>
          <a:p>
            <a:pPr marL="342900" indent="-342900">
              <a:buFont typeface="Wingdings"/>
              <a:buChar char=""/>
              <a:defRPr/>
            </a:pPr>
            <a:r>
              <a:rPr lang="en-US" sz="2400"/>
              <a:t>Recently, SHA-1 was found to be vulnerable to collisions and is no longer considered secure for applications requiring collision resistance. </a:t>
            </a:r>
            <a:endParaRPr lang="en-US" sz="2400"/>
          </a:p>
          <a:p>
            <a:pPr marL="342900" indent="-342900">
              <a:buFont typeface="Wingdings"/>
              <a:buChar char=""/>
              <a:defRPr/>
            </a:pPr>
            <a:endParaRPr lang="en-US" sz="2400"/>
          </a:p>
          <a:p>
            <a:pPr marL="342900" indent="-342900">
              <a:buFont typeface="Wingdings"/>
              <a:buChar char=""/>
              <a:defRPr/>
            </a:pPr>
            <a:r>
              <a:rPr lang="en-US" sz="2400"/>
              <a:t>Newer versions of this algorithm (collectively known as the SHA-2 and SHA-3 families) have been developed and released: SHA-256, SHA-384, and SHA-512.</a:t>
            </a:r>
            <a:endParaRPr lang="en-US" sz="2400"/>
          </a:p>
          <a:p>
            <a:pPr marL="342900" indent="-342900">
              <a:buFont typeface="Wingdings"/>
              <a:buChar char=""/>
              <a:defRPr/>
            </a:pPr>
            <a:endParaRPr lang="en-US" sz="2400"/>
          </a:p>
          <a:p>
            <a:pPr marL="342900" indent="-342900">
              <a:buFont typeface="Wingdings"/>
              <a:buChar char=""/>
              <a:defRPr/>
            </a:pPr>
            <a:r>
              <a:rPr lang="en-US" sz="2400"/>
              <a:t>The SHA-2 and SHA-3 families are considered secure for all uses.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5271337"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404722069" name="Text Box 2"/>
          <p:cNvSpPr txBox="1"/>
          <p:nvPr/>
        </p:nvSpPr>
        <p:spPr bwMode="auto">
          <a:xfrm>
            <a:off x="547370" y="617220"/>
            <a:ext cx="8139430" cy="6000750"/>
          </a:xfrm>
          <a:prstGeom prst="rect">
            <a:avLst/>
          </a:prstGeom>
          <a:noFill/>
        </p:spPr>
        <p:txBody>
          <a:bodyPr wrap="square" rtlCol="0">
            <a:spAutoFit/>
          </a:bodyPr>
          <a:p>
            <a:pPr marL="342900" indent="-342900">
              <a:buFont typeface="Wingdings"/>
              <a:buChar char=""/>
              <a:defRPr/>
            </a:pPr>
            <a:endParaRPr lang="en-US" sz="2400"/>
          </a:p>
          <a:p>
            <a:pPr marL="342900" indent="-342900">
              <a:buFont typeface="Wingdings"/>
              <a:buChar char=""/>
              <a:defRPr/>
            </a:pPr>
            <a:r>
              <a:rPr lang="en-US" sz="2400"/>
              <a:t>SHA-256 produces a 256-bit message digest using a 512-bit block size. </a:t>
            </a:r>
            <a:endParaRPr lang="en-US" sz="2400"/>
          </a:p>
          <a:p>
            <a:pPr marL="342900" indent="-342900">
              <a:buFont typeface="Wingdings"/>
              <a:buChar char=""/>
              <a:defRPr/>
            </a:pPr>
            <a:endParaRPr lang="en-US" sz="2400"/>
          </a:p>
          <a:p>
            <a:pPr marL="342900" indent="-342900">
              <a:buFont typeface="Wingdings"/>
              <a:buChar char=""/>
              <a:defRPr/>
            </a:pPr>
            <a:r>
              <a:rPr lang="en-US" sz="2400"/>
              <a:t>SHA-224 uses a truncated version of the SHA-256 hash to produce a 224-bit message digest using a 512-bit block size. </a:t>
            </a:r>
            <a:endParaRPr lang="en-US" sz="2400"/>
          </a:p>
          <a:p>
            <a:pPr marL="342900" indent="-342900">
              <a:buFont typeface="Wingdings"/>
              <a:buChar char=""/>
              <a:defRPr/>
            </a:pPr>
            <a:endParaRPr lang="en-US" sz="2400"/>
          </a:p>
          <a:p>
            <a:pPr marL="342900" indent="-342900">
              <a:buFont typeface="Wingdings"/>
              <a:buChar char=""/>
              <a:defRPr/>
            </a:pPr>
            <a:r>
              <a:rPr lang="en-US" sz="2400"/>
              <a:t>SHA-512 produces a 512-bit message digest using a 1,024-bit block size. </a:t>
            </a:r>
            <a:endParaRPr lang="en-US" sz="2400"/>
          </a:p>
          <a:p>
            <a:pPr marL="342900" indent="-342900">
              <a:buFont typeface="Wingdings"/>
              <a:buChar char=""/>
              <a:defRPr/>
            </a:pPr>
            <a:endParaRPr lang="en-US" sz="2400"/>
          </a:p>
          <a:p>
            <a:pPr marL="342900" indent="-342900">
              <a:buFont typeface="Wingdings"/>
              <a:buChar char=""/>
              <a:defRPr/>
            </a:pPr>
            <a:r>
              <a:rPr lang="en-US" sz="2400"/>
              <a:t>SHA-384 uses a truncated version of the SHA-512 hash to produce a 384-bit digest using a 1,024-bit block size.</a:t>
            </a:r>
            <a:endParaRPr lang="en-US" sz="2400"/>
          </a:p>
          <a:p>
            <a:pPr marL="342900" indent="-342900">
              <a:buFont typeface="Wingdings"/>
              <a:buChar char=""/>
              <a:defRPr/>
            </a:pPr>
            <a:endParaRPr lang="en-US" sz="2400"/>
          </a:p>
          <a:p>
            <a:pPr marL="342900" indent="-342900">
              <a:buFont typeface="Wingdings"/>
              <a:buChar char=""/>
              <a:defRPr/>
            </a:pPr>
            <a:r>
              <a:rPr lang="en-US" sz="2400"/>
              <a:t>Keccak algorithm is released as the SHA-3 standard.</a:t>
            </a: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9213652" name="Title 14337" descr="512a190070e642d880be1a6e74542f0b# #矩形 157"/>
          <p:cNvSpPr>
            <a:spLocks noGrp="1"/>
          </p:cNvSpPr>
          <p:nvPr>
            <p:ph type="title"/>
          </p:nvPr>
        </p:nvSpPr>
        <p:spPr bwMode="auto">
          <a:xfrm>
            <a:off x="457200" y="142240"/>
            <a:ext cx="8229600" cy="462280"/>
          </a:xfrm>
        </p:spPr>
        <p:txBody>
          <a:bodyPr anchor="ctr"/>
          <a:p>
            <a:pPr>
              <a:defRPr/>
            </a:pPr>
            <a:r>
              <a:rPr lang="en-US" sz="3200"/>
              <a:t>Cryptography</a:t>
            </a:r>
            <a:endParaRPr lang="en-US" sz="3200"/>
          </a:p>
        </p:txBody>
      </p:sp>
      <p:sp>
        <p:nvSpPr>
          <p:cNvPr id="408336933" name="Text Box 1"/>
          <p:cNvSpPr txBox="1"/>
          <p:nvPr/>
        </p:nvSpPr>
        <p:spPr bwMode="auto">
          <a:xfrm>
            <a:off x="457200" y="604520"/>
            <a:ext cx="8403590" cy="6369685"/>
          </a:xfrm>
          <a:prstGeom prst="rect">
            <a:avLst/>
          </a:prstGeom>
          <a:noFill/>
        </p:spPr>
        <p:txBody>
          <a:bodyPr wrap="square" rtlCol="0">
            <a:spAutoFit/>
          </a:bodyPr>
          <a:p>
            <a:pPr marL="342900" indent="-342900">
              <a:buFont typeface="Wingdings"/>
              <a:buChar char=""/>
              <a:defRPr/>
            </a:pPr>
            <a:r>
              <a:rPr lang="en-US" sz="2400"/>
              <a:t>Attacks Against One-Way Hash Functions</a:t>
            </a:r>
            <a:endParaRPr lang="en-US" sz="2400"/>
          </a:p>
          <a:p>
            <a:pPr marL="342900" indent="-342900">
              <a:buFont typeface="Wingdings"/>
              <a:buChar char=""/>
              <a:defRPr/>
            </a:pPr>
            <a:endParaRPr lang="en-US" sz="2400"/>
          </a:p>
          <a:p>
            <a:pPr marL="342900" indent="-342900">
              <a:buFont typeface="Wingdings"/>
              <a:buChar char=""/>
              <a:defRPr/>
            </a:pPr>
            <a:r>
              <a:rPr lang="en-US" sz="2400"/>
              <a:t>A strong hashing algorithm does not produce the same hash value for two different messages. </a:t>
            </a:r>
            <a:endParaRPr lang="en-US" sz="2400"/>
          </a:p>
          <a:p>
            <a:pPr marL="342900" indent="-342900">
              <a:buFont typeface="Wingdings"/>
              <a:buChar char=""/>
              <a:defRPr/>
            </a:pPr>
            <a:endParaRPr lang="en-US" sz="2400"/>
          </a:p>
          <a:p>
            <a:pPr marL="342900" indent="-342900">
              <a:buFont typeface="Wingdings"/>
              <a:buChar char=""/>
              <a:defRPr/>
            </a:pPr>
            <a:r>
              <a:rPr lang="en-US" sz="2400"/>
              <a:t>If the algorithm does produce the same value for two distinctly different messages, this is called a collision.</a:t>
            </a:r>
            <a:endParaRPr lang="en-US" sz="2400"/>
          </a:p>
          <a:p>
            <a:pPr marL="342900" indent="-342900">
              <a:buFont typeface="Wingdings"/>
              <a:buChar char=""/>
              <a:defRPr/>
            </a:pPr>
            <a:endParaRPr lang="en-US" sz="2400"/>
          </a:p>
          <a:p>
            <a:pPr marL="342900" indent="-342900">
              <a:buFont typeface="Wingdings"/>
              <a:buChar char=""/>
              <a:defRPr/>
            </a:pPr>
            <a:r>
              <a:rPr lang="en-US" sz="2400"/>
              <a:t>An attacker can attempt to force a collision, which is referred to as a birthday attack. </a:t>
            </a:r>
            <a:endParaRPr lang="en-US" sz="2400"/>
          </a:p>
          <a:p>
            <a:pPr marL="342900" indent="-342900">
              <a:buFont typeface="Wingdings"/>
              <a:buChar char=""/>
              <a:defRPr/>
            </a:pPr>
            <a:endParaRPr lang="en-US" sz="2400"/>
          </a:p>
          <a:p>
            <a:pPr marL="342900" indent="-342900">
              <a:buFont typeface="Wingdings"/>
              <a:buChar char=""/>
              <a:defRPr/>
            </a:pPr>
            <a:r>
              <a:rPr lang="en-US" sz="2400"/>
              <a:t>This attack is based on the mathematical birthday paradox that exists in standard statistics. </a:t>
            </a:r>
            <a:endParaRPr lang="en-US" sz="2400"/>
          </a:p>
          <a:p>
            <a:pPr marL="342900" indent="-342900">
              <a:buFont typeface="Wingdings"/>
              <a:buChar char=""/>
              <a:defRPr/>
            </a:pPr>
            <a:endParaRPr lang="en-US" sz="2400"/>
          </a:p>
          <a:p>
            <a:pPr marL="342900" indent="-342900">
              <a:buFont typeface="Wingdings"/>
              <a:buChar char=""/>
              <a:defRPr/>
            </a:pPr>
            <a:r>
              <a:rPr lang="en-US" sz="2400"/>
              <a:t>if a hashing algorithm generates a message digest of 60 bits, there is a high likelihood that an adversary can find a collision using only 230 inputs.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1303890" name="Title 14337" descr="512a190070e642d880be1a6e74542f0b# #矩形 157"/>
          <p:cNvSpPr>
            <a:spLocks noGrp="1"/>
          </p:cNvSpPr>
          <p:nvPr>
            <p:ph type="title"/>
          </p:nvPr>
        </p:nvSpPr>
        <p:spPr bwMode="auto">
          <a:xfrm>
            <a:off x="457200" y="168910"/>
            <a:ext cx="8229600" cy="422275"/>
          </a:xfrm>
        </p:spPr>
        <p:txBody>
          <a:bodyPr anchor="ctr"/>
          <a:p>
            <a:pPr>
              <a:defRPr/>
            </a:pPr>
            <a:r>
              <a:rPr lang="en-US" sz="3200"/>
              <a:t>Cryptography</a:t>
            </a:r>
            <a:endParaRPr lang="en-US" sz="3200"/>
          </a:p>
        </p:txBody>
      </p:sp>
      <p:sp>
        <p:nvSpPr>
          <p:cNvPr id="1831542237" name="Text Box 1"/>
          <p:cNvSpPr txBox="1"/>
          <p:nvPr/>
        </p:nvSpPr>
        <p:spPr bwMode="auto">
          <a:xfrm>
            <a:off x="457200" y="723900"/>
            <a:ext cx="8139430" cy="829944"/>
          </a:xfrm>
          <a:prstGeom prst="rect">
            <a:avLst/>
          </a:prstGeom>
          <a:noFill/>
        </p:spPr>
        <p:txBody>
          <a:bodyPr wrap="square" rtlCol="0">
            <a:spAutoFit/>
          </a:bodyPr>
          <a:p>
            <a:pPr marL="342900" indent="-342900">
              <a:buFont typeface="Wingdings"/>
              <a:buChar char=""/>
              <a:defRPr/>
            </a:pPr>
            <a:r>
              <a:rPr lang="en-US" sz="2400"/>
              <a:t>A digital signature is a hash value that has been encrypted with the sender’s private key</a:t>
            </a:r>
            <a:endParaRPr lang="en-US" sz="2400"/>
          </a:p>
        </p:txBody>
      </p:sp>
      <p:pic>
        <p:nvPicPr>
          <p:cNvPr id="2041308044" name="Content Placeholder 2"/>
          <p:cNvPicPr>
            <a:picLocks noChangeAspect="1"/>
          </p:cNvPicPr>
          <p:nvPr>
            <p:ph idx="1"/>
          </p:nvPr>
        </p:nvPicPr>
        <p:blipFill rotWithShape="1">
          <a:blip r:embed="rId3"/>
          <a:stretch/>
        </p:blipFill>
        <p:spPr bwMode="auto">
          <a:xfrm>
            <a:off x="949325" y="1869440"/>
            <a:ext cx="7217410" cy="45694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5075548"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620541250" name="Text Box 1"/>
          <p:cNvSpPr txBox="1"/>
          <p:nvPr/>
        </p:nvSpPr>
        <p:spPr bwMode="auto">
          <a:xfrm>
            <a:off x="457200" y="723900"/>
            <a:ext cx="8139430" cy="5262245"/>
          </a:xfrm>
          <a:prstGeom prst="rect">
            <a:avLst/>
          </a:prstGeom>
          <a:noFill/>
        </p:spPr>
        <p:txBody>
          <a:bodyPr wrap="square" rtlCol="0">
            <a:spAutoFit/>
          </a:bodyPr>
          <a:p>
            <a:pPr marL="342900" indent="-342900">
              <a:buFont typeface="Wingdings"/>
              <a:buChar char=""/>
              <a:defRPr/>
            </a:pPr>
            <a:r>
              <a:rPr lang="en-US" sz="2400"/>
              <a:t>The act of signing just means the value was encrypted with a private key.</a:t>
            </a:r>
            <a:endParaRPr lang="en-US" sz="2400"/>
          </a:p>
          <a:p>
            <a:pPr marL="342900" indent="-342900">
              <a:buFont typeface="Wingdings"/>
              <a:buChar char=""/>
              <a:defRPr/>
            </a:pPr>
            <a:endParaRPr lang="en-US" sz="2400"/>
          </a:p>
          <a:p>
            <a:pPr marL="342900" indent="-342900">
              <a:buFont typeface="Wingdings"/>
              <a:buChar char=""/>
              <a:defRPr/>
            </a:pPr>
            <a:r>
              <a:rPr lang="en-US" sz="2400"/>
              <a:t>Different steps and algorithms provide different types of security services:</a:t>
            </a:r>
            <a:endParaRPr lang="en-US" sz="2400"/>
          </a:p>
          <a:p>
            <a:pPr marL="342900" indent="-342900">
              <a:buFont typeface="Wingdings"/>
              <a:buChar char=""/>
              <a:defRPr/>
            </a:pPr>
            <a:endParaRPr lang="en-US" sz="2400"/>
          </a:p>
          <a:p>
            <a:pPr marL="342900" indent="-342900">
              <a:buFont typeface="Wingdings"/>
              <a:buChar char=""/>
              <a:defRPr/>
            </a:pPr>
            <a:r>
              <a:rPr lang="en-US" sz="2400"/>
              <a:t>A message can be </a:t>
            </a:r>
            <a:r>
              <a:rPr lang="en-US" sz="2400" b="1"/>
              <a:t>encrypted</a:t>
            </a:r>
            <a:r>
              <a:rPr lang="en-US" sz="2400"/>
              <a:t>, which provides </a:t>
            </a:r>
            <a:r>
              <a:rPr lang="en-US" sz="2400" b="1"/>
              <a:t>confidentiality</a:t>
            </a:r>
            <a:r>
              <a:rPr lang="en-US" sz="2400"/>
              <a:t>.</a:t>
            </a:r>
            <a:endParaRPr lang="en-US" sz="2400"/>
          </a:p>
          <a:p>
            <a:pPr marL="342900" indent="-342900">
              <a:buFont typeface="Wingdings"/>
              <a:buChar char=""/>
              <a:defRPr/>
            </a:pPr>
            <a:r>
              <a:rPr lang="en-US" sz="2400"/>
              <a:t>A message can be </a:t>
            </a:r>
            <a:r>
              <a:rPr lang="en-US" sz="2400" b="1"/>
              <a:t>hashed</a:t>
            </a:r>
            <a:r>
              <a:rPr lang="en-US" sz="2400"/>
              <a:t>, which provides </a:t>
            </a:r>
            <a:r>
              <a:rPr lang="en-US" sz="2400" b="1"/>
              <a:t>integrity</a:t>
            </a:r>
            <a:r>
              <a:rPr lang="en-US" sz="2400"/>
              <a:t>.</a:t>
            </a:r>
            <a:endParaRPr lang="en-US" sz="2400"/>
          </a:p>
          <a:p>
            <a:pPr marL="342900" indent="-342900">
              <a:buFont typeface="Wingdings"/>
              <a:buChar char=""/>
              <a:defRPr/>
            </a:pPr>
            <a:r>
              <a:rPr lang="en-US" sz="2400"/>
              <a:t>A message can be </a:t>
            </a:r>
            <a:r>
              <a:rPr lang="en-US" sz="2400" b="1"/>
              <a:t>digitally signed</a:t>
            </a:r>
            <a:r>
              <a:rPr lang="en-US" sz="2400"/>
              <a:t>, which provides </a:t>
            </a:r>
            <a:r>
              <a:rPr lang="en-US" sz="2400" b="1"/>
              <a:t>authentication</a:t>
            </a:r>
            <a:r>
              <a:rPr lang="en-US" sz="2400"/>
              <a:t>, </a:t>
            </a:r>
            <a:r>
              <a:rPr lang="en-US" sz="2400" b="1"/>
              <a:t>nonrepudiation</a:t>
            </a:r>
            <a:r>
              <a:rPr lang="en-US" sz="2400"/>
              <a:t>, and </a:t>
            </a:r>
            <a:r>
              <a:rPr lang="en-US" sz="2400" b="1"/>
              <a:t>integrity</a:t>
            </a:r>
            <a:r>
              <a:rPr lang="en-US" sz="2400"/>
              <a:t>.</a:t>
            </a:r>
            <a:endParaRPr lang="en-US" sz="2400"/>
          </a:p>
          <a:p>
            <a:pPr marL="342900" indent="-342900">
              <a:buFont typeface="Wingdings"/>
              <a:buChar char=""/>
              <a:defRPr/>
            </a:pPr>
            <a:r>
              <a:rPr lang="en-US" sz="2400"/>
              <a:t>A message can be </a:t>
            </a:r>
            <a:r>
              <a:rPr lang="en-US" sz="2400" b="1"/>
              <a:t>encrypted</a:t>
            </a:r>
            <a:r>
              <a:rPr lang="en-US" sz="2400"/>
              <a:t> and </a:t>
            </a:r>
            <a:r>
              <a:rPr lang="en-US" sz="2400" b="1"/>
              <a:t>digitally signed</a:t>
            </a:r>
            <a:r>
              <a:rPr lang="en-US" sz="2400"/>
              <a:t>, which provides </a:t>
            </a:r>
            <a:r>
              <a:rPr lang="en-US" sz="2400" b="1"/>
              <a:t>confidentiality</a:t>
            </a:r>
            <a:r>
              <a:rPr lang="en-US" sz="2400"/>
              <a:t>, </a:t>
            </a:r>
            <a:r>
              <a:rPr lang="en-US" sz="2400" b="1"/>
              <a:t>authentication</a:t>
            </a:r>
            <a:r>
              <a:rPr lang="en-US" sz="2400"/>
              <a:t>, </a:t>
            </a:r>
            <a:r>
              <a:rPr lang="en-US" sz="2400" b="1"/>
              <a:t>nonrepudiation</a:t>
            </a:r>
            <a:r>
              <a:rPr lang="en-US" sz="2400"/>
              <a:t>, and </a:t>
            </a:r>
            <a:r>
              <a:rPr lang="en-US" sz="2400" b="1"/>
              <a:t>integrity</a:t>
            </a:r>
            <a:r>
              <a:rPr lang="en-US" sz="2400"/>
              <a:t>.</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0461948"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536145553"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a:t>Because digital signatures are so important in proving who sent which messages, the U.S.government decided to establish standards pertaining to their functions and acceptable use. </a:t>
            </a:r>
            <a:endParaRPr lang="en-US" sz="2400"/>
          </a:p>
          <a:p>
            <a:pPr marL="342900" indent="-342900">
              <a:buFont typeface="Wingdings"/>
              <a:buChar char=""/>
              <a:defRPr/>
            </a:pPr>
            <a:endParaRPr lang="en-US" sz="2400"/>
          </a:p>
          <a:p>
            <a:pPr marL="342900" indent="-342900">
              <a:buFont typeface="Wingdings"/>
              <a:buChar char=""/>
              <a:defRPr/>
            </a:pPr>
            <a:r>
              <a:rPr lang="en-US" sz="2400"/>
              <a:t>In 1991, NIST proposed a federal standard called the </a:t>
            </a:r>
            <a:r>
              <a:rPr lang="en-US" sz="2400" b="1"/>
              <a:t>Digital Signature Standard (DSS)</a:t>
            </a:r>
            <a:r>
              <a:rPr lang="en-US" sz="2400"/>
              <a:t>.</a:t>
            </a:r>
            <a:endParaRPr lang="en-US" sz="2400"/>
          </a:p>
          <a:p>
            <a:pPr marL="342900" indent="-342900">
              <a:buFont typeface="Wingdings"/>
              <a:buChar char=""/>
              <a:defRPr/>
            </a:pPr>
            <a:endParaRPr lang="en-US" sz="2400"/>
          </a:p>
          <a:p>
            <a:pPr marL="342900" indent="-342900">
              <a:buFont typeface="Wingdings"/>
              <a:buChar char=""/>
              <a:defRPr/>
            </a:pPr>
            <a:r>
              <a:rPr lang="en-US" sz="2400"/>
              <a:t>It was developed for federal departments and agencies, but most vendors also designed their products to meet these specifications. </a:t>
            </a:r>
            <a:endParaRPr lang="en-US" sz="2400"/>
          </a:p>
          <a:p>
            <a:pPr marL="342900" indent="-342900">
              <a:buFont typeface="Wingdings"/>
              <a:buChar char=""/>
              <a:defRPr/>
            </a:pPr>
            <a:endParaRPr lang="en-US" sz="2400"/>
          </a:p>
          <a:p>
            <a:pPr marL="342900" indent="-342900">
              <a:buFont typeface="Wingdings"/>
              <a:buChar char=""/>
              <a:defRPr/>
            </a:pPr>
            <a:r>
              <a:rPr lang="en-US" sz="2400"/>
              <a:t>The federal government requires its departments to use DSA, RSA, or the elliptic curve digital signature algorithm (ECDSA) and SHA.</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0189024"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896454034" name="Text Box 1"/>
          <p:cNvSpPr txBox="1"/>
          <p:nvPr/>
        </p:nvSpPr>
        <p:spPr bwMode="auto">
          <a:xfrm>
            <a:off x="457200" y="723900"/>
            <a:ext cx="8430260" cy="6000750"/>
          </a:xfrm>
          <a:prstGeom prst="rect">
            <a:avLst/>
          </a:prstGeom>
          <a:noFill/>
        </p:spPr>
        <p:txBody>
          <a:bodyPr wrap="square" rtlCol="0">
            <a:spAutoFit/>
          </a:bodyPr>
          <a:p>
            <a:pPr marL="342900" indent="-342900">
              <a:buFont typeface="Wingdings"/>
              <a:buChar char=""/>
              <a:defRPr/>
            </a:pPr>
            <a:r>
              <a:rPr lang="en-US" sz="2400" b="1"/>
              <a:t>Public Key Infrastructure</a:t>
            </a:r>
            <a:endParaRPr lang="en-US" sz="2400" b="1"/>
          </a:p>
          <a:p>
            <a:pPr marL="342900" indent="-342900">
              <a:buFont typeface="Wingdings"/>
              <a:buChar char=""/>
              <a:defRPr/>
            </a:pPr>
            <a:endParaRPr lang="en-US" sz="2400" b="1"/>
          </a:p>
          <a:p>
            <a:pPr marL="342900" indent="-342900">
              <a:buFont typeface="Wingdings"/>
              <a:buChar char=""/>
              <a:defRPr/>
            </a:pPr>
            <a:r>
              <a:rPr lang="en-US" sz="2400"/>
              <a:t>Public key infrastructure (PKI) consists of programs, data formats, procedures, communication protocols, security policies, and public key cryptographic mechanisms working in a comprehensive manner to enable a wide range of dispersed people to communicate in a secure and predictable fashion. </a:t>
            </a:r>
            <a:endParaRPr lang="en-US" sz="2400"/>
          </a:p>
          <a:p>
            <a:pPr marL="342900" indent="-342900">
              <a:buFont typeface="Wingdings"/>
              <a:buChar char=""/>
              <a:defRPr/>
            </a:pPr>
            <a:endParaRPr lang="en-US" sz="2400"/>
          </a:p>
          <a:p>
            <a:pPr marL="342900" indent="-342900">
              <a:buFont typeface="Wingdings"/>
              <a:buChar char=""/>
              <a:defRPr/>
            </a:pPr>
            <a:r>
              <a:rPr lang="en-US" sz="2400"/>
              <a:t>PKI is an ISO authentication framework that uses public key cryptography and the X.509 standard. </a:t>
            </a:r>
            <a:endParaRPr lang="en-US" sz="2400"/>
          </a:p>
          <a:p>
            <a:pPr marL="342900" indent="-342900">
              <a:buFont typeface="Wingdings"/>
              <a:buChar char=""/>
              <a:defRPr/>
            </a:pPr>
            <a:endParaRPr lang="en-US" sz="2400"/>
          </a:p>
          <a:p>
            <a:pPr marL="342900" indent="-342900">
              <a:buFont typeface="Wingdings"/>
              <a:buChar char=""/>
              <a:defRPr/>
            </a:pPr>
            <a:r>
              <a:rPr lang="en-US" sz="2400"/>
              <a:t>The framework was set up to enable authentication to happen across different networks and the Internet. </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9697161"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573844824" name="Text Box 1"/>
          <p:cNvSpPr txBox="1"/>
          <p:nvPr/>
        </p:nvSpPr>
        <p:spPr bwMode="auto">
          <a:xfrm>
            <a:off x="457200" y="723900"/>
            <a:ext cx="8430260" cy="6000750"/>
          </a:xfrm>
          <a:prstGeom prst="rect">
            <a:avLst/>
          </a:prstGeom>
          <a:noFill/>
        </p:spPr>
        <p:txBody>
          <a:bodyPr wrap="square" rtlCol="0">
            <a:spAutoFit/>
          </a:bodyPr>
          <a:p>
            <a:pPr marL="342900" indent="-342900">
              <a:buFont typeface="Wingdings"/>
              <a:buChar char=""/>
              <a:defRPr/>
            </a:pPr>
            <a:r>
              <a:rPr lang="en-US" sz="2400"/>
              <a:t>Particular protocols and algorithms are not specified, which is why PKI is called a framework and not a specific technology.</a:t>
            </a:r>
            <a:endParaRPr lang="en-US" sz="2400"/>
          </a:p>
          <a:p>
            <a:pPr marL="342900" indent="-342900">
              <a:buFont typeface="Wingdings"/>
              <a:buChar char=""/>
              <a:defRPr/>
            </a:pPr>
            <a:endParaRPr lang="en-US" sz="2400"/>
          </a:p>
          <a:p>
            <a:pPr marL="342900" indent="-342900">
              <a:buFont typeface="Wingdings"/>
              <a:buChar char=""/>
              <a:defRPr/>
            </a:pPr>
            <a:r>
              <a:rPr lang="en-US" sz="2400"/>
              <a:t>PKI provides authentication, confidentiality, nonrepudiation, and integrity of the messages exchanged. </a:t>
            </a:r>
            <a:endParaRPr lang="en-US" sz="2400"/>
          </a:p>
          <a:p>
            <a:pPr marL="342900" indent="-342900">
              <a:buFont typeface="Wingdings"/>
              <a:buChar char=""/>
              <a:defRPr/>
            </a:pPr>
            <a:endParaRPr lang="en-US" sz="2400"/>
          </a:p>
          <a:p>
            <a:pPr marL="342900" indent="-342900">
              <a:buFont typeface="Wingdings"/>
              <a:buChar char=""/>
              <a:defRPr/>
            </a:pPr>
            <a:r>
              <a:rPr lang="en-US" sz="2400"/>
              <a:t>It is a hybrid system of symmetric and asymmetric key algorithms and methods, </a:t>
            </a:r>
            <a:endParaRPr lang="en-US" sz="2400"/>
          </a:p>
          <a:p>
            <a:pPr marL="342900" indent="-342900">
              <a:buFont typeface="Wingdings"/>
              <a:buChar char=""/>
              <a:defRPr/>
            </a:pPr>
            <a:endParaRPr lang="en-US" sz="2400"/>
          </a:p>
          <a:p>
            <a:pPr marL="342900" indent="-342900">
              <a:buFont typeface="Wingdings"/>
              <a:buChar char=""/>
              <a:defRPr/>
            </a:pPr>
            <a:r>
              <a:rPr lang="en-US" sz="2400"/>
              <a:t>PKI is made up of many different parts:</a:t>
            </a:r>
            <a:endParaRPr lang="en-US" sz="2400"/>
          </a:p>
          <a:p>
            <a:pPr marL="342900" indent="-342900">
              <a:buFont typeface="Wingdings"/>
              <a:buChar char=""/>
              <a:defRPr/>
            </a:pPr>
            <a:endParaRPr lang="en-US" sz="2400"/>
          </a:p>
          <a:p>
            <a:pPr marL="342900" indent="-342900">
              <a:buFont typeface="Wingdings"/>
              <a:buChar char=""/>
              <a:defRPr/>
            </a:pPr>
            <a:r>
              <a:rPr lang="en-US" sz="2400" b="1"/>
              <a:t>certificate authorities, registration authorities, certificates, keys, and users.</a:t>
            </a:r>
            <a:endParaRPr lang="en-US" sz="2400" b="1"/>
          </a:p>
          <a:p>
            <a:pPr marL="342900" indent="-342900">
              <a:buFont typeface="Wingdings"/>
              <a:buChar char=""/>
              <a:defRPr/>
            </a:pPr>
            <a:endParaRPr lang="en-US" sz="2400" b="1"/>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2658290"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92983357"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b="1"/>
              <a:t>Certificate Authorities</a:t>
            </a:r>
            <a:endParaRPr lang="en-US" sz="2400" b="1"/>
          </a:p>
          <a:p>
            <a:pPr marL="342900" indent="-342900">
              <a:buFont typeface="Wingdings"/>
              <a:buChar char=""/>
              <a:defRPr/>
            </a:pPr>
            <a:endParaRPr lang="en-US" sz="2400"/>
          </a:p>
          <a:p>
            <a:pPr marL="342900" indent="-342900">
              <a:buFont typeface="Wingdings"/>
              <a:buChar char=""/>
              <a:defRPr/>
            </a:pPr>
            <a:r>
              <a:rPr lang="en-US" sz="2400"/>
              <a:t>Each person who wants to participate in a PKI requires a digital certificate, which is a credential that contains the public key for that individual along with other identifying information.</a:t>
            </a:r>
            <a:endParaRPr lang="en-US" sz="2400"/>
          </a:p>
          <a:p>
            <a:pPr marL="342900" indent="-342900">
              <a:buFont typeface="Wingdings"/>
              <a:buChar char=""/>
              <a:defRPr/>
            </a:pPr>
            <a:endParaRPr lang="en-US" sz="2400"/>
          </a:p>
          <a:p>
            <a:pPr marL="342900" indent="-342900">
              <a:buFont typeface="Wingdings"/>
              <a:buChar char=""/>
              <a:defRPr/>
            </a:pPr>
            <a:r>
              <a:rPr lang="en-US" sz="2400"/>
              <a:t>The certificate is created and signed (digital signature) by a trusted third party, which is a certificate authority (CA). </a:t>
            </a:r>
            <a:endParaRPr lang="en-US" sz="2400"/>
          </a:p>
          <a:p>
            <a:pPr marL="342900" indent="-342900">
              <a:buFont typeface="Wingdings"/>
              <a:buChar char=""/>
              <a:defRPr/>
            </a:pPr>
            <a:endParaRPr lang="en-US" sz="2400"/>
          </a:p>
          <a:p>
            <a:pPr marL="342900" indent="-342900">
              <a:buFont typeface="Wingdings"/>
              <a:buChar char=""/>
              <a:defRPr/>
            </a:pPr>
            <a:r>
              <a:rPr lang="en-US" sz="2400"/>
              <a:t>When the CA signs the certificate, it binds the individual’s identity to the public key, and the CA takes liability for the authenticity of that individual. </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2974922"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279145829"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a:t>It is this trusted third party (the CA) that allows people who have never met to authenticate to each other and to communicate in a secure method.</a:t>
            </a:r>
            <a:endParaRPr lang="en-US" sz="2400"/>
          </a:p>
          <a:p>
            <a:pPr marL="342900" indent="-342900">
              <a:buFont typeface="Wingdings"/>
              <a:buChar char=""/>
              <a:defRPr/>
            </a:pPr>
            <a:endParaRPr lang="en-US" sz="2400"/>
          </a:p>
          <a:p>
            <a:pPr marL="342900" indent="-342900">
              <a:buFont typeface="Wingdings"/>
              <a:buChar char=""/>
              <a:defRPr/>
            </a:pPr>
            <a:r>
              <a:rPr lang="en-US" sz="2400"/>
              <a:t>A CA is a trusted organization (or server) that maintains and issues digital certificates.</a:t>
            </a:r>
            <a:endParaRPr lang="en-US" sz="2400"/>
          </a:p>
          <a:p>
            <a:pPr marL="342900" indent="-342900">
              <a:buFont typeface="Wingdings"/>
              <a:buChar char=""/>
              <a:defRPr/>
            </a:pPr>
            <a:endParaRPr lang="en-US" sz="2400"/>
          </a:p>
          <a:p>
            <a:pPr marL="342900" indent="-342900">
              <a:buFont typeface="Wingdings"/>
              <a:buChar char=""/>
              <a:defRPr/>
            </a:pPr>
            <a:r>
              <a:rPr lang="en-US" sz="2400"/>
              <a:t>When a person requests a certificate, the registration authority (RA) verifies that individual’s identity and passes the certificate request off to the CA. </a:t>
            </a:r>
            <a:endParaRPr lang="en-US" sz="2400"/>
          </a:p>
          <a:p>
            <a:pPr marL="342900" indent="-342900">
              <a:buFont typeface="Wingdings"/>
              <a:buChar char=""/>
              <a:defRPr/>
            </a:pPr>
            <a:endParaRPr lang="en-US" sz="2400"/>
          </a:p>
          <a:p>
            <a:pPr marL="342900" indent="-342900">
              <a:buFont typeface="Wingdings"/>
              <a:buChar char=""/>
              <a:defRPr/>
            </a:pPr>
            <a:r>
              <a:rPr lang="en-US" sz="2400"/>
              <a:t>The CA constructs the certificate, signs it, sends it to the requester, and maintains the certificate over its lifetime.</a:t>
            </a:r>
            <a:endParaRPr lang="en-US" sz="2400"/>
          </a:p>
          <a:p>
            <a:pPr marL="342900" indent="-342900">
              <a:buFont typeface="Wingdings"/>
              <a:buChar char=""/>
              <a:defRPr/>
            </a:pPr>
            <a:endParaRPr lang="en-US" sz="2400"/>
          </a:p>
          <a:p>
            <a:pPr marL="342900" indent="-342900">
              <a:buFont typeface="Wingdings"/>
              <a:buChar char=""/>
              <a:defRPr/>
            </a:pPr>
            <a:r>
              <a:rPr lang="en-US" sz="2400"/>
              <a:t>Some well-known CAs are Entrust and VeriSign.</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811242"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041329082"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All browsers have several well-known CAs configured by default. </a:t>
            </a:r>
            <a:endParaRPr lang="en-US" sz="2400"/>
          </a:p>
          <a:p>
            <a:pPr marL="342900" indent="-342900">
              <a:buFont typeface="Wingdings"/>
              <a:buChar char=""/>
              <a:defRPr/>
            </a:pPr>
            <a:endParaRPr lang="en-US" sz="2400"/>
          </a:p>
          <a:p>
            <a:pPr marL="342900" indent="-342900">
              <a:buFont typeface="Wingdings"/>
              <a:buChar char=""/>
              <a:defRPr/>
            </a:pPr>
            <a:r>
              <a:rPr lang="en-US" sz="2400"/>
              <a:t>Most are configured to trust dozens or hundreds of CAs.</a:t>
            </a:r>
            <a:endParaRPr lang="en-US" sz="2400"/>
          </a:p>
          <a:p>
            <a:pPr marL="342900" indent="-342900">
              <a:buFont typeface="Wingdings"/>
              <a:buChar char=""/>
              <a:defRPr/>
            </a:pPr>
            <a:endParaRPr lang="en-US" sz="2400"/>
          </a:p>
          <a:p>
            <a:pPr marL="342900" indent="-342900">
              <a:buFont typeface="Wingdings"/>
              <a:buChar char=""/>
              <a:defRPr/>
            </a:pPr>
            <a:r>
              <a:rPr lang="en-US" sz="2400"/>
              <a:t>The two CAs do not have a CA above them they can both trust, so they must carry out </a:t>
            </a:r>
            <a:r>
              <a:rPr lang="en-US" sz="2400" b="1"/>
              <a:t>cross certification</a:t>
            </a:r>
            <a:r>
              <a:rPr lang="en-US" sz="2400"/>
              <a:t>. </a:t>
            </a:r>
            <a:endParaRPr lang="en-US" sz="2400"/>
          </a:p>
          <a:p>
            <a:pPr marL="342900" indent="-342900">
              <a:buFont typeface="Wingdings"/>
              <a:buChar char=""/>
              <a:defRPr/>
            </a:pPr>
            <a:endParaRPr lang="en-US" sz="2400"/>
          </a:p>
          <a:p>
            <a:pPr marL="342900" indent="-342900">
              <a:buFont typeface="Wingdings"/>
              <a:buChar char=""/>
              <a:defRPr/>
            </a:pPr>
            <a:r>
              <a:rPr lang="en-US" sz="2400" b="1"/>
              <a:t>Cross certification</a:t>
            </a:r>
            <a:r>
              <a:rPr lang="en-US" sz="2400"/>
              <a:t> is the process undertaken by CAs to establish a trust relationship in which they rely upon each other’s digital certificates and public keys as if they had issued them themselves. </a:t>
            </a:r>
            <a:endParaRPr lang="en-US" sz="2400"/>
          </a:p>
          <a:p>
            <a:pPr marL="342900" indent="-342900">
              <a:buFont typeface="Wingdings"/>
              <a:buChar char=""/>
              <a:defRPr/>
            </a:pPr>
            <a:endParaRPr lang="en-US" sz="2400"/>
          </a:p>
          <a:p>
            <a:pPr marL="342900" indent="-342900">
              <a:buFont typeface="Wingdings"/>
              <a:buChar char=""/>
              <a:defRPr/>
            </a:pPr>
            <a:r>
              <a:rPr lang="en-US" sz="2400"/>
              <a:t>The CA is responsible for creating and handing out certificates, maintaining them, and revoking them if necessary.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99616801"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2139735296"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a:t>Revocation is handled by the CA, and the revoked certificate information is stored on a certificate revocation list (CRL).</a:t>
            </a:r>
            <a:endParaRPr lang="en-US" sz="2400"/>
          </a:p>
          <a:p>
            <a:pPr marL="342900" indent="-342900">
              <a:buFont typeface="Wingdings"/>
              <a:buChar char=""/>
              <a:defRPr/>
            </a:pPr>
            <a:endParaRPr lang="en-US" sz="2400"/>
          </a:p>
          <a:p>
            <a:pPr marL="342900" indent="-342900">
              <a:buFont typeface="Wingdings"/>
              <a:buChar char=""/>
              <a:defRPr/>
            </a:pPr>
            <a:r>
              <a:rPr lang="en-US" sz="2400"/>
              <a:t>This is a list of every certificate that has been revoked.</a:t>
            </a:r>
            <a:endParaRPr lang="en-US" sz="2400"/>
          </a:p>
          <a:p>
            <a:pPr marL="342900" indent="-342900">
              <a:buFont typeface="Wingdings"/>
              <a:buChar char=""/>
              <a:defRPr/>
            </a:pPr>
            <a:endParaRPr lang="en-US" sz="2400"/>
          </a:p>
          <a:p>
            <a:pPr marL="342900" indent="-342900">
              <a:buFont typeface="Wingdings"/>
              <a:buChar char=""/>
              <a:defRPr/>
            </a:pPr>
            <a:r>
              <a:rPr lang="en-US" sz="2400"/>
              <a:t>This list is maintained and updated periodically. </a:t>
            </a:r>
            <a:endParaRPr lang="en-US" sz="2400"/>
          </a:p>
          <a:p>
            <a:pPr marL="342900" indent="-342900">
              <a:buFont typeface="Wingdings"/>
              <a:buChar char=""/>
              <a:defRPr/>
            </a:pPr>
            <a:endParaRPr lang="en-US" sz="2400"/>
          </a:p>
          <a:p>
            <a:pPr marL="342900" indent="-342900">
              <a:buFont typeface="Wingdings"/>
              <a:buChar char=""/>
              <a:defRPr/>
            </a:pPr>
            <a:r>
              <a:rPr lang="en-US" sz="2400"/>
              <a:t>A certificate may be revoked because the key holder’s private key was compromised or because the CA discovered the certificate was issued to the wrong person.</a:t>
            </a:r>
            <a:endParaRPr lang="en-US" sz="2400"/>
          </a:p>
          <a:p>
            <a:pPr marL="342900" indent="-342900">
              <a:buFont typeface="Wingdings"/>
              <a:buChar char=""/>
              <a:defRPr/>
            </a:pPr>
            <a:endParaRPr lang="en-US" sz="2400"/>
          </a:p>
          <a:p>
            <a:pPr marL="342900" indent="-342900">
              <a:buFont typeface="Wingdings"/>
              <a:buChar char=""/>
              <a:defRPr/>
            </a:pPr>
            <a:r>
              <a:rPr lang="en-US" sz="2400"/>
              <a:t>By default, web browsers do not check a CRL to ensure that a certificate is not revoked.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227894"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692752542"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So when you are setting up an SSL connection to do e-commerce over the Internet, you could be relying on a certificate that has actually been revoked. </a:t>
            </a:r>
            <a:endParaRPr lang="en-US" sz="2400"/>
          </a:p>
          <a:p>
            <a:pPr marL="342900" indent="-342900">
              <a:buFont typeface="Wingdings"/>
              <a:buChar char=""/>
              <a:defRPr/>
            </a:pPr>
            <a:endParaRPr lang="en-US" sz="2400"/>
          </a:p>
          <a:p>
            <a:pPr marL="342900" indent="-342900">
              <a:buFont typeface="Wingdings"/>
              <a:buChar char=""/>
              <a:defRPr/>
            </a:pPr>
            <a:r>
              <a:rPr lang="en-US" sz="2400" b="1"/>
              <a:t>Online Certificate Status Protocol (OCSP)</a:t>
            </a:r>
            <a:r>
              <a:rPr lang="en-US" sz="2400"/>
              <a:t> is being used more and more rather than the cumbersome CRL approach. </a:t>
            </a:r>
            <a:endParaRPr lang="en-US" sz="2400"/>
          </a:p>
          <a:p>
            <a:pPr marL="342900" indent="-342900">
              <a:buFont typeface="Wingdings"/>
              <a:buChar char=""/>
              <a:defRPr/>
            </a:pPr>
            <a:endParaRPr lang="en-US" sz="2400"/>
          </a:p>
          <a:p>
            <a:pPr marL="342900" indent="-342900">
              <a:buFont typeface="Wingdings"/>
              <a:buChar char=""/>
              <a:defRPr/>
            </a:pPr>
            <a:r>
              <a:rPr lang="en-US" sz="2400"/>
              <a:t>When using just a CRL, either the user’s browser must check a central CRL to find out if the certification has been revoked, or the CA has to continually push out CRL values to the clients to ensure they have an updated CRL.</a:t>
            </a:r>
            <a:endParaRPr lang="en-US" sz="2400"/>
          </a:p>
          <a:p>
            <a:pPr marL="342900" indent="-342900">
              <a:buFont typeface="Wingdings"/>
              <a:buChar char=""/>
              <a:defRPr/>
            </a:pPr>
            <a:endParaRPr lang="en-US" sz="2400"/>
          </a:p>
          <a:p>
            <a:pPr marL="342900" indent="-342900">
              <a:buFont typeface="Wingdings"/>
              <a:buChar char=""/>
              <a:defRPr/>
            </a:pPr>
            <a:r>
              <a:rPr lang="en-US" sz="2400"/>
              <a:t>If OCSP is implemented, it does this work automatically in the background.</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6886865"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192456745"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It carries out real-time validation of a certificate and reports back to the user whether the certificate is valid, invalid, or unknown. </a:t>
            </a:r>
            <a:endParaRPr lang="en-US" sz="2400"/>
          </a:p>
          <a:p>
            <a:pPr marL="342900" indent="-342900">
              <a:buFont typeface="Wingdings"/>
              <a:buChar char=""/>
              <a:defRPr/>
            </a:pPr>
            <a:endParaRPr lang="en-US" sz="2400"/>
          </a:p>
          <a:p>
            <a:pPr marL="342900" indent="-342900">
              <a:buFont typeface="Wingdings"/>
              <a:buChar char=""/>
              <a:defRPr/>
            </a:pPr>
            <a:r>
              <a:rPr lang="en-US" sz="2400"/>
              <a:t>OCSP checks the CRL that is maintained by the CA.</a:t>
            </a:r>
            <a:endParaRPr lang="en-US" sz="2400"/>
          </a:p>
          <a:p>
            <a:pPr marL="342900" indent="-342900">
              <a:buFont typeface="Wingdings"/>
              <a:buChar char=""/>
              <a:defRPr/>
            </a:pPr>
            <a:endParaRPr lang="en-US" sz="2400"/>
          </a:p>
          <a:p>
            <a:pPr marL="342900" indent="-342900">
              <a:buFont typeface="Wingdings"/>
              <a:buChar char=""/>
              <a:defRPr/>
            </a:pPr>
            <a:r>
              <a:rPr lang="en-US" sz="2400" b="1"/>
              <a:t>Certificates</a:t>
            </a:r>
            <a:endParaRPr lang="en-US" sz="2400" b="1"/>
          </a:p>
          <a:p>
            <a:pPr marL="342900" indent="-342900">
              <a:buFont typeface="Wingdings"/>
              <a:buChar char=""/>
              <a:defRPr/>
            </a:pPr>
            <a:endParaRPr lang="en-US" sz="2400"/>
          </a:p>
          <a:p>
            <a:pPr marL="342900" indent="-342900">
              <a:buFont typeface="Wingdings"/>
              <a:buChar char=""/>
              <a:defRPr/>
            </a:pPr>
            <a:r>
              <a:rPr lang="en-US" sz="2400"/>
              <a:t>One of the most important pieces of a PKI is its digital certificate. </a:t>
            </a:r>
            <a:endParaRPr lang="en-US" sz="2400"/>
          </a:p>
          <a:p>
            <a:pPr marL="342900" indent="-342900">
              <a:buFont typeface="Wingdings"/>
              <a:buChar char=""/>
              <a:defRPr/>
            </a:pPr>
            <a:endParaRPr lang="en-US" sz="2400"/>
          </a:p>
          <a:p>
            <a:pPr marL="342900" indent="-342900">
              <a:buFont typeface="Wingdings"/>
              <a:buChar char=""/>
              <a:defRPr/>
            </a:pPr>
            <a:r>
              <a:rPr lang="en-US" sz="2400"/>
              <a:t>A certificate is the mechanism used to associate a public key with a collection of components in a manner that is sufficient to uniquely identify the claimed owner.</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8915734" name="Title 14337" descr="512a190070e642d880be1a6e74542f0b# #矩形 157"/>
          <p:cNvSpPr>
            <a:spLocks noGrp="1"/>
          </p:cNvSpPr>
          <p:nvPr>
            <p:ph type="title"/>
          </p:nvPr>
        </p:nvSpPr>
        <p:spPr bwMode="auto">
          <a:xfrm>
            <a:off x="457200" y="274955"/>
            <a:ext cx="8229600" cy="435610"/>
          </a:xfrm>
        </p:spPr>
        <p:txBody>
          <a:bodyPr anchor="ctr"/>
          <a:p>
            <a:pPr>
              <a:defRPr/>
            </a:pPr>
            <a:r>
              <a:rPr lang="en-US" sz="3200"/>
              <a:t>Cryptography</a:t>
            </a:r>
            <a:endParaRPr lang="en-US" sz="3200"/>
          </a:p>
        </p:txBody>
      </p:sp>
      <p:sp>
        <p:nvSpPr>
          <p:cNvPr id="283411583" name="Text Box 1"/>
          <p:cNvSpPr txBox="1"/>
          <p:nvPr/>
        </p:nvSpPr>
        <p:spPr bwMode="auto">
          <a:xfrm>
            <a:off x="457200" y="723900"/>
            <a:ext cx="8139430" cy="2306955"/>
          </a:xfrm>
          <a:prstGeom prst="rect">
            <a:avLst/>
          </a:prstGeom>
          <a:noFill/>
        </p:spPr>
        <p:txBody>
          <a:bodyPr wrap="square" rtlCol="0">
            <a:spAutoFit/>
          </a:bodyPr>
          <a:p>
            <a:pPr marL="342900" indent="-342900">
              <a:buFont typeface="Wingdings"/>
              <a:buChar char=""/>
              <a:defRPr/>
            </a:pPr>
            <a:r>
              <a:rPr lang="en-US" sz="2400"/>
              <a:t>The standard for how the CA creates the certificate is X.509, which dictates the different fields used in the certificate and the valid values that can populate those fields.</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pic>
        <p:nvPicPr>
          <p:cNvPr id="452103438" name="Content Placeholder 2"/>
          <p:cNvPicPr>
            <a:picLocks noChangeAspect="1"/>
          </p:cNvPicPr>
          <p:nvPr>
            <p:ph idx="1"/>
          </p:nvPr>
        </p:nvPicPr>
        <p:blipFill rotWithShape="1">
          <a:blip r:embed="rId3"/>
          <a:stretch/>
        </p:blipFill>
        <p:spPr bwMode="auto">
          <a:xfrm>
            <a:off x="457200" y="2353310"/>
            <a:ext cx="7867015" cy="403987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0727420"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250863941" name="Text Box 1"/>
          <p:cNvSpPr txBox="1"/>
          <p:nvPr/>
        </p:nvSpPr>
        <p:spPr bwMode="auto">
          <a:xfrm>
            <a:off x="457200" y="723900"/>
            <a:ext cx="8497570" cy="6000750"/>
          </a:xfrm>
          <a:prstGeom prst="rect">
            <a:avLst/>
          </a:prstGeom>
          <a:noFill/>
        </p:spPr>
        <p:txBody>
          <a:bodyPr wrap="square" rtlCol="0">
            <a:spAutoFit/>
          </a:bodyPr>
          <a:p>
            <a:pPr marL="342900" indent="-342900">
              <a:buFont typeface="Wingdings"/>
              <a:buChar char=""/>
              <a:defRPr/>
            </a:pPr>
            <a:r>
              <a:rPr lang="en-US" sz="2400" b="1"/>
              <a:t>The Registration Authority</a:t>
            </a:r>
            <a:endParaRPr lang="en-US" sz="2400" b="1"/>
          </a:p>
          <a:p>
            <a:pPr marL="342900" indent="-342900">
              <a:buFont typeface="Wingdings"/>
              <a:buChar char=""/>
              <a:defRPr/>
            </a:pPr>
            <a:endParaRPr lang="en-US" sz="2400" b="1"/>
          </a:p>
          <a:p>
            <a:pPr marL="342900" indent="-342900">
              <a:buFont typeface="Wingdings"/>
              <a:buChar char=""/>
              <a:defRPr/>
            </a:pPr>
            <a:r>
              <a:rPr lang="en-US" sz="2400"/>
              <a:t>The registration authority (RA) performs the certification registration duties. </a:t>
            </a:r>
            <a:endParaRPr lang="en-US" sz="2400"/>
          </a:p>
          <a:p>
            <a:pPr marL="342900" indent="-342900">
              <a:buFont typeface="Wingdings"/>
              <a:buChar char=""/>
              <a:defRPr/>
            </a:pPr>
            <a:endParaRPr lang="en-US" sz="2400"/>
          </a:p>
          <a:p>
            <a:pPr marL="342900" indent="-342900">
              <a:buFont typeface="Wingdings"/>
              <a:buChar char=""/>
              <a:defRPr/>
            </a:pPr>
            <a:r>
              <a:rPr lang="en-US" sz="2400"/>
              <a:t>The RA establishes and confirms the identity of an individual, initiates the certification process with a CA on behalf of an end user, and performs certificate life-cycle management functions. </a:t>
            </a:r>
            <a:endParaRPr lang="en-US" sz="2400"/>
          </a:p>
          <a:p>
            <a:pPr marL="342900" indent="-342900">
              <a:buFont typeface="Wingdings"/>
              <a:buChar char=""/>
              <a:defRPr/>
            </a:pPr>
            <a:endParaRPr lang="en-US" sz="2400"/>
          </a:p>
          <a:p>
            <a:pPr marL="342900" indent="-342900">
              <a:buFont typeface="Wingdings"/>
              <a:buChar char=""/>
              <a:defRPr/>
            </a:pPr>
            <a:r>
              <a:rPr lang="en-US" sz="2400"/>
              <a:t>The RA cannot issue certificates, but can act as a broker between the user and the CA. </a:t>
            </a:r>
            <a:endParaRPr lang="en-US" sz="2400"/>
          </a:p>
          <a:p>
            <a:pPr marL="342900" indent="-342900">
              <a:buFont typeface="Wingdings"/>
              <a:buChar char=""/>
              <a:defRPr/>
            </a:pPr>
            <a:endParaRPr lang="en-US" sz="2400"/>
          </a:p>
          <a:p>
            <a:pPr marL="342900" indent="-342900">
              <a:buFont typeface="Wingdings"/>
              <a:buChar char=""/>
              <a:defRPr/>
            </a:pPr>
            <a:r>
              <a:rPr lang="en-US" sz="2400"/>
              <a:t>When users need new certificates, they make requests to the RA, and the RA verifies all necessary identification information before allowing a request to go to the CA.</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1575486"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182588166" name="Text Box 1"/>
          <p:cNvSpPr txBox="1"/>
          <p:nvPr/>
        </p:nvSpPr>
        <p:spPr bwMode="auto">
          <a:xfrm>
            <a:off x="457200" y="723900"/>
            <a:ext cx="8430260" cy="6000750"/>
          </a:xfrm>
          <a:prstGeom prst="rect">
            <a:avLst/>
          </a:prstGeom>
          <a:noFill/>
        </p:spPr>
        <p:txBody>
          <a:bodyPr wrap="square" rtlCol="0">
            <a:spAutoFit/>
          </a:bodyPr>
          <a:p>
            <a:pPr marL="342900" indent="-342900">
              <a:buFont typeface="Wingdings"/>
              <a:buChar char=""/>
              <a:defRPr/>
            </a:pPr>
            <a:r>
              <a:rPr lang="en-US" sz="2400"/>
              <a:t>A PKI may be made up of the following entities and functions:</a:t>
            </a:r>
            <a:endParaRPr lang="en-US" sz="2400"/>
          </a:p>
          <a:p>
            <a:pPr marL="342900" indent="-342900">
              <a:buFont typeface="Wingdings"/>
              <a:buChar char=""/>
              <a:defRPr/>
            </a:pPr>
            <a:endParaRPr lang="en-US" sz="2400"/>
          </a:p>
          <a:p>
            <a:pPr marL="800100" lvl="1" indent="-342900">
              <a:buFont typeface="Wingdings"/>
              <a:buChar char=""/>
              <a:defRPr/>
            </a:pPr>
            <a:r>
              <a:rPr lang="en-US" sz="2400"/>
              <a:t>Certification authority</a:t>
            </a:r>
            <a:endParaRPr lang="en-US" sz="2400"/>
          </a:p>
          <a:p>
            <a:pPr marL="800100" lvl="1" indent="-342900">
              <a:buFont typeface="Wingdings"/>
              <a:buChar char=""/>
              <a:defRPr/>
            </a:pPr>
            <a:r>
              <a:rPr lang="en-US" sz="2400"/>
              <a:t>Registration authority</a:t>
            </a:r>
            <a:endParaRPr lang="en-US" sz="2400"/>
          </a:p>
          <a:p>
            <a:pPr marL="800100" lvl="1" indent="-342900">
              <a:buFont typeface="Wingdings"/>
              <a:buChar char=""/>
              <a:defRPr/>
            </a:pPr>
            <a:r>
              <a:rPr lang="en-US" sz="2400"/>
              <a:t>Certificate repository</a:t>
            </a:r>
            <a:endParaRPr lang="en-US" sz="2400"/>
          </a:p>
          <a:p>
            <a:pPr marL="800100" lvl="1" indent="-342900">
              <a:buFont typeface="Wingdings"/>
              <a:buChar char=""/>
              <a:defRPr/>
            </a:pPr>
            <a:r>
              <a:rPr lang="en-US" sz="2400"/>
              <a:t>Certificate revocation system</a:t>
            </a:r>
            <a:endParaRPr lang="en-US" sz="2400"/>
          </a:p>
          <a:p>
            <a:pPr marL="800100" lvl="1" indent="-342900">
              <a:buFont typeface="Wingdings"/>
              <a:buChar char=""/>
              <a:defRPr/>
            </a:pPr>
            <a:r>
              <a:rPr lang="en-US" sz="2400"/>
              <a:t>Key backup and recovery system</a:t>
            </a:r>
            <a:endParaRPr lang="en-US" sz="2400"/>
          </a:p>
          <a:p>
            <a:pPr marL="800100" lvl="1" indent="-342900">
              <a:buFont typeface="Wingdings"/>
              <a:buChar char=""/>
              <a:defRPr/>
            </a:pPr>
            <a:r>
              <a:rPr lang="en-US" sz="2400"/>
              <a:t>Automatic key update</a:t>
            </a:r>
            <a:endParaRPr lang="en-US" sz="2400"/>
          </a:p>
          <a:p>
            <a:pPr marL="800100" lvl="1" indent="-342900">
              <a:buFont typeface="Wingdings"/>
              <a:buChar char=""/>
              <a:defRPr/>
            </a:pPr>
            <a:r>
              <a:rPr lang="en-US" sz="2400"/>
              <a:t>Management of key histories</a:t>
            </a:r>
            <a:endParaRPr lang="en-US" sz="2400"/>
          </a:p>
          <a:p>
            <a:pPr marL="800100" lvl="1" indent="-342900">
              <a:buFont typeface="Wingdings"/>
              <a:buChar char=""/>
              <a:defRPr/>
            </a:pPr>
            <a:r>
              <a:rPr lang="en-US" sz="2400"/>
              <a:t>Timestamping</a:t>
            </a:r>
            <a:endParaRPr lang="en-US" sz="2400"/>
          </a:p>
          <a:p>
            <a:pPr marL="800100" lvl="1" indent="-342900">
              <a:buFont typeface="Wingdings"/>
              <a:buChar char=""/>
              <a:defRPr/>
            </a:pPr>
            <a:r>
              <a:rPr lang="en-US" sz="2400"/>
              <a:t>Client-side software</a:t>
            </a:r>
            <a:endParaRPr lang="en-US" sz="2400"/>
          </a:p>
          <a:p>
            <a:pPr marL="800100" lvl="1" indent="-342900">
              <a:buFont typeface="Wingdings"/>
              <a:buChar char=""/>
              <a:defRPr/>
            </a:pPr>
            <a:endParaRPr lang="en-US" sz="2400"/>
          </a:p>
          <a:p>
            <a:pPr marL="342900" lvl="0" indent="-342900">
              <a:buFont typeface="Wingdings"/>
              <a:buChar char=""/>
              <a:defRPr/>
            </a:pPr>
            <a:r>
              <a:rPr lang="en-US" sz="2400"/>
              <a:t>Another important component that must be integrated into a PKI is a reliable time source that provides a way for secure timestamping. </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0180092" name="Title 14337" descr="512a190070e642d880be1a6e74542f0b# #矩形 157"/>
          <p:cNvSpPr>
            <a:spLocks noGrp="1"/>
          </p:cNvSpPr>
          <p:nvPr>
            <p:ph type="title"/>
          </p:nvPr>
        </p:nvSpPr>
        <p:spPr bwMode="auto">
          <a:xfrm>
            <a:off x="457200" y="142240"/>
            <a:ext cx="8229600" cy="436245"/>
          </a:xfrm>
        </p:spPr>
        <p:txBody>
          <a:bodyPr anchor="ctr"/>
          <a:p>
            <a:pPr>
              <a:defRPr/>
            </a:pPr>
            <a:r>
              <a:rPr lang="en-US" sz="3200"/>
              <a:t>Cryptography</a:t>
            </a:r>
            <a:endParaRPr lang="en-US" sz="3200"/>
          </a:p>
        </p:txBody>
      </p:sp>
      <p:sp>
        <p:nvSpPr>
          <p:cNvPr id="2091639671" name="Text Box 1"/>
          <p:cNvSpPr txBox="1"/>
          <p:nvPr/>
        </p:nvSpPr>
        <p:spPr bwMode="auto">
          <a:xfrm>
            <a:off x="457200" y="578485"/>
            <a:ext cx="8470900" cy="6369685"/>
          </a:xfrm>
          <a:prstGeom prst="rect">
            <a:avLst/>
          </a:prstGeom>
          <a:noFill/>
        </p:spPr>
        <p:txBody>
          <a:bodyPr wrap="square" rtlCol="0">
            <a:spAutoFit/>
          </a:bodyPr>
          <a:p>
            <a:pPr marL="342900" indent="-342900">
              <a:buFont typeface="Wingdings"/>
              <a:buChar char=""/>
              <a:defRPr/>
            </a:pPr>
            <a:r>
              <a:rPr lang="en-US" sz="2400"/>
              <a:t>Trusted Platform Module</a:t>
            </a:r>
            <a:endParaRPr lang="en-US" sz="2400"/>
          </a:p>
          <a:p>
            <a:pPr marL="342900" indent="-342900">
              <a:buFont typeface="Wingdings"/>
              <a:buChar char=""/>
              <a:defRPr/>
            </a:pPr>
            <a:endParaRPr lang="en-US" sz="2400"/>
          </a:p>
          <a:p>
            <a:pPr marL="342900" indent="-342900">
              <a:buFont typeface="Wingdings"/>
              <a:buChar char=""/>
              <a:defRPr/>
            </a:pPr>
            <a:r>
              <a:rPr lang="en-US" sz="2400"/>
              <a:t>The Trusted Platform Module (TPM) is a microchip installed on the motherboard of modern computers and is dedicated to carrying out security functions that involve the storage and processing of symmetric and asymmetric keys, hashes, and digital certificates.</a:t>
            </a:r>
            <a:endParaRPr lang="en-US" sz="2400"/>
          </a:p>
          <a:p>
            <a:pPr marL="342900" indent="-342900">
              <a:buFont typeface="Wingdings"/>
              <a:buChar char=""/>
              <a:defRPr/>
            </a:pPr>
            <a:endParaRPr lang="en-US" sz="2400"/>
          </a:p>
          <a:p>
            <a:pPr marL="342900" indent="-342900">
              <a:buFont typeface="Wingdings"/>
              <a:buChar char=""/>
              <a:defRPr/>
            </a:pPr>
            <a:r>
              <a:rPr lang="en-US" sz="2400"/>
              <a:t>The TPM was devised by the Trusted Computing Group (TCG), an organization that promotes open standards to help strengthen computing platforms against security weaknesses and attacks.</a:t>
            </a:r>
            <a:endParaRPr lang="en-US" sz="2400"/>
          </a:p>
          <a:p>
            <a:pPr marL="342900" indent="-342900">
              <a:buFont typeface="Wingdings"/>
              <a:buChar char=""/>
              <a:defRPr/>
            </a:pPr>
            <a:endParaRPr lang="en-US" sz="2400"/>
          </a:p>
          <a:p>
            <a:pPr marL="342900" indent="-342900">
              <a:buFont typeface="Wingdings"/>
              <a:buChar char=""/>
              <a:defRPr/>
            </a:pPr>
            <a:r>
              <a:rPr lang="en-US" sz="2400"/>
              <a:t>The essence of the TPM lies in a protected and encapsulated microcontroller security chip that provides a safe haven for storing and processing security-intensive data such as keys, passwords, and digital certificates.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5467490"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339472229"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a:t>The most common usage scenario of the TPM is to bind a hard disk drive, where the content of a given hard disk drive is affixed with a particular computing system. </a:t>
            </a:r>
            <a:endParaRPr lang="en-US" sz="2400"/>
          </a:p>
          <a:p>
            <a:pPr marL="342900" indent="-342900">
              <a:buFont typeface="Wingdings"/>
              <a:buChar char=""/>
              <a:defRPr/>
            </a:pPr>
            <a:endParaRPr lang="en-US" sz="2400"/>
          </a:p>
          <a:p>
            <a:pPr marL="342900" indent="-342900">
              <a:buFont typeface="Wingdings"/>
              <a:buChar char=""/>
              <a:defRPr/>
            </a:pPr>
            <a:r>
              <a:rPr lang="en-US" sz="2400"/>
              <a:t>The content of the hard disk drive is encrypted, and the decryption key is stored away in the TPM chip. </a:t>
            </a:r>
            <a:endParaRPr lang="en-US" sz="2400"/>
          </a:p>
          <a:p>
            <a:pPr marL="342900" indent="-342900">
              <a:buFont typeface="Wingdings"/>
              <a:buChar char=""/>
              <a:defRPr/>
            </a:pPr>
            <a:endParaRPr lang="en-US" sz="2400"/>
          </a:p>
          <a:p>
            <a:pPr marL="342900" indent="-342900">
              <a:buFont typeface="Wingdings"/>
              <a:buChar char=""/>
              <a:defRPr/>
            </a:pPr>
            <a:r>
              <a:rPr lang="en-US" sz="2400"/>
              <a:t>To ensure safe storage of the decryption key, it is further “wrapped” with another encryption key. </a:t>
            </a:r>
            <a:endParaRPr lang="en-US" sz="2400"/>
          </a:p>
          <a:p>
            <a:pPr marL="342900" indent="-342900">
              <a:buFont typeface="Wingdings"/>
              <a:buChar char=""/>
              <a:defRPr/>
            </a:pPr>
            <a:endParaRPr lang="en-US" sz="2400"/>
          </a:p>
          <a:p>
            <a:pPr marL="342900" indent="-342900">
              <a:buFont typeface="Wingdings"/>
              <a:buChar char=""/>
              <a:defRPr/>
            </a:pPr>
            <a:r>
              <a:rPr lang="en-US" sz="2400"/>
              <a:t>Another application of the TPM is sealing a system’s state to a particular hardware and software configuration. Sealing a computing system through TPM is used to deter any attempts to tamper with a system’s configurations.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4983646" name="Title 14337" descr="512a190070e642d880be1a6e74542f0b# #矩形 157"/>
          <p:cNvSpPr>
            <a:spLocks noGrp="1"/>
          </p:cNvSpPr>
          <p:nvPr>
            <p:ph type="title"/>
          </p:nvPr>
        </p:nvSpPr>
        <p:spPr bwMode="auto">
          <a:xfrm>
            <a:off x="457200" y="274955"/>
            <a:ext cx="8229600" cy="488950"/>
          </a:xfrm>
        </p:spPr>
        <p:txBody>
          <a:bodyPr anchor="ctr"/>
          <a:p>
            <a:pPr>
              <a:defRPr/>
            </a:pPr>
            <a:r>
              <a:rPr lang="en-US" sz="3200"/>
              <a:t>Cryptography</a:t>
            </a:r>
            <a:endParaRPr lang="en-US" sz="3200"/>
          </a:p>
        </p:txBody>
      </p:sp>
      <p:sp>
        <p:nvSpPr>
          <p:cNvPr id="1517993449" name="Text Box 1"/>
          <p:cNvSpPr txBox="1"/>
          <p:nvPr/>
        </p:nvSpPr>
        <p:spPr bwMode="auto">
          <a:xfrm>
            <a:off x="457200" y="723900"/>
            <a:ext cx="8139430" cy="1938020"/>
          </a:xfrm>
          <a:prstGeom prst="rect">
            <a:avLst/>
          </a:prstGeom>
          <a:noFill/>
        </p:spPr>
        <p:txBody>
          <a:bodyPr wrap="square" rtlCol="0">
            <a:spAutoFit/>
          </a:bodyPr>
          <a:p>
            <a:pPr marL="342900" indent="-342900">
              <a:buFont typeface="Wingdings"/>
              <a:buChar char=""/>
              <a:defRPr/>
            </a:pPr>
            <a:r>
              <a:rPr lang="en-US" sz="2400"/>
              <a:t>A sealed system will only be activated once the TPM verifies the integrity of the system’s configuration by comparing it with the original “sealing” value.</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pic>
        <p:nvPicPr>
          <p:cNvPr id="206763164" name="Content Placeholder 2"/>
          <p:cNvPicPr>
            <a:picLocks noChangeAspect="1"/>
          </p:cNvPicPr>
          <p:nvPr>
            <p:ph idx="1"/>
          </p:nvPr>
        </p:nvPicPr>
        <p:blipFill rotWithShape="1">
          <a:blip r:embed="rId3"/>
          <a:stretch/>
        </p:blipFill>
        <p:spPr bwMode="auto">
          <a:xfrm>
            <a:off x="457200" y="2077085"/>
            <a:ext cx="7672705" cy="44735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0689626"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298950593"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a:t>TPM’s internal memory is divided into two different segments: persistent (static) and versatile (dynamic) memory modules.</a:t>
            </a:r>
            <a:endParaRPr lang="en-US" sz="2400"/>
          </a:p>
          <a:p>
            <a:pPr marL="342900" indent="-342900">
              <a:buFont typeface="Wingdings"/>
              <a:buChar char=""/>
              <a:defRPr/>
            </a:pPr>
            <a:endParaRPr lang="en-US" sz="2400"/>
          </a:p>
          <a:p>
            <a:pPr marL="342900" indent="-342900">
              <a:buFont typeface="Wingdings"/>
              <a:buChar char=""/>
              <a:defRPr/>
            </a:pPr>
            <a:r>
              <a:rPr lang="en-US" sz="2400" b="1"/>
              <a:t>Persistent Memory</a:t>
            </a:r>
            <a:endParaRPr lang="en-US" sz="2400" b="1"/>
          </a:p>
          <a:p>
            <a:pPr marL="342900" indent="-342900">
              <a:buFont typeface="Wingdings"/>
              <a:buChar char=""/>
              <a:defRPr/>
            </a:pPr>
            <a:endParaRPr lang="en-US" sz="2400" b="1"/>
          </a:p>
          <a:p>
            <a:pPr marL="342900" indent="-342900">
              <a:buFont typeface="Wingdings"/>
              <a:buChar char=""/>
              <a:defRPr/>
            </a:pPr>
            <a:r>
              <a:rPr lang="en-US" sz="2400"/>
              <a:t>Two kinds of keys are present in the static memory:</a:t>
            </a:r>
            <a:endParaRPr lang="en-US" sz="2400"/>
          </a:p>
          <a:p>
            <a:pPr marL="342900" indent="-342900">
              <a:buFont typeface="Wingdings"/>
              <a:buChar char=""/>
              <a:defRPr/>
            </a:pPr>
            <a:r>
              <a:rPr lang="en-US" sz="2400"/>
              <a:t>E</a:t>
            </a:r>
            <a:r>
              <a:rPr lang="en-US" sz="2400" b="1"/>
              <a:t>ndorsement Key (EK)</a:t>
            </a:r>
            <a:r>
              <a:rPr lang="en-US" sz="2400"/>
              <a:t> - A public/private key pair that is installed in the TPM at the time of manufacture and cannot be modified. The private key is always present inside the TPM, while the public key is used to verify the authenticity of the TPM itself. The EK, installed in the TPM, is unique to that TPM and its platform.</a:t>
            </a:r>
            <a:endParaRPr lang="en-US" sz="2400"/>
          </a:p>
          <a:p>
            <a:pPr marL="342900" indent="-342900">
              <a:buFont typeface="Wingdings"/>
              <a:buChar char=""/>
              <a:defRPr/>
            </a:pPr>
            <a:endParaRPr lang="en-US" sz="2400"/>
          </a:p>
          <a:p>
            <a:pPr marL="342900" indent="-342900">
              <a:buFont typeface="Wingdings"/>
              <a:buChar char=""/>
              <a:defRPr/>
            </a:pPr>
            <a:r>
              <a:rPr lang="en-US" sz="2400"/>
              <a:t>S</a:t>
            </a:r>
            <a:r>
              <a:rPr lang="en-US" sz="2400" b="1"/>
              <a:t>torage Root Key (SRK)</a:t>
            </a:r>
            <a:r>
              <a:rPr lang="en-US" sz="2400"/>
              <a:t> -The master wrapping key used to secure the keys stored in the TPM.</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6672585"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076210359"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b="1"/>
              <a:t>Versatile Memory</a:t>
            </a:r>
            <a:endParaRPr lang="en-US" sz="2400" b="1"/>
          </a:p>
          <a:p>
            <a:pPr marL="342900" indent="-342900">
              <a:buFont typeface="Wingdings"/>
              <a:buChar char=""/>
              <a:defRPr/>
            </a:pPr>
            <a:endParaRPr lang="en-US" sz="2400" b="1"/>
          </a:p>
          <a:p>
            <a:pPr marL="342900" indent="-342900">
              <a:buFont typeface="Wingdings"/>
              <a:buChar char=""/>
              <a:defRPr/>
            </a:pPr>
            <a:r>
              <a:rPr lang="en-US" sz="2400"/>
              <a:t>Three kinds of keys (or values) are present in the versatile memory:</a:t>
            </a:r>
            <a:endParaRPr lang="en-US" sz="2400"/>
          </a:p>
          <a:p>
            <a:pPr marL="342900" indent="-342900">
              <a:buFont typeface="Wingdings"/>
              <a:buChar char=""/>
              <a:defRPr/>
            </a:pPr>
            <a:r>
              <a:rPr lang="en-US" sz="2400" b="1"/>
              <a:t>Attestation Identity Key (AIK) -</a:t>
            </a:r>
            <a:r>
              <a:rPr lang="en-US" sz="2400"/>
              <a:t> Used for the attestation of the TPM chip itself to service providers. The AIK is linked to the TPM’s identity at the time of development, which in turn is linked to the TPM’s Endorsement Key. Therefore, the AIK ensures the integrity of the EK.</a:t>
            </a:r>
            <a:endParaRPr lang="en-US" sz="2400"/>
          </a:p>
          <a:p>
            <a:pPr marL="342900" indent="-342900">
              <a:buFont typeface="Wingdings"/>
              <a:buChar char=""/>
              <a:defRPr/>
            </a:pPr>
            <a:r>
              <a:rPr lang="en-US" sz="2400" b="1"/>
              <a:t>Platform Configuration Registers (PCR)</a:t>
            </a:r>
            <a:r>
              <a:rPr lang="en-US" sz="2400"/>
              <a:t> - Used to store cryptographic hashes of data used for TPM’s “sealing” functionality.</a:t>
            </a:r>
            <a:endParaRPr lang="en-US" sz="2400"/>
          </a:p>
          <a:p>
            <a:pPr marL="342900" indent="-342900">
              <a:buFont typeface="Wingdings"/>
              <a:buChar char=""/>
              <a:defRPr/>
            </a:pPr>
            <a:r>
              <a:rPr lang="en-US" sz="2400" b="1"/>
              <a:t>Storage keys</a:t>
            </a:r>
            <a:r>
              <a:rPr lang="en-US" sz="2400"/>
              <a:t> - Used to encrypt the storage media of the computer system.</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2013715"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192642078" name="Text Box 1"/>
          <p:cNvSpPr txBox="1"/>
          <p:nvPr/>
        </p:nvSpPr>
        <p:spPr bwMode="auto">
          <a:xfrm>
            <a:off x="457200" y="723900"/>
            <a:ext cx="8139430" cy="6369685"/>
          </a:xfrm>
          <a:prstGeom prst="rect">
            <a:avLst/>
          </a:prstGeom>
          <a:noFill/>
        </p:spPr>
        <p:txBody>
          <a:bodyPr wrap="square" rtlCol="0">
            <a:spAutoFit/>
          </a:bodyPr>
          <a:p>
            <a:pPr marL="342900" indent="-342900">
              <a:buFont typeface="Wingdings"/>
              <a:buChar char=""/>
              <a:defRPr/>
            </a:pPr>
            <a:r>
              <a:rPr lang="en-US" sz="2400"/>
              <a:t>Attacks on Cryptography</a:t>
            </a:r>
            <a:endParaRPr lang="en-US" sz="2400"/>
          </a:p>
          <a:p>
            <a:pPr marL="342900" indent="-342900">
              <a:buFont typeface="Wingdings"/>
              <a:buChar char=""/>
              <a:defRPr/>
            </a:pPr>
            <a:endParaRPr lang="en-US" sz="2400"/>
          </a:p>
          <a:p>
            <a:pPr marL="342900" indent="-342900">
              <a:buFont typeface="Wingdings"/>
              <a:buChar char=""/>
              <a:defRPr/>
            </a:pPr>
            <a:r>
              <a:rPr lang="en-US" sz="2400"/>
              <a:t>Eavesdropping and sniffing data as it passes over a network are considered </a:t>
            </a:r>
            <a:r>
              <a:rPr lang="en-US" sz="2400" b="1"/>
              <a:t>passive attacks</a:t>
            </a:r>
            <a:r>
              <a:rPr lang="en-US" sz="2400"/>
              <a:t> because the attacker is not affecting the protocol, algorithm, key, message, or any parts of the encryption system. </a:t>
            </a:r>
            <a:endParaRPr lang="en-US" sz="2400"/>
          </a:p>
          <a:p>
            <a:pPr marL="342900" indent="-342900">
              <a:buFont typeface="Wingdings"/>
              <a:buChar char=""/>
              <a:defRPr/>
            </a:pPr>
            <a:endParaRPr lang="en-US" sz="2400"/>
          </a:p>
          <a:p>
            <a:pPr marL="342900" indent="-342900">
              <a:buFont typeface="Wingdings"/>
              <a:buChar char=""/>
              <a:defRPr/>
            </a:pPr>
            <a:r>
              <a:rPr lang="en-US" sz="2400"/>
              <a:t>Altering messages, modifying system files, and masquerading as another individual are acts that are considered </a:t>
            </a:r>
            <a:r>
              <a:rPr lang="en-US" sz="2400" b="1"/>
              <a:t>active attacks</a:t>
            </a:r>
            <a:r>
              <a:rPr lang="en-US" sz="2400"/>
              <a:t> because the attacker is actually doing something instead of sitting back and gathering data.</a:t>
            </a:r>
            <a:endParaRPr lang="en-US" sz="2400"/>
          </a:p>
          <a:p>
            <a:pPr marL="342900" indent="-342900">
              <a:buFont typeface="Wingdings"/>
              <a:buChar char=""/>
              <a:defRPr/>
            </a:pPr>
            <a:endParaRPr lang="en-US" sz="2400"/>
          </a:p>
          <a:p>
            <a:pPr marL="342900" indent="-342900">
              <a:buFont typeface="Wingdings"/>
              <a:buChar char=""/>
              <a:defRPr/>
            </a:pPr>
            <a:r>
              <a:rPr lang="en-US" sz="2400"/>
              <a:t>The common attack vectors in cryptography are key, algorithm, implementation, data, and people.</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419337"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106116397" name="Text Box 1"/>
          <p:cNvSpPr txBox="1"/>
          <p:nvPr/>
        </p:nvSpPr>
        <p:spPr bwMode="auto">
          <a:xfrm>
            <a:off x="457200" y="723900"/>
            <a:ext cx="8139430" cy="6000750"/>
          </a:xfrm>
          <a:prstGeom prst="rect">
            <a:avLst/>
          </a:prstGeom>
          <a:noFill/>
        </p:spPr>
        <p:txBody>
          <a:bodyPr wrap="square" rtlCol="0">
            <a:spAutoFit/>
          </a:bodyPr>
          <a:p>
            <a:pPr marL="342900" indent="-342900">
              <a:buFont typeface="Wingdings"/>
              <a:buChar char=""/>
              <a:defRPr/>
            </a:pPr>
            <a:r>
              <a:rPr lang="en-US" sz="2400" b="1"/>
              <a:t>Ciphertext-Only Attacks</a:t>
            </a:r>
            <a:endParaRPr lang="en-US" sz="2400" b="1"/>
          </a:p>
          <a:p>
            <a:pPr marL="342900" indent="-342900">
              <a:buFont typeface="Wingdings"/>
              <a:buChar char=""/>
              <a:defRPr/>
            </a:pPr>
            <a:endParaRPr lang="en-US" sz="2400" b="1"/>
          </a:p>
          <a:p>
            <a:pPr marL="342900" indent="-342900">
              <a:buFont typeface="Wingdings"/>
              <a:buChar char=""/>
              <a:defRPr/>
            </a:pPr>
            <a:r>
              <a:rPr lang="en-US" sz="2400"/>
              <a:t>In this type of attack, the attacker has the ciphertext of several messages. </a:t>
            </a:r>
            <a:endParaRPr lang="en-US" sz="2400"/>
          </a:p>
          <a:p>
            <a:pPr marL="342900" indent="-342900">
              <a:buFont typeface="Wingdings"/>
              <a:buChar char=""/>
              <a:defRPr/>
            </a:pPr>
            <a:endParaRPr lang="en-US" sz="2400"/>
          </a:p>
          <a:p>
            <a:pPr marL="342900" indent="-342900">
              <a:buFont typeface="Wingdings"/>
              <a:buChar char=""/>
              <a:defRPr/>
            </a:pPr>
            <a:r>
              <a:rPr lang="en-US" sz="2400"/>
              <a:t>Each of the messages has been encrypted using the same encryption algorithm. </a:t>
            </a:r>
            <a:endParaRPr lang="en-US" sz="2400"/>
          </a:p>
          <a:p>
            <a:pPr marL="342900" indent="-342900">
              <a:buFont typeface="Wingdings"/>
              <a:buChar char=""/>
              <a:defRPr/>
            </a:pPr>
            <a:endParaRPr lang="en-US" sz="2400"/>
          </a:p>
          <a:p>
            <a:pPr marL="342900" indent="-342900">
              <a:buFont typeface="Wingdings"/>
              <a:buChar char=""/>
              <a:defRPr/>
            </a:pPr>
            <a:r>
              <a:rPr lang="en-US" sz="2400"/>
              <a:t>The attacker’s goal is to discover the key used in the encryption process. </a:t>
            </a:r>
            <a:endParaRPr lang="en-US" sz="2400"/>
          </a:p>
          <a:p>
            <a:pPr marL="342900" indent="-342900">
              <a:buFont typeface="Wingdings"/>
              <a:buChar char=""/>
              <a:defRPr/>
            </a:pPr>
            <a:endParaRPr lang="en-US" sz="2400"/>
          </a:p>
          <a:p>
            <a:pPr marL="342900" indent="-342900">
              <a:buFont typeface="Wingdings"/>
              <a:buChar char=""/>
              <a:defRPr/>
            </a:pPr>
            <a:r>
              <a:rPr lang="en-US" sz="2400"/>
              <a:t>A ciphertext-only attack is the most common type of active attack because it is very easy to get ciphertext by sniffing someone’s traffic, but it is the hardest attack to actually be successful at because the attacker has so little information about the encryption process.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3743956"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493707139"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b="1"/>
              <a:t>Known-Plaintext Attacks</a:t>
            </a:r>
            <a:endParaRPr lang="en-US" sz="2400" b="1"/>
          </a:p>
          <a:p>
            <a:pPr marL="342900" indent="-342900">
              <a:buFont typeface="Wingdings"/>
              <a:buChar char=""/>
              <a:defRPr/>
            </a:pPr>
            <a:endParaRPr lang="en-US" sz="2400" b="1"/>
          </a:p>
          <a:p>
            <a:pPr marL="342900" indent="-342900">
              <a:buFont typeface="Wingdings"/>
              <a:buChar char=""/>
              <a:defRPr/>
            </a:pPr>
            <a:r>
              <a:rPr lang="en-US" sz="2400"/>
              <a:t>In known-plaintext attacks, the attacker has the plaintext and corresponding ciphertext of one or more messages.</a:t>
            </a:r>
            <a:endParaRPr lang="en-US" sz="2400"/>
          </a:p>
          <a:p>
            <a:pPr marL="342900" indent="-342900">
              <a:buFont typeface="Wingdings"/>
              <a:buChar char=""/>
              <a:defRPr/>
            </a:pPr>
            <a:endParaRPr lang="en-US" sz="2400"/>
          </a:p>
          <a:p>
            <a:pPr marL="342900" indent="-342900">
              <a:buFont typeface="Wingdings"/>
              <a:buChar char=""/>
              <a:defRPr/>
            </a:pPr>
            <a:r>
              <a:rPr lang="en-US" sz="2400"/>
              <a:t>Again, the goal is to discover the key used to encrypt the messages so other messages can be deciphered and read.</a:t>
            </a:r>
            <a:endParaRPr lang="en-US" sz="2400"/>
          </a:p>
          <a:p>
            <a:pPr marL="342900" indent="-342900">
              <a:buFont typeface="Wingdings"/>
              <a:buChar char=""/>
              <a:defRPr/>
            </a:pPr>
            <a:endParaRPr lang="en-US" sz="2400"/>
          </a:p>
          <a:p>
            <a:pPr marL="342900" indent="-342900">
              <a:buFont typeface="Wingdings"/>
              <a:buChar char=""/>
              <a:defRPr/>
            </a:pPr>
            <a:r>
              <a:rPr lang="en-US" sz="2400"/>
              <a:t>Messages usually start with the same type of beginning and close with the same type of ending.</a:t>
            </a:r>
            <a:endParaRPr lang="en-US" sz="2400"/>
          </a:p>
          <a:p>
            <a:pPr marL="342900" indent="-342900">
              <a:buFont typeface="Wingdings"/>
              <a:buChar char=""/>
              <a:defRPr/>
            </a:pPr>
            <a:endParaRPr lang="en-US" sz="2400"/>
          </a:p>
          <a:p>
            <a:pPr marL="342900" indent="-342900">
              <a:buFont typeface="Wingdings"/>
              <a:buChar char=""/>
              <a:defRPr/>
            </a:pPr>
            <a:r>
              <a:rPr lang="en-US" sz="2400"/>
              <a:t>Known-plaintext attacks were used by the United States against the Germans and the Japanese during World War II.</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7495200"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2121013678"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b="1"/>
              <a:t>Chosen-Plaintext Attacks</a:t>
            </a:r>
            <a:endParaRPr lang="en-US" sz="2400" b="1"/>
          </a:p>
          <a:p>
            <a:pPr marL="342900" indent="-342900">
              <a:buFont typeface="Wingdings"/>
              <a:buChar char=""/>
              <a:defRPr/>
            </a:pPr>
            <a:endParaRPr lang="en-US" sz="2400"/>
          </a:p>
          <a:p>
            <a:pPr marL="342900" indent="-342900">
              <a:buFont typeface="Wingdings"/>
              <a:buChar char=""/>
              <a:defRPr/>
            </a:pPr>
            <a:r>
              <a:rPr lang="en-US" sz="2400"/>
              <a:t>In chosen-plaintext attacks, the attacker has the plaintext and ciphertext, but can choose the plaintext that gets encrypted to see the corresponding ciphertext.</a:t>
            </a:r>
            <a:endParaRPr lang="en-US" sz="2400"/>
          </a:p>
          <a:p>
            <a:pPr marL="342900" indent="-342900">
              <a:buFont typeface="Wingdings"/>
              <a:buChar char=""/>
              <a:defRPr/>
            </a:pPr>
            <a:endParaRPr lang="en-US" sz="2400"/>
          </a:p>
          <a:p>
            <a:pPr marL="342900" indent="-342900">
              <a:buFont typeface="Wingdings"/>
              <a:buChar char=""/>
              <a:defRPr/>
            </a:pPr>
            <a:r>
              <a:rPr lang="en-US" sz="2400"/>
              <a:t>This gives the attacker more power and possibly a deeper understanding of the way the encryption process works so she can gather more information about the key being used. </a:t>
            </a:r>
            <a:endParaRPr lang="en-US" sz="2400"/>
          </a:p>
          <a:p>
            <a:pPr marL="342900" indent="-342900">
              <a:buFont typeface="Wingdings"/>
              <a:buChar char=""/>
              <a:defRPr/>
            </a:pPr>
            <a:endParaRPr lang="en-US" sz="2400"/>
          </a:p>
          <a:p>
            <a:pPr marL="342900" indent="-342900">
              <a:buFont typeface="Wingdings"/>
              <a:buChar char=""/>
              <a:defRPr/>
            </a:pPr>
            <a:r>
              <a:rPr lang="en-US" sz="2400"/>
              <a:t>Once the key is discovered, other messages encrypted with that key can be decrypted.</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0878178"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111313258" name="Text Box 1"/>
          <p:cNvSpPr txBox="1"/>
          <p:nvPr/>
        </p:nvSpPr>
        <p:spPr bwMode="auto">
          <a:xfrm>
            <a:off x="457200" y="723900"/>
            <a:ext cx="8139430" cy="4523105"/>
          </a:xfrm>
          <a:prstGeom prst="rect">
            <a:avLst/>
          </a:prstGeom>
          <a:noFill/>
        </p:spPr>
        <p:txBody>
          <a:bodyPr wrap="square" rtlCol="0">
            <a:spAutoFit/>
          </a:bodyPr>
          <a:p>
            <a:pPr marL="342900" indent="-342900">
              <a:buFont typeface="Wingdings"/>
              <a:buChar char=""/>
              <a:defRPr/>
            </a:pPr>
            <a:r>
              <a:rPr lang="en-US" sz="2400" b="1"/>
              <a:t>Chosen-Ciphertext Attacks</a:t>
            </a:r>
            <a:endParaRPr lang="en-US" sz="2400" b="1"/>
          </a:p>
          <a:p>
            <a:pPr marL="342900" indent="-342900">
              <a:buFont typeface="Wingdings"/>
              <a:buChar char=""/>
              <a:defRPr/>
            </a:pPr>
            <a:endParaRPr lang="en-US" sz="2400"/>
          </a:p>
          <a:p>
            <a:pPr marL="342900" indent="-342900">
              <a:buFont typeface="Wingdings"/>
              <a:buChar char=""/>
              <a:defRPr/>
            </a:pPr>
            <a:r>
              <a:rPr lang="en-US" sz="2400"/>
              <a:t>In chosen-ciphertext attacks, the attacker can choose the ciphertext to be decrypted and has access to the resulting decrypted plaintext. </a:t>
            </a:r>
            <a:endParaRPr lang="en-US" sz="2400"/>
          </a:p>
          <a:p>
            <a:pPr marL="342900" indent="-342900">
              <a:buFont typeface="Wingdings"/>
              <a:buChar char=""/>
              <a:defRPr/>
            </a:pPr>
            <a:endParaRPr lang="en-US" sz="2400"/>
          </a:p>
          <a:p>
            <a:pPr marL="342900" indent="-342900">
              <a:buFont typeface="Wingdings"/>
              <a:buChar char=""/>
              <a:defRPr/>
            </a:pPr>
            <a:r>
              <a:rPr lang="en-US" sz="2400"/>
              <a:t>Again, the goal is to figure out the key.</a:t>
            </a:r>
            <a:endParaRPr lang="en-US" sz="2400"/>
          </a:p>
          <a:p>
            <a:pPr marL="342900" indent="-342900">
              <a:buFont typeface="Wingdings"/>
              <a:buChar char=""/>
              <a:defRPr/>
            </a:pPr>
            <a:endParaRPr lang="en-US" sz="2400"/>
          </a:p>
          <a:p>
            <a:pPr marL="342900" indent="-342900">
              <a:buFont typeface="Wingdings"/>
              <a:buChar char=""/>
              <a:defRPr/>
            </a:pPr>
            <a:r>
              <a:rPr lang="en-US" sz="2400"/>
              <a:t>This is a harder attack to carry out compared to the previously mentioned attacks, and the attacker may need to have control of the system that contains the cryptosystem.</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6743033"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8684755" name="Text Box 1"/>
          <p:cNvSpPr txBox="1"/>
          <p:nvPr/>
        </p:nvSpPr>
        <p:spPr bwMode="auto">
          <a:xfrm>
            <a:off x="457200" y="723900"/>
            <a:ext cx="8139430" cy="6739255"/>
          </a:xfrm>
          <a:prstGeom prst="rect">
            <a:avLst/>
          </a:prstGeom>
          <a:noFill/>
        </p:spPr>
        <p:txBody>
          <a:bodyPr wrap="square" rtlCol="0">
            <a:spAutoFit/>
          </a:bodyPr>
          <a:p>
            <a:pPr marL="342900" indent="-342900">
              <a:buFont typeface="Wingdings"/>
              <a:buChar char=""/>
              <a:defRPr/>
            </a:pPr>
            <a:r>
              <a:rPr lang="en-US" sz="2400"/>
              <a:t>All of these attacks have a derivative form, the names of which are the same except for putting the word “adaptive” in front of them, such as adaptive chosen-plaintext and adaptive chosen-ciphertext. </a:t>
            </a:r>
            <a:endParaRPr lang="en-US" sz="2400"/>
          </a:p>
          <a:p>
            <a:pPr marL="342900" indent="-342900">
              <a:buFont typeface="Wingdings"/>
              <a:buChar char=""/>
              <a:defRPr/>
            </a:pPr>
            <a:endParaRPr lang="en-US" sz="2400"/>
          </a:p>
          <a:p>
            <a:pPr marL="342900" indent="-342900">
              <a:buFont typeface="Wingdings"/>
              <a:buChar char=""/>
              <a:defRPr/>
            </a:pPr>
            <a:r>
              <a:rPr lang="en-US" sz="2400"/>
              <a:t>What this means is that the attacker can carry out one of these attacks and, depending upon what she gleaned from that first attack, modify her next attack.</a:t>
            </a:r>
            <a:endParaRPr lang="en-US" sz="2400"/>
          </a:p>
          <a:p>
            <a:pPr marL="342900" indent="-342900">
              <a:buFont typeface="Wingdings"/>
              <a:buChar char=""/>
              <a:defRPr/>
            </a:pPr>
            <a:endParaRPr lang="en-US" sz="2400"/>
          </a:p>
          <a:p>
            <a:pPr marL="342900" indent="-342900">
              <a:buFont typeface="Wingdings"/>
              <a:buChar char=""/>
              <a:defRPr/>
            </a:pPr>
            <a:r>
              <a:rPr lang="en-US" sz="2400" b="1"/>
              <a:t>Differential Cryptanalysis</a:t>
            </a:r>
            <a:endParaRPr lang="en-US" sz="2400" b="1"/>
          </a:p>
          <a:p>
            <a:pPr marL="342900" indent="-342900">
              <a:buFont typeface="Wingdings"/>
              <a:buChar char=""/>
              <a:defRPr/>
            </a:pPr>
            <a:r>
              <a:rPr lang="en-US" sz="2400"/>
              <a:t>This type of attack also has the goal of uncovering the key that was used for encryption purposes. </a:t>
            </a:r>
            <a:endParaRPr lang="en-US" sz="2400"/>
          </a:p>
          <a:p>
            <a:pPr marL="342900" indent="-342900">
              <a:buFont typeface="Wingdings"/>
              <a:buChar char=""/>
              <a:defRPr/>
            </a:pPr>
            <a:endParaRPr lang="en-US" sz="2400"/>
          </a:p>
          <a:p>
            <a:pPr marL="342900" indent="-342900">
              <a:buFont typeface="Wingdings"/>
              <a:buChar char=""/>
              <a:defRPr/>
            </a:pPr>
            <a:r>
              <a:rPr lang="en-US" sz="2400"/>
              <a:t>This attack looks at ciphertext pairs generated by encryption of plaintext pairs with specific differences and analyzes the effect and result of those differences.</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4794531"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596411868" name="Text Box 1"/>
          <p:cNvSpPr txBox="1"/>
          <p:nvPr/>
        </p:nvSpPr>
        <p:spPr bwMode="auto">
          <a:xfrm>
            <a:off x="457200" y="723900"/>
            <a:ext cx="8139430" cy="4892675"/>
          </a:xfrm>
          <a:prstGeom prst="rect">
            <a:avLst/>
          </a:prstGeom>
          <a:noFill/>
        </p:spPr>
        <p:txBody>
          <a:bodyPr wrap="square" rtlCol="0">
            <a:spAutoFit/>
          </a:bodyPr>
          <a:p>
            <a:pPr marL="342900" indent="-342900">
              <a:buFont typeface="Wingdings"/>
              <a:buChar char=""/>
              <a:defRPr/>
            </a:pPr>
            <a:r>
              <a:rPr lang="en-US" sz="2400"/>
              <a:t>The attacker takes two messages of plaintext and follows the changes that take place to the blocks as they go through the different S-boxes.  </a:t>
            </a:r>
            <a:endParaRPr lang="en-US" sz="2400"/>
          </a:p>
          <a:p>
            <a:pPr marL="342900" indent="-342900">
              <a:buFont typeface="Wingdings"/>
              <a:buChar char=""/>
              <a:defRPr/>
            </a:pPr>
            <a:endParaRPr lang="en-US" sz="2400"/>
          </a:p>
          <a:p>
            <a:pPr marL="342900" indent="-342900">
              <a:buFont typeface="Wingdings"/>
              <a:buChar char=""/>
              <a:defRPr/>
            </a:pPr>
            <a:r>
              <a:rPr lang="en-US" sz="2400"/>
              <a:t>The differences identified in the resulting ciphertext values are used to map probability values to different possible key values. </a:t>
            </a:r>
            <a:endParaRPr lang="en-US" sz="2400"/>
          </a:p>
          <a:p>
            <a:pPr marL="342900" indent="-342900">
              <a:buFont typeface="Wingdings"/>
              <a:buChar char=""/>
              <a:defRPr/>
            </a:pPr>
            <a:endParaRPr lang="en-US" sz="2400"/>
          </a:p>
          <a:p>
            <a:pPr marL="342900" indent="-342900">
              <a:buFont typeface="Wingdings"/>
              <a:buChar char=""/>
              <a:defRPr/>
            </a:pPr>
            <a:r>
              <a:rPr lang="en-US" sz="2400"/>
              <a:t>The attacker continues this process with several more sets of messages and reviews the common key probability values. </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3326061"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348249569" name="Text Box 1"/>
          <p:cNvSpPr txBox="1"/>
          <p:nvPr/>
        </p:nvSpPr>
        <p:spPr bwMode="auto">
          <a:xfrm>
            <a:off x="457200" y="723900"/>
            <a:ext cx="8139430" cy="4892675"/>
          </a:xfrm>
          <a:prstGeom prst="rect">
            <a:avLst/>
          </a:prstGeom>
          <a:noFill/>
        </p:spPr>
        <p:txBody>
          <a:bodyPr wrap="square" rtlCol="0">
            <a:spAutoFit/>
          </a:bodyPr>
          <a:p>
            <a:pPr marL="342900" indent="-342900">
              <a:buFont typeface="Wingdings"/>
              <a:buChar char=""/>
              <a:defRPr/>
            </a:pPr>
            <a:r>
              <a:rPr lang="en-US" sz="2400" b="1"/>
              <a:t>Linear Cryptanalysis</a:t>
            </a:r>
            <a:endParaRPr lang="en-US" sz="2400" b="1"/>
          </a:p>
          <a:p>
            <a:pPr marL="342900" indent="-342900">
              <a:buFont typeface="Wingdings"/>
              <a:buChar char=""/>
              <a:defRPr/>
            </a:pPr>
            <a:endParaRPr lang="en-US" sz="2400" b="1"/>
          </a:p>
          <a:p>
            <a:pPr marL="342900" indent="-342900">
              <a:buFont typeface="Wingdings"/>
              <a:buChar char=""/>
              <a:defRPr/>
            </a:pPr>
            <a:r>
              <a:rPr lang="en-US" sz="2400"/>
              <a:t>Linear cryptanalysis is another type of attack that carries out functions to identify the highest probability of a specific key employed during the encryption process using a block algorithm.</a:t>
            </a:r>
            <a:endParaRPr lang="en-US" sz="2400"/>
          </a:p>
          <a:p>
            <a:pPr marL="342900" indent="-342900">
              <a:buFont typeface="Wingdings"/>
              <a:buChar char=""/>
              <a:defRPr/>
            </a:pPr>
            <a:endParaRPr lang="en-US" sz="2400"/>
          </a:p>
          <a:p>
            <a:pPr marL="342900" indent="-342900">
              <a:buFont typeface="Wingdings"/>
              <a:buChar char=""/>
              <a:defRPr/>
            </a:pPr>
            <a:r>
              <a:rPr lang="en-US" sz="2400"/>
              <a:t>The attacker carries out a known-plaintext attack on several different messages encrypted with the same key.</a:t>
            </a:r>
            <a:endParaRPr lang="en-US" sz="2400"/>
          </a:p>
          <a:p>
            <a:pPr marL="342900" indent="-342900">
              <a:buFont typeface="Wingdings"/>
              <a:buChar char=""/>
              <a:defRPr/>
            </a:pPr>
            <a:endParaRPr lang="en-US" sz="2400"/>
          </a:p>
          <a:p>
            <a:pPr marL="342900" indent="-342900">
              <a:buFont typeface="Wingdings"/>
              <a:buChar char=""/>
              <a:defRPr/>
            </a:pPr>
            <a:r>
              <a:rPr lang="en-US" sz="2400"/>
              <a:t>The more messages the attacker can use and put through this type of attack, the higher the confidence level in the probability of a specific key value.</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1079359" name="Title 14337" descr="512a190070e642d880be1a6e74542f0b# #矩形 157"/>
          <p:cNvSpPr>
            <a:spLocks noGrp="1"/>
          </p:cNvSpPr>
          <p:nvPr>
            <p:ph type="title"/>
          </p:nvPr>
        </p:nvSpPr>
        <p:spPr bwMode="auto">
          <a:xfrm>
            <a:off x="457200" y="142240"/>
            <a:ext cx="8229600" cy="475615"/>
          </a:xfrm>
        </p:spPr>
        <p:txBody>
          <a:bodyPr anchor="ctr"/>
          <a:p>
            <a:pPr>
              <a:defRPr/>
            </a:pPr>
            <a:r>
              <a:rPr lang="en-US" sz="3200"/>
              <a:t>Cryptography</a:t>
            </a:r>
            <a:endParaRPr lang="en-US" sz="3200"/>
          </a:p>
        </p:txBody>
      </p:sp>
      <p:sp>
        <p:nvSpPr>
          <p:cNvPr id="283240922" name="Text Box 1"/>
          <p:cNvSpPr txBox="1"/>
          <p:nvPr/>
        </p:nvSpPr>
        <p:spPr bwMode="auto">
          <a:xfrm>
            <a:off x="457200" y="617855"/>
            <a:ext cx="8430260" cy="6000750"/>
          </a:xfrm>
          <a:prstGeom prst="rect">
            <a:avLst/>
          </a:prstGeom>
          <a:noFill/>
        </p:spPr>
        <p:txBody>
          <a:bodyPr wrap="square" rtlCol="0">
            <a:spAutoFit/>
          </a:bodyPr>
          <a:p>
            <a:pPr marL="342900" indent="-342900">
              <a:buFont typeface="Wingdings"/>
              <a:buChar char=""/>
              <a:defRPr/>
            </a:pPr>
            <a:r>
              <a:rPr lang="en-US" sz="2400" b="1"/>
              <a:t>Side-Channel Attacks</a:t>
            </a:r>
            <a:endParaRPr lang="en-US" sz="2400" b="1"/>
          </a:p>
          <a:p>
            <a:pPr marL="342900" indent="-342900">
              <a:buFont typeface="Wingdings"/>
              <a:buChar char=""/>
              <a:defRPr/>
            </a:pPr>
            <a:endParaRPr lang="en-US" sz="2400"/>
          </a:p>
          <a:p>
            <a:pPr marL="342900" indent="-342900">
              <a:buFont typeface="Wingdings"/>
              <a:buChar char=""/>
              <a:defRPr/>
            </a:pPr>
            <a:r>
              <a:rPr lang="en-US" sz="2400"/>
              <a:t>All of the attacks we have covered thus far have been based mainly on the mathematics of cryptography. </a:t>
            </a:r>
            <a:endParaRPr lang="en-US" sz="2400"/>
          </a:p>
          <a:p>
            <a:pPr marL="342900" indent="-342900">
              <a:buFont typeface="Wingdings"/>
              <a:buChar char=""/>
              <a:defRPr/>
            </a:pPr>
            <a:endParaRPr lang="en-US" sz="2400"/>
          </a:p>
          <a:p>
            <a:pPr marL="342900" indent="-342900">
              <a:buFont typeface="Wingdings"/>
              <a:buChar char=""/>
              <a:defRPr/>
            </a:pPr>
            <a:r>
              <a:rPr lang="en-US" sz="2400"/>
              <a:t>Attacker could detect how much power consumption is used for encryption and decryption (the fluctuation of electronic voltage). </a:t>
            </a:r>
            <a:endParaRPr lang="en-US" sz="2400"/>
          </a:p>
          <a:p>
            <a:pPr marL="342900" indent="-342900">
              <a:buFont typeface="Wingdings"/>
              <a:buChar char=""/>
              <a:defRPr/>
            </a:pPr>
            <a:endParaRPr lang="en-US" sz="2400"/>
          </a:p>
          <a:p>
            <a:pPr marL="342900" indent="-342900">
              <a:buFont typeface="Wingdings"/>
              <a:buChar char=""/>
              <a:defRPr/>
            </a:pPr>
            <a:r>
              <a:rPr lang="en-US" sz="2400"/>
              <a:t>Attacker could also intercept the radiation emissions released and then calculate how long the processes took. </a:t>
            </a:r>
            <a:endParaRPr lang="en-US" sz="2400"/>
          </a:p>
          <a:p>
            <a:pPr marL="342900" indent="-342900">
              <a:buFont typeface="Wingdings"/>
              <a:buChar char=""/>
              <a:defRPr/>
            </a:pPr>
            <a:endParaRPr lang="en-US" sz="2400"/>
          </a:p>
          <a:p>
            <a:pPr marL="342900" indent="-342900">
              <a:buFont typeface="Wingdings"/>
              <a:buChar char=""/>
              <a:defRPr/>
            </a:pPr>
            <a:r>
              <a:rPr lang="en-US" sz="2400"/>
              <a:t>Looking around the cryptosystem, or its attributes and characteristics, is different from looking into the cryptosystem and trying to defeat it through mathematical computations.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1541657"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589999395" name="Text Box 1"/>
          <p:cNvSpPr txBox="1"/>
          <p:nvPr/>
        </p:nvSpPr>
        <p:spPr bwMode="auto">
          <a:xfrm>
            <a:off x="457200" y="723900"/>
            <a:ext cx="8139430" cy="5631179"/>
          </a:xfrm>
          <a:prstGeom prst="rect">
            <a:avLst/>
          </a:prstGeom>
          <a:noFill/>
        </p:spPr>
        <p:txBody>
          <a:bodyPr wrap="square" rtlCol="0">
            <a:spAutoFit/>
          </a:bodyPr>
          <a:p>
            <a:pPr marL="342900" indent="-342900">
              <a:buFont typeface="Wingdings"/>
              <a:buChar char=""/>
              <a:defRPr/>
            </a:pPr>
            <a:r>
              <a:rPr lang="en-US" sz="2400"/>
              <a:t>An attacker could measure power consumption, radiation emissions, and the time it takes for certain types of data processing. </a:t>
            </a:r>
            <a:endParaRPr lang="en-US" sz="2400"/>
          </a:p>
          <a:p>
            <a:pPr marL="342900" indent="-342900">
              <a:buFont typeface="Wingdings"/>
              <a:buChar char=""/>
              <a:defRPr/>
            </a:pPr>
            <a:endParaRPr lang="en-US" sz="2400"/>
          </a:p>
          <a:p>
            <a:pPr marL="342900" indent="-342900">
              <a:buFont typeface="Wingdings"/>
              <a:buChar char=""/>
              <a:defRPr/>
            </a:pPr>
            <a:r>
              <a:rPr lang="en-US" sz="2400"/>
              <a:t>With this information, he can work backward by reverse-engineering the process to uncover an encryption key or sensitive data.</a:t>
            </a:r>
            <a:endParaRPr lang="en-US" sz="2400"/>
          </a:p>
          <a:p>
            <a:pPr marL="342900" indent="-342900">
              <a:buFont typeface="Wingdings"/>
              <a:buChar char=""/>
              <a:defRPr/>
            </a:pPr>
            <a:endParaRPr lang="en-US" sz="2400"/>
          </a:p>
          <a:p>
            <a:pPr marL="342900" indent="-342900">
              <a:buFont typeface="Wingdings"/>
              <a:buChar char=""/>
              <a:defRPr/>
            </a:pPr>
            <a:r>
              <a:rPr lang="en-US" sz="2400"/>
              <a:t>A power attack reviews the amount of heat released.</a:t>
            </a:r>
            <a:endParaRPr lang="en-US" sz="2400"/>
          </a:p>
          <a:p>
            <a:pPr marL="342900" indent="-342900">
              <a:buFont typeface="Wingdings"/>
              <a:buChar char=""/>
              <a:defRPr/>
            </a:pPr>
            <a:endParaRPr lang="en-US" sz="2400"/>
          </a:p>
          <a:p>
            <a:pPr marL="342900" indent="-342900">
              <a:buFont typeface="Wingdings"/>
              <a:buChar char=""/>
              <a:defRPr/>
            </a:pPr>
            <a:r>
              <a:rPr lang="en-US" sz="2400"/>
              <a:t>This type of attack has been successful in uncovering confidential information from smart cards. In 1995, RSA private keys</a:t>
            </a:r>
            <a:endParaRPr lang="en-US" sz="2400"/>
          </a:p>
          <a:p>
            <a:pPr marL="342900" indent="-342900">
              <a:buFont typeface="Wingdings"/>
              <a:buChar char=""/>
              <a:defRPr/>
            </a:pPr>
            <a:r>
              <a:rPr lang="en-US" sz="2400"/>
              <a:t>were uncovered by measuring the relative time cryptographic operations took.</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8523122" name="Title 14337" descr="512a190070e642d880be1a6e74542f0b# #矩形 157"/>
          <p:cNvSpPr>
            <a:spLocks noGrp="1"/>
          </p:cNvSpPr>
          <p:nvPr>
            <p:ph type="title"/>
          </p:nvPr>
        </p:nvSpPr>
        <p:spPr bwMode="auto">
          <a:xfrm>
            <a:off x="457200" y="142240"/>
            <a:ext cx="8229600" cy="488950"/>
          </a:xfrm>
        </p:spPr>
        <p:txBody>
          <a:bodyPr anchor="ctr"/>
          <a:p>
            <a:pPr>
              <a:defRPr/>
            </a:pPr>
            <a:r>
              <a:rPr lang="en-US" sz="3200"/>
              <a:t>Cryptography</a:t>
            </a:r>
            <a:endParaRPr lang="en-US" sz="3200"/>
          </a:p>
        </p:txBody>
      </p:sp>
      <p:sp>
        <p:nvSpPr>
          <p:cNvPr id="863909761" name="Text Box 1"/>
          <p:cNvSpPr txBox="1"/>
          <p:nvPr/>
        </p:nvSpPr>
        <p:spPr bwMode="auto">
          <a:xfrm>
            <a:off x="457200" y="631190"/>
            <a:ext cx="8497570" cy="7108825"/>
          </a:xfrm>
          <a:prstGeom prst="rect">
            <a:avLst/>
          </a:prstGeom>
          <a:noFill/>
        </p:spPr>
        <p:txBody>
          <a:bodyPr wrap="square" rtlCol="0">
            <a:spAutoFit/>
          </a:bodyPr>
          <a:p>
            <a:pPr marL="342900" indent="-342900">
              <a:buFont typeface="Wingdings"/>
              <a:buChar char=""/>
              <a:defRPr/>
            </a:pPr>
            <a:r>
              <a:rPr lang="en-US" sz="2400"/>
              <a:t>The idea is that instead of attacking a device head on, just watch how it performs to figure out how it works. </a:t>
            </a:r>
            <a:endParaRPr lang="en-US" sz="2400"/>
          </a:p>
          <a:p>
            <a:pPr marL="342900" indent="-342900">
              <a:buFont typeface="Wingdings"/>
              <a:buChar char=""/>
              <a:defRPr/>
            </a:pPr>
            <a:endParaRPr lang="en-US" sz="2400"/>
          </a:p>
          <a:p>
            <a:pPr marL="342900" indent="-342900">
              <a:buFont typeface="Wingdings"/>
              <a:buChar char=""/>
              <a:defRPr/>
            </a:pPr>
            <a:r>
              <a:rPr lang="en-US" sz="2400" b="1"/>
              <a:t>Replay Attacks</a:t>
            </a:r>
            <a:endParaRPr lang="en-US" sz="2400" b="1"/>
          </a:p>
          <a:p>
            <a:pPr marL="342900" indent="-342900">
              <a:buFont typeface="Wingdings"/>
              <a:buChar char=""/>
              <a:defRPr/>
            </a:pPr>
            <a:endParaRPr lang="en-US" sz="2400" b="1"/>
          </a:p>
          <a:p>
            <a:pPr marL="342900" indent="-342900">
              <a:buFont typeface="Wingdings"/>
              <a:buChar char=""/>
              <a:defRPr/>
            </a:pPr>
            <a:r>
              <a:rPr lang="en-US" sz="2400"/>
              <a:t>A big concern in distributed environments is the replay attack, in which an attacker captures some type of data and resubmits it with the hopes of fooling the receiving device into thinking it is legitimate information.</a:t>
            </a:r>
            <a:endParaRPr lang="en-US" sz="2400"/>
          </a:p>
          <a:p>
            <a:pPr marL="342900" indent="-342900">
              <a:buFont typeface="Wingdings"/>
              <a:buChar char=""/>
              <a:defRPr/>
            </a:pPr>
            <a:endParaRPr lang="en-US" sz="2400"/>
          </a:p>
          <a:p>
            <a:pPr marL="342900" indent="-342900">
              <a:buFont typeface="Wingdings"/>
              <a:buChar char=""/>
              <a:defRPr/>
            </a:pPr>
            <a:r>
              <a:rPr lang="en-US" sz="2400"/>
              <a:t>Many times, the data captured and resubmitted is authentication information, and the attacker is trying to authenticate herself as someone else to gain unauthorized access.</a:t>
            </a:r>
            <a:endParaRPr lang="en-US" sz="2400"/>
          </a:p>
          <a:p>
            <a:pPr marL="342900" indent="-342900">
              <a:buFont typeface="Wingdings"/>
              <a:buChar char=""/>
              <a:defRPr/>
            </a:pPr>
            <a:endParaRPr lang="en-US" sz="2400"/>
          </a:p>
          <a:p>
            <a:pPr marL="342900" indent="-342900">
              <a:buFont typeface="Wingdings"/>
              <a:buChar char=""/>
              <a:defRPr/>
            </a:pPr>
            <a:r>
              <a:rPr lang="en-US" sz="2400"/>
              <a:t>Timestamps and sequence numbers are two countermeasures to replay attacks.</a:t>
            </a:r>
            <a:endParaRPr lang="en-US" sz="2400"/>
          </a:p>
          <a:p>
            <a:pPr marL="342900" indent="-342900">
              <a:buFont typeface="Wingdings"/>
              <a:buChar char=""/>
              <a:defRPr/>
            </a:pPr>
            <a:endParaRPr lang="en-US" sz="2400"/>
          </a:p>
          <a:p>
            <a:pPr marL="342900" indent="-342900">
              <a:buFont typeface="Wingdings"/>
              <a:buChar cha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0223141" name="Title 14337" descr="512a190070e642d880be1a6e74542f0b# #矩形 157"/>
          <p:cNvSpPr>
            <a:spLocks noGrp="1"/>
          </p:cNvSpPr>
          <p:nvPr>
            <p:ph type="title"/>
          </p:nvPr>
        </p:nvSpPr>
        <p:spPr bwMode="auto">
          <a:xfrm>
            <a:off x="457200" y="142240"/>
            <a:ext cx="8229600" cy="581660"/>
          </a:xfrm>
        </p:spPr>
        <p:txBody>
          <a:bodyPr anchor="ctr"/>
          <a:p>
            <a:pPr>
              <a:defRPr/>
            </a:pPr>
            <a:r>
              <a:rPr lang="en-US" sz="3200"/>
              <a:t>Cryptography</a:t>
            </a:r>
            <a:endParaRPr lang="en-US" sz="3200"/>
          </a:p>
        </p:txBody>
      </p:sp>
      <p:sp>
        <p:nvSpPr>
          <p:cNvPr id="1350366410" name="Text Box 1"/>
          <p:cNvSpPr txBox="1"/>
          <p:nvPr/>
        </p:nvSpPr>
        <p:spPr bwMode="auto">
          <a:xfrm>
            <a:off x="457200" y="723899"/>
            <a:ext cx="8141949" cy="5212440"/>
          </a:xfrm>
          <a:prstGeom prst="rect">
            <a:avLst/>
          </a:prstGeom>
          <a:noFill/>
        </p:spPr>
        <p:txBody>
          <a:bodyPr wrap="square" rtlCol="0">
            <a:spAutoFit/>
          </a:bodyPr>
          <a:p>
            <a:pPr marL="342900" indent="-342900">
              <a:buFont typeface="Wingdings"/>
              <a:buChar char=""/>
              <a:defRPr/>
            </a:pPr>
            <a:r>
              <a:rPr lang="en-US" sz="2400" b="1"/>
              <a:t>Meet-in-the-Middle Attack</a:t>
            </a:r>
            <a:endParaRPr lang="en-US" sz="2400" b="1"/>
          </a:p>
          <a:p>
            <a:pPr marL="342900" indent="-342900">
              <a:buFont typeface="Wingdings"/>
              <a:buChar char=""/>
              <a:defRPr/>
            </a:pPr>
            <a:endParaRPr lang="en-US" sz="2400" b="1"/>
          </a:p>
          <a:p>
            <a:pPr marL="342900" indent="-342900">
              <a:buFont typeface="Wingdings"/>
              <a:buChar char=""/>
              <a:defRPr/>
            </a:pPr>
            <a:r>
              <a:rPr lang="en-US" sz="2400"/>
              <a:t>This attack targets block ciphers.</a:t>
            </a:r>
            <a:endParaRPr lang="en-US" sz="2400"/>
          </a:p>
          <a:p>
            <a:pPr marL="342900" indent="-342900">
              <a:buFont typeface="Wingdings"/>
              <a:buChar char=""/>
              <a:defRPr/>
            </a:pPr>
            <a:r>
              <a:rPr lang="en-US" sz="2400"/>
              <a:t>The attacker has a plaintext and ciphertext of a block cipher.</a:t>
            </a:r>
            <a:endParaRPr lang="en-US" sz="2400"/>
          </a:p>
          <a:p>
            <a:pPr marL="342900" indent="-342900">
              <a:buFont typeface="Wingdings"/>
              <a:buChar char=""/>
              <a:defRPr/>
            </a:pPr>
            <a:r>
              <a:rPr lang="en-US" sz="2400"/>
              <a:t>He then attempts to encrypt the plain text using different keys.</a:t>
            </a:r>
            <a:endParaRPr lang="en-US" sz="2400"/>
          </a:p>
          <a:p>
            <a:pPr marL="342900" indent="-342900">
              <a:buFont typeface="Wingdings"/>
              <a:buChar char=""/>
              <a:defRPr/>
            </a:pPr>
            <a:r>
              <a:rPr lang="en-US" sz="2400"/>
              <a:t>Simultaneously he attempts to decrypt the ciphertext using different keys.</a:t>
            </a:r>
            <a:endParaRPr lang="en-US" sz="2400"/>
          </a:p>
          <a:p>
            <a:pPr marL="342900" indent="-342900">
              <a:buFont typeface="Wingdings"/>
              <a:buChar char=""/>
              <a:defRPr/>
            </a:pPr>
            <a:r>
              <a:rPr lang="en-US" sz="2400"/>
              <a:t>Somewhere he gets the same block of bits in both the processes.</a:t>
            </a:r>
            <a:endParaRPr lang="en-US" sz="2400"/>
          </a:p>
          <a:p>
            <a:pPr marL="342900" indent="-342900">
              <a:buFont typeface="Wingdings"/>
              <a:buChar char=""/>
              <a:defRPr/>
            </a:pPr>
            <a:r>
              <a:rPr lang="en-US" sz="2400" b="0" i="0" u="none" strike="noStrike" cap="none" spc="0">
                <a:solidFill>
                  <a:schemeClr val="tx1"/>
                </a:solidFill>
                <a:latin typeface="Arial"/>
                <a:ea typeface="SimSun"/>
                <a:cs typeface="+mn-cs"/>
              </a:rPr>
              <a:t>In this case it is a high possibility that the key used to encrypt the plaintext and the key used to decrypt the ciphertext are the two keys used by the block cipher.</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tationery">
  <a:themeElements>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fontScheme name="">
      <a:majorFont>
        <a:latin typeface="Arial"/>
        <a:ea typeface="宋体"/>
        <a:cs typeface="Arial"/>
      </a:majorFont>
      <a:minorFont>
        <a:latin typeface="Arial"/>
        <a:ea typeface="宋体"/>
        <a:cs typeface="Arial"/>
      </a:minorFont>
    </a:fontScheme>
    <a:fmtScheme name="Office 2007-2010">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xmlns:r="http://schemas.openxmlformats.org/officeDocument/2006/relationships" xmlns:p="http://schemas.openxmlformats.org/presentationml/2006/main" name="Stationery">
  <a:themeElements>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fontScheme name="">
      <a:majorFont>
        <a:latin typeface="Arial"/>
        <a:ea typeface="宋体"/>
        <a:cs typeface="Arial"/>
      </a:majorFont>
      <a:minorFont>
        <a:latin typeface="Arial"/>
        <a:ea typeface="宋体"/>
        <a:cs typeface="Arial"/>
      </a:minorFont>
    </a:fontScheme>
    <a:fmtScheme name="Office 2007-2010">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PresentationFormat>On-screen Show (4:3)</PresentationFormat>
  <Paragraphs>0</Paragraphs>
  <Slides>125</Slides>
  <Notes>125</Notes>
  <HiddenSlides>0</HiddenSlides>
  <MMClips>2</MMClips>
  <ScaleCrop>0</ScaleCrop>
  <HeadingPairs>
    <vt:vector size="4" baseType="variant">
      <vt:variant>
        <vt:lpstr>Theme</vt:lpstr>
      </vt:variant>
      <vt:variant>
        <vt:i4>1</vt:i4>
      </vt:variant>
      <vt:variant>
        <vt:lpstr>Slide Titles</vt:lpstr>
      </vt:variant>
      <vt:variant>
        <vt:i4>125</vt:i4>
      </vt:variant>
    </vt:vector>
  </HeadingPairs>
  <TitlesOfParts>
    <vt:vector size="12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
  <cp:revision>26</cp:revision>
  <dcterms:created xsi:type="dcterms:W3CDTF">2011-09-23T15:07:00Z</dcterms:created>
  <dcterms:modified xsi:type="dcterms:W3CDTF">2026-10-11T14:11:50Z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1033-11.2.0.9107</vt:lpwstr>
  </property>
</Properties>
</file>